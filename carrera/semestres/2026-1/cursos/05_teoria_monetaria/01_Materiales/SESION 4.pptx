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72" r:id="rId3"/>
    <p:sldId id="273" r:id="rId4"/>
    <p:sldId id="274" r:id="rId5"/>
    <p:sldId id="276" r:id="rId6"/>
    <p:sldId id="277" r:id="rId7"/>
    <p:sldId id="275" r:id="rId8"/>
    <p:sldId id="278" r:id="rId9"/>
    <p:sldId id="279" r:id="rId10"/>
    <p:sldId id="280" r:id="rId11"/>
    <p:sldId id="281" r:id="rId12"/>
    <p:sldId id="282" r:id="rId13"/>
  </p:sldIdLst>
  <p:sldSz cx="9144000" cy="6858000" type="screen4x3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23/02/2026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03827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23/02/2026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477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23/02/2026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599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23/02/2026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48362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23/02/2026</a:t>
            </a:fld>
            <a:endParaRPr lang="es-P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5112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23/02/2026</a:t>
            </a:fld>
            <a:endParaRPr lang="es-P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8310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23/02/2026</a:t>
            </a:fld>
            <a:endParaRPr lang="es-P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50340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23/02/2026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504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23/02/2026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8134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23/02/2026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73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23/02/2026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4486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01A3A-EFAD-4DCA-BFCF-B84FCBA4F73B}" type="datetimeFigureOut">
              <a:rPr lang="es-PE" smtClean="0"/>
              <a:t>23/02/2026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4983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72" y="159143"/>
            <a:ext cx="8901229" cy="65102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>
          <a:xfrm>
            <a:off x="611560" y="3414251"/>
            <a:ext cx="7772400" cy="2751053"/>
          </a:xfrm>
        </p:spPr>
        <p:txBody>
          <a:bodyPr>
            <a:noAutofit/>
          </a:bodyPr>
          <a:lstStyle/>
          <a:p>
            <a:pPr algn="ctr"/>
            <a:r>
              <a:rPr lang="es-PE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ESCUELA PROFESIONAL DE ECONOMIA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CURSO	: TEORIA MONETARIA Y BANCARIA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DOCENTE	: DRA. PAMELA TORRES TOLEDO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SEMESTRE	: 2026-I</a:t>
            </a:r>
          </a:p>
        </p:txBody>
      </p:sp>
      <p:sp>
        <p:nvSpPr>
          <p:cNvPr id="6" name="AutoShape 5" descr="Resultado de imagen para UNSAA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7" name="6 Rectángulo"/>
          <p:cNvSpPr/>
          <p:nvPr/>
        </p:nvSpPr>
        <p:spPr>
          <a:xfrm>
            <a:off x="3131840" y="457386"/>
            <a:ext cx="5606396" cy="7869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2800" b="1" dirty="0">
                <a:solidFill>
                  <a:schemeClr val="tx1"/>
                </a:solidFill>
              </a:rPr>
              <a:t>UNIVERSIDAD ANDINA DEL CUSCO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60" y="246497"/>
            <a:ext cx="2757003" cy="997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2478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87489" y="1196752"/>
            <a:ext cx="8229600" cy="43924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800" dirty="0"/>
              <a:t>Comprenderemos el SISTEMA CIRCULARIO DE LA ECONOMIA: </a:t>
            </a:r>
            <a:r>
              <a:rPr lang="es-ES" sz="2800" dirty="0" err="1"/>
              <a:t>Corazon</a:t>
            </a:r>
            <a:r>
              <a:rPr lang="es-ES" sz="2800" dirty="0"/>
              <a:t> (Bombea el Dinero – BCRP) Red de vasos Sanguíneos (Bancos ) que lo expanden</a:t>
            </a:r>
            <a:endParaRPr lang="es-PE" sz="28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Autofit/>
          </a:bodyPr>
          <a:lstStyle/>
          <a:p>
            <a:r>
              <a:rPr lang="es-PE" sz="3200" dirty="0"/>
              <a:t>EL PROCESO DE LA CREACION DE DINERO</a:t>
            </a:r>
          </a:p>
        </p:txBody>
      </p:sp>
    </p:spTree>
    <p:extLst>
      <p:ext uri="{BB962C8B-B14F-4D97-AF65-F5344CB8AC3E}">
        <p14:creationId xmlns:p14="http://schemas.microsoft.com/office/powerpoint/2010/main" val="1612840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A2FA31-BB0E-A1C3-A063-765BC8B50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PE" b="1" dirty="0"/>
              <a:t>1. La Base Monetaria (B): El dinero de "alto poder"</a:t>
            </a:r>
            <a:endParaRPr lang="es-PE" dirty="0"/>
          </a:p>
          <a:p>
            <a:pPr marL="0" indent="0">
              <a:buNone/>
            </a:pPr>
            <a:r>
              <a:rPr lang="es-PE" dirty="0"/>
              <a:t>La </a:t>
            </a:r>
            <a:r>
              <a:rPr lang="es-PE" b="1" dirty="0"/>
              <a:t>Base Monetaria</a:t>
            </a:r>
            <a:r>
              <a:rPr lang="es-PE" dirty="0"/>
              <a:t> es la cantidad total de dinero físico en la economía más las reservas que los bancos mantienen en el Banco Central. Es el punto de partida de todo.</a:t>
            </a:r>
          </a:p>
          <a:p>
            <a:pPr marL="0" indent="0">
              <a:buNone/>
            </a:pPr>
            <a:r>
              <a:rPr lang="es-PE" dirty="0"/>
              <a:t>Se compone de:</a:t>
            </a:r>
          </a:p>
          <a:p>
            <a:pPr lvl="0"/>
            <a:r>
              <a:rPr lang="es-PE" b="1" dirty="0"/>
              <a:t>Efectivo en manos del público (E):</a:t>
            </a:r>
            <a:r>
              <a:rPr lang="es-PE" dirty="0"/>
              <a:t> Billetes y monedas circulando.</a:t>
            </a:r>
          </a:p>
          <a:p>
            <a:pPr lvl="0"/>
            <a:r>
              <a:rPr lang="es-PE" b="1" dirty="0"/>
              <a:t>Reservas Bancarias (R):</a:t>
            </a:r>
            <a:r>
              <a:rPr lang="es-PE" dirty="0"/>
              <a:t> Dinero que los bancos comerciales guardan (ya sea en sus bóvedas o depositado en el Banco Central) para asegurar la liquidez.</a:t>
            </a:r>
          </a:p>
          <a:p>
            <a:pPr marL="0" indent="0">
              <a:buNone/>
            </a:pPr>
            <a:r>
              <a:rPr lang="es-PE" dirty="0"/>
              <a:t>				B = E + R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2600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CF4DE6-F866-7B38-35F9-04BB162EE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PE" sz="2400" b="1" dirty="0"/>
              <a:t>2. El Multiplicador Monetario (m)</a:t>
            </a:r>
            <a:endParaRPr lang="es-PE" sz="2400" dirty="0"/>
          </a:p>
          <a:p>
            <a:pPr marL="0" indent="0">
              <a:buNone/>
            </a:pPr>
            <a:r>
              <a:rPr lang="es-PE" sz="2400" dirty="0"/>
              <a:t>Aquí es donde ocurre la "magia". El multiplicador es un número que indica cuánto se expande la base monetaria a través del sistema bancario para convertirse en la </a:t>
            </a:r>
            <a:r>
              <a:rPr lang="es-PE" sz="2400" b="1" dirty="0"/>
              <a:t>Oferta Monetaria (M)</a:t>
            </a:r>
            <a:r>
              <a:rPr lang="es-PE" sz="2400" dirty="0"/>
              <a:t>.</a:t>
            </a:r>
          </a:p>
          <a:p>
            <a:pPr marL="0" indent="0">
              <a:buNone/>
            </a:pPr>
            <a:r>
              <a:rPr lang="es-PE" sz="2400" dirty="0"/>
              <a:t>Depende de dos decisiones clave:</a:t>
            </a:r>
          </a:p>
          <a:p>
            <a:pPr lvl="0"/>
            <a:r>
              <a:rPr lang="es-PE" sz="2400" b="1" dirty="0"/>
              <a:t>Coeficiente de caja o reservas (c):</a:t>
            </a:r>
            <a:r>
              <a:rPr lang="es-PE" sz="2400" dirty="0"/>
              <a:t> El porcentaje de los depósitos que el Banco Central obliga a los bancos a mantener quietos (sin prestar).</a:t>
            </a:r>
          </a:p>
          <a:p>
            <a:pPr lvl="0"/>
            <a:r>
              <a:rPr lang="es-PE" sz="2400" b="1" dirty="0"/>
              <a:t>Coeficiente de efectivo (e):</a:t>
            </a:r>
            <a:r>
              <a:rPr lang="es-PE" sz="2400" dirty="0"/>
              <a:t> La proporción de dinero que la gente prefiere tener en billetes físicos en lugar de dejarlo en el banco.</a:t>
            </a:r>
          </a:p>
          <a:p>
            <a:pPr marL="0" indent="0">
              <a:buNone/>
            </a:pPr>
            <a:r>
              <a:rPr lang="es-PE" sz="2400" dirty="0"/>
              <a:t>La fórmula del multiplicador es:</a:t>
            </a:r>
          </a:p>
          <a:p>
            <a:pPr marL="0" indent="0">
              <a:buNone/>
            </a:pPr>
            <a:endParaRPr lang="es-PE" sz="2400" dirty="0"/>
          </a:p>
          <a:p>
            <a:pPr marL="0" indent="0">
              <a:buNone/>
            </a:pPr>
            <a:r>
              <a:rPr lang="es-PE" sz="2400" dirty="0"/>
              <a:t>m =                    (e+1)                           ;</a:t>
            </a:r>
          </a:p>
          <a:p>
            <a:pPr marL="0" indent="0">
              <a:buNone/>
            </a:pPr>
            <a:r>
              <a:rPr lang="es-PE" sz="2400" dirty="0"/>
              <a:t>          (e +c + coeficiente legal)</a:t>
            </a:r>
          </a:p>
          <a:p>
            <a:pPr marL="0" indent="0">
              <a:buNone/>
            </a:pPr>
            <a:endParaRPr lang="es-PE" sz="2400" dirty="0"/>
          </a:p>
        </p:txBody>
      </p:sp>
      <p:pic>
        <p:nvPicPr>
          <p:cNvPr id="5" name="Imagen 4" descr="Gráfico, Diagrama">
            <a:extLst>
              <a:ext uri="{FF2B5EF4-FFF2-40B4-BE49-F238E27FC236}">
                <a16:creationId xmlns:a16="http://schemas.microsoft.com/office/drawing/2014/main" id="{5AE76FD1-C20D-9C9E-8A30-CBF7EB37E6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99" t="25133" r="14286"/>
          <a:stretch>
            <a:fillRect/>
          </a:stretch>
        </p:blipFill>
        <p:spPr>
          <a:xfrm>
            <a:off x="6012160" y="5013176"/>
            <a:ext cx="1656184" cy="82495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105DB3D-0083-44B5-137E-6BE785666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103591"/>
            <a:ext cx="8229600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Nota:</a:t>
            </a:r>
            <a:r>
              <a:rPr kumimoji="0" lang="es-PE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Cuanto menor sea el encaje legal (</a:t>
            </a:r>
            <a:r>
              <a:rPr kumimoji="0" lang="es-PE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</a:t>
            </a:r>
            <a:r>
              <a:rPr kumimoji="0" lang="es-PE" altLang="es-P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más dinero pueden prestar los bancos y más grande será el multiplicador.</a:t>
            </a:r>
            <a:endParaRPr kumimoji="0" lang="es-PE" altLang="es-P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DF07D20-C7EB-E47B-D4DD-E301976C6B1E}"/>
              </a:ext>
            </a:extLst>
          </p:cNvPr>
          <p:cNvCxnSpPr/>
          <p:nvPr/>
        </p:nvCxnSpPr>
        <p:spPr>
          <a:xfrm>
            <a:off x="1259632" y="5425653"/>
            <a:ext cx="3240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1760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275F2C-9E7D-79AE-099D-2B6D04771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s-PE" sz="2400" b="1" dirty="0"/>
              <a:t>3. Creación Secundaria de Dinero</a:t>
            </a:r>
            <a:endParaRPr lang="es-PE" sz="2400" dirty="0"/>
          </a:p>
          <a:p>
            <a:pPr marL="0" indent="0" algn="just">
              <a:buNone/>
            </a:pPr>
            <a:r>
              <a:rPr lang="es-PE" sz="2400" dirty="0"/>
              <a:t>Este es el proceso mediante el cual los bancos comerciales "crean" dinero que no existía físicamente a través del crédito. No es que impriman billetes, sino que generan </a:t>
            </a:r>
            <a:r>
              <a:rPr lang="es-PE" sz="2400" b="1" dirty="0"/>
              <a:t>anotaciones contables</a:t>
            </a:r>
            <a:r>
              <a:rPr lang="es-PE" sz="2400" dirty="0"/>
              <a:t>.</a:t>
            </a:r>
          </a:p>
          <a:p>
            <a:pPr marL="0" indent="0" algn="just">
              <a:buNone/>
            </a:pPr>
            <a:r>
              <a:rPr lang="es-PE" sz="2400" b="1" dirty="0"/>
              <a:t>El Proceso de Expansión (Paso a paso)</a:t>
            </a:r>
            <a:endParaRPr lang="es-PE" sz="2400" dirty="0"/>
          </a:p>
          <a:p>
            <a:pPr algn="just"/>
            <a:r>
              <a:rPr lang="es-PE" sz="2400" dirty="0"/>
              <a:t>Imagina que el coeficiente de reserva es del </a:t>
            </a:r>
            <a:r>
              <a:rPr lang="es-PE" sz="2400" b="1" dirty="0"/>
              <a:t>10%</a:t>
            </a:r>
            <a:r>
              <a:rPr lang="es-PE" sz="2400" dirty="0"/>
              <a:t> (0.1):</a:t>
            </a:r>
          </a:p>
          <a:p>
            <a:pPr marL="0" lvl="0" indent="0" algn="just">
              <a:buNone/>
            </a:pPr>
            <a:r>
              <a:rPr lang="es-PE" sz="2400" b="1" dirty="0"/>
              <a:t>	Depósito Inicial:</a:t>
            </a:r>
            <a:r>
              <a:rPr lang="es-PE" sz="2400" dirty="0"/>
              <a:t> Tú depositas 1,000 en el Banco A.</a:t>
            </a:r>
          </a:p>
          <a:p>
            <a:pPr marL="0" lvl="0" indent="0" algn="just">
              <a:buNone/>
            </a:pPr>
            <a:r>
              <a:rPr lang="es-PE" sz="2400" b="1" dirty="0"/>
              <a:t>	Reserva Legal:</a:t>
            </a:r>
            <a:r>
              <a:rPr lang="es-PE" sz="2400" dirty="0"/>
              <a:t> El Banco A guarda 100 (el 10%) y presta los otros 900.</a:t>
            </a:r>
          </a:p>
          <a:p>
            <a:pPr marL="0" lvl="0" indent="0" algn="just">
              <a:buNone/>
            </a:pPr>
            <a:r>
              <a:rPr lang="es-PE" sz="2400" b="1" dirty="0"/>
              <a:t>	Nuevo Depósito:</a:t>
            </a:r>
            <a:r>
              <a:rPr lang="es-PE" sz="2400" dirty="0"/>
              <a:t> La persona que recibió el préstamo paga un servicio, y quien cobró deposita esos 900 en el Banco B.</a:t>
            </a:r>
          </a:p>
          <a:p>
            <a:pPr marL="0" lvl="0" indent="0" algn="just">
              <a:buNone/>
            </a:pPr>
            <a:r>
              <a:rPr lang="es-PE" sz="2400" b="1" dirty="0"/>
              <a:t>	Siguiente Ciclo:</a:t>
            </a:r>
            <a:r>
              <a:rPr lang="es-PE" sz="2400" dirty="0"/>
              <a:t> El Banco B guarda 90 y presta 810.</a:t>
            </a:r>
          </a:p>
          <a:p>
            <a:pPr marL="0" indent="0" algn="just">
              <a:buNone/>
            </a:pPr>
            <a:r>
              <a:rPr lang="es-PE" sz="2400" dirty="0"/>
              <a:t>Al final de esta cadena, los 1,000 originales se han transformado en mucho más dinero en forma de depósitos bancarios. A esto se le llama </a:t>
            </a:r>
            <a:r>
              <a:rPr lang="es-PE" sz="2400" b="1" dirty="0"/>
              <a:t>creación secundaria</a:t>
            </a:r>
            <a:r>
              <a:rPr lang="es-PE" sz="2400" dirty="0"/>
              <a:t>.</a:t>
            </a:r>
          </a:p>
          <a:p>
            <a:pPr marL="0" indent="0" algn="just">
              <a:buNone/>
            </a:pP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2170445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C97549-D09D-3808-BFDA-48697EAEF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90465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PE" sz="2400" b="1" dirty="0"/>
              <a:t>4. La Oferta Monetaria (M)</a:t>
            </a:r>
            <a:endParaRPr lang="es-PE" sz="2400" dirty="0"/>
          </a:p>
          <a:p>
            <a:pPr marL="0" indent="0" algn="just">
              <a:buNone/>
            </a:pPr>
            <a:r>
              <a:rPr lang="es-PE" sz="2400" dirty="0"/>
              <a:t>Finalmente, la Oferta Monetaria es el resultado total: el dinero que realmente circula en la economía (Efectivo + Depósitos).</a:t>
            </a:r>
          </a:p>
          <a:p>
            <a:pPr marL="0" indent="0" algn="just">
              <a:buNone/>
            </a:pPr>
            <a:r>
              <a:rPr lang="es-PE" sz="2400" dirty="0"/>
              <a:t>				M = m x B</a:t>
            </a:r>
          </a:p>
          <a:p>
            <a:pPr marL="0" indent="0" algn="just">
              <a:buNone/>
            </a:pPr>
            <a:r>
              <a:rPr lang="es-PE" sz="2400" b="1" dirty="0"/>
              <a:t>Resumen de la relación</a:t>
            </a:r>
            <a:endParaRPr lang="es-PE" sz="2400" dirty="0"/>
          </a:p>
          <a:p>
            <a:pPr lvl="0" algn="just"/>
            <a:r>
              <a:rPr lang="es-PE" sz="2400" b="1" dirty="0"/>
              <a:t>El Banco Central</a:t>
            </a:r>
            <a:r>
              <a:rPr lang="es-PE" sz="2400" dirty="0"/>
              <a:t> controla la Base Monetaria (B), imprimiendo dinero o comprando/vendiendo bonos.</a:t>
            </a:r>
          </a:p>
          <a:p>
            <a:pPr lvl="0" algn="just"/>
            <a:r>
              <a:rPr lang="es-PE" sz="2400" b="1" dirty="0"/>
              <a:t>Los Bancos Comerciales</a:t>
            </a:r>
            <a:r>
              <a:rPr lang="es-PE" sz="2400" dirty="0"/>
              <a:t> multiplican ese dinero mediante préstamos (Creación secundaria).</a:t>
            </a:r>
          </a:p>
          <a:p>
            <a:pPr lvl="0" algn="just"/>
            <a:r>
              <a:rPr lang="es-PE" sz="2400" b="1" dirty="0"/>
              <a:t>El Público</a:t>
            </a:r>
            <a:r>
              <a:rPr lang="es-PE" sz="2400" dirty="0"/>
              <a:t> influye mediante su decisión de cuánto dinero mantener en el banco vs. en su billetera.</a:t>
            </a:r>
          </a:p>
          <a:p>
            <a:pPr marL="0" indent="0" algn="just">
              <a:buNone/>
            </a:pPr>
            <a:endParaRPr lang="es-PE" sz="2400" dirty="0"/>
          </a:p>
          <a:p>
            <a:pPr marL="0" indent="0" algn="just">
              <a:buNone/>
            </a:pPr>
            <a:r>
              <a:rPr lang="es-PE" sz="2400" dirty="0"/>
              <a:t>Si el Banco Central aumenta la base o baja el encaje legal, la oferta de dinero sube, lo que suele estimular el consumo, pero, si se descontrola, puede generar inflación.</a:t>
            </a:r>
          </a:p>
          <a:p>
            <a:pPr marL="0" indent="0" algn="just">
              <a:buNone/>
            </a:pP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1382090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1BF463-3216-E172-C2C6-B58F9C0FF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s-PE" sz="3200" dirty="0"/>
              <a:t>EJERCICIOS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CCBE54-1867-6BB1-56FB-DBE8DF7AE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836712"/>
            <a:ext cx="8229600" cy="4525963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s-ES" b="1" dirty="0"/>
              <a:t>Ejercicio 1: Cálculo básico de la Base Monetaria</a:t>
            </a:r>
          </a:p>
          <a:p>
            <a:pPr marL="0" indent="0" algn="just">
              <a:buNone/>
            </a:pPr>
            <a:r>
              <a:rPr lang="es-ES" dirty="0"/>
              <a:t>En un país imaginario, se tienen los siguientes datos del sistema financiero:</a:t>
            </a:r>
          </a:p>
          <a:p>
            <a:pPr algn="just"/>
            <a:r>
              <a:rPr lang="es-ES" dirty="0"/>
              <a:t>Efectivo en poder del público: 50,000 millones de euros</a:t>
            </a:r>
          </a:p>
          <a:p>
            <a:pPr algn="just"/>
            <a:r>
              <a:rPr lang="es-ES" dirty="0"/>
              <a:t>Reservas bancarias (depósitos de los bancos en el Banco Central): 15,000 millones de euros</a:t>
            </a:r>
          </a:p>
          <a:p>
            <a:pPr algn="just"/>
            <a:r>
              <a:rPr lang="es-ES" dirty="0"/>
              <a:t>Depósitos a la vista: 200,000 millones de euros</a:t>
            </a:r>
          </a:p>
          <a:p>
            <a:pPr marL="0" indent="0">
              <a:buNone/>
            </a:pPr>
            <a:r>
              <a:rPr lang="es-ES" dirty="0"/>
              <a:t>Calcula:</a:t>
            </a:r>
            <a:br>
              <a:rPr lang="es-ES" dirty="0"/>
            </a:br>
            <a:r>
              <a:rPr lang="es-ES" dirty="0"/>
              <a:t>a) La Base Monetaria</a:t>
            </a:r>
            <a:br>
              <a:rPr lang="es-ES" dirty="0"/>
            </a:br>
            <a:r>
              <a:rPr lang="es-ES" dirty="0"/>
              <a:t>b) Si el Banco Central decide aumentar las reservas bancarias en 2,000 millones mediante una operación de mercado abierto, ¿cuál sería la nueva Base Monetaria?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sz="2600" dirty="0"/>
              <a:t>Los </a:t>
            </a:r>
            <a:r>
              <a:rPr lang="es-ES" sz="2600" b="1" dirty="0"/>
              <a:t>depósitos a la vista</a:t>
            </a:r>
            <a:r>
              <a:rPr lang="es-ES" sz="2600" dirty="0"/>
              <a:t> son fondos que una persona o empresa mantiene en una entidad financiera y que pueden </a:t>
            </a:r>
            <a:r>
              <a:rPr lang="es-ES" sz="2600" b="1" dirty="0"/>
              <a:t>retirarse en cualquier momento </a:t>
            </a:r>
            <a:r>
              <a:rPr lang="es-ES" sz="2600" b="1" dirty="0" err="1"/>
              <a:t>ejm</a:t>
            </a:r>
            <a:r>
              <a:rPr lang="es-ES" sz="2600" b="1" dirty="0"/>
              <a:t> o, sin previo aviso ni penalidad</a:t>
            </a:r>
            <a:r>
              <a:rPr lang="es-ES" sz="2600" dirty="0"/>
              <a:t>. </a:t>
            </a:r>
            <a:r>
              <a:rPr lang="es-ES" sz="2600" dirty="0" err="1"/>
              <a:t>Ej</a:t>
            </a:r>
            <a:r>
              <a:rPr lang="es-ES" sz="2600" dirty="0"/>
              <a:t> </a:t>
            </a:r>
            <a:r>
              <a:rPr lang="es-PE" sz="2600" dirty="0"/>
              <a:t>Cuenta corriente.</a:t>
            </a:r>
          </a:p>
          <a:p>
            <a:pPr marL="0" indent="0" algn="just">
              <a:buNone/>
            </a:pPr>
            <a:r>
              <a:rPr lang="es-ES" sz="2800" b="1" dirty="0"/>
              <a:t>Las operaciones de mercado abierto (OMA)</a:t>
            </a:r>
            <a:r>
              <a:rPr lang="es-ES" sz="2800" dirty="0"/>
              <a:t> es una herramienta de política monetaria mediante la cual el banco central </a:t>
            </a:r>
            <a:r>
              <a:rPr lang="es-ES" sz="2800" b="1" dirty="0"/>
              <a:t>compra o vende títulos valores (generalmente bonos del Estado)</a:t>
            </a:r>
            <a:r>
              <a:rPr lang="es-ES" sz="2800" dirty="0"/>
              <a:t> en el mercado financiero para </a:t>
            </a:r>
            <a:r>
              <a:rPr lang="es-ES" sz="2800" b="1" dirty="0"/>
              <a:t>regular la cantidad de dinero y la tasa de interés en la economía</a:t>
            </a:r>
            <a:r>
              <a:rPr lang="es-ES" sz="2800" dirty="0"/>
              <a:t>.</a:t>
            </a:r>
          </a:p>
          <a:p>
            <a:pPr marL="0" indent="0" algn="just">
              <a:buNone/>
            </a:pPr>
            <a:endParaRPr lang="es-PE" sz="2600" dirty="0"/>
          </a:p>
        </p:txBody>
      </p:sp>
    </p:spTree>
    <p:extLst>
      <p:ext uri="{BB962C8B-B14F-4D97-AF65-F5344CB8AC3E}">
        <p14:creationId xmlns:p14="http://schemas.microsoft.com/office/powerpoint/2010/main" val="3774225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70871D-482A-142C-0862-2376962D9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000" b="1" dirty="0"/>
              <a:t>Ejercicio 2: Variaciones en la Base Monetaria</a:t>
            </a:r>
          </a:p>
          <a:p>
            <a:pPr marL="0" indent="0" algn="just">
              <a:buNone/>
            </a:pPr>
            <a:r>
              <a:rPr lang="es-ES" sz="2000" dirty="0"/>
              <a:t>El Banco Central de un país realiza las siguientes operaciones durante una semana:</a:t>
            </a:r>
          </a:p>
          <a:p>
            <a:pPr algn="just"/>
            <a:r>
              <a:rPr lang="es-ES" sz="2000" dirty="0"/>
              <a:t>Compra de bonos del gobierno por valor de 5,000 millones de euros</a:t>
            </a:r>
          </a:p>
          <a:p>
            <a:pPr algn="just"/>
            <a:r>
              <a:rPr lang="es-ES" sz="2000" dirty="0"/>
              <a:t>Concesión de préstamos a bancos comerciales por 1,500 millones</a:t>
            </a:r>
          </a:p>
          <a:p>
            <a:pPr algn="just"/>
            <a:r>
              <a:rPr lang="es-ES" sz="2000" dirty="0"/>
              <a:t>Venta de divisas por 800 millones de euros</a:t>
            </a:r>
          </a:p>
          <a:p>
            <a:pPr marL="0" indent="0" algn="just">
              <a:buNone/>
            </a:pPr>
            <a:r>
              <a:rPr lang="es-ES" sz="2000" dirty="0"/>
              <a:t>Sabiendo que la Base Monetaria inicial era de 80,000 millones y que el efectivo en manos del público representa el 40% de la BM inicial, calcule:</a:t>
            </a:r>
            <a:br>
              <a:rPr lang="es-ES" sz="2000" dirty="0"/>
            </a:br>
            <a:r>
              <a:rPr lang="es-ES" sz="2000" dirty="0"/>
              <a:t>a) La variación neta de la Base Monetaria</a:t>
            </a:r>
            <a:br>
              <a:rPr lang="es-ES" sz="2000" dirty="0"/>
            </a:br>
            <a:r>
              <a:rPr lang="es-ES" sz="2000" dirty="0"/>
              <a:t>b) La BM final</a:t>
            </a:r>
            <a:br>
              <a:rPr lang="es-ES" sz="2000" dirty="0"/>
            </a:br>
            <a:r>
              <a:rPr lang="es-ES" sz="2000" dirty="0"/>
              <a:t>c) Las nuevas reservas bancarias si el efectivo en manos del público no varió</a:t>
            </a:r>
          </a:p>
          <a:p>
            <a:pPr marL="0" indent="0" algn="just">
              <a:buNone/>
            </a:pPr>
            <a:endParaRPr lang="es-PE" sz="2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F06351C-283F-5AC9-1031-74A7BCAC9F84}"/>
              </a:ext>
            </a:extLst>
          </p:cNvPr>
          <p:cNvSpPr txBox="1"/>
          <p:nvPr/>
        </p:nvSpPr>
        <p:spPr>
          <a:xfrm>
            <a:off x="457200" y="5229200"/>
            <a:ext cx="846043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Las </a:t>
            </a:r>
            <a:r>
              <a:rPr lang="es-ES" sz="1400" b="1" dirty="0"/>
              <a:t>ventas de divisas</a:t>
            </a:r>
            <a:r>
              <a:rPr lang="es-ES" sz="1400" dirty="0"/>
              <a:t> por parte de un banco central son intervenciones en el mercado cambiario donde la autoridad monetaria </a:t>
            </a:r>
            <a:r>
              <a:rPr lang="es-ES" sz="1400" b="1" dirty="0"/>
              <a:t>vende moneda extranjera (normalmente dólares)</a:t>
            </a:r>
            <a:r>
              <a:rPr lang="es-ES" sz="1400" dirty="0"/>
              <a:t> y recibe moneda local a cambio, con el objetivo de </a:t>
            </a:r>
            <a:r>
              <a:rPr lang="es-ES" sz="1400" b="1" dirty="0"/>
              <a:t>inflar estabilidad en el tipo de cambio y controlar presiones inflacionarias</a:t>
            </a:r>
            <a:r>
              <a:rPr lang="es-ES" sz="1400" dirty="0"/>
              <a:t>.</a:t>
            </a:r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992369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585C3A-9A43-B1F6-27BE-ED8E6867E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b="1" dirty="0"/>
              <a:t>Ejercicio 3: Cálculo del multiplicador simple</a:t>
            </a:r>
          </a:p>
          <a:p>
            <a:pPr marL="0" indent="0" algn="just">
              <a:buNone/>
            </a:pPr>
            <a:r>
              <a:rPr lang="es-ES" dirty="0"/>
              <a:t>En un sistema bancario donde los bancos mantienen un coeficiente de reservas del 10% sobre los depósitos y el público no mantiene efectivo, calcula:</a:t>
            </a:r>
          </a:p>
          <a:p>
            <a:pPr marL="0" indent="0" algn="just">
              <a:buNone/>
            </a:pPr>
            <a:r>
              <a:rPr lang="es-ES" dirty="0"/>
              <a:t>a) El valor del multiplicador monetario simple</a:t>
            </a:r>
            <a:br>
              <a:rPr lang="es-ES" dirty="0"/>
            </a:br>
            <a:r>
              <a:rPr lang="es-ES" dirty="0"/>
              <a:t>b) Si se produce un incremento en la Base Monetaria de 1,000 euros, ¿cuál será el aumento total de la oferta monetaria?</a:t>
            </a:r>
            <a:br>
              <a:rPr lang="es-ES" dirty="0"/>
            </a:br>
            <a:r>
              <a:rPr lang="es-ES" dirty="0"/>
              <a:t>c) ¿Qué ocurriría con el multiplicador si el coeficiente de reservas aumentara al 15%?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53538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277976-FD43-32F5-6DEF-3E70EEE9D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b="1"/>
              <a:t>Ejercicio 4: Multiplicador con efectivo y exceso de reservas</a:t>
            </a:r>
          </a:p>
          <a:p>
            <a:pPr marL="0" indent="0">
              <a:buNone/>
            </a:pPr>
            <a:r>
              <a:rPr lang="es-ES" sz="2400"/>
              <a:t>En un país se conocen los siguientes datos:</a:t>
            </a:r>
          </a:p>
          <a:p>
            <a:r>
              <a:rPr lang="es-ES" sz="2400"/>
              <a:t>Coeficiente legal de reservas: 8%</a:t>
            </a:r>
          </a:p>
          <a:p>
            <a:r>
              <a:rPr lang="es-ES" sz="2400"/>
              <a:t>Relación efectivo/depósitos (e): 12%</a:t>
            </a:r>
          </a:p>
          <a:p>
            <a:r>
              <a:rPr lang="es-ES" sz="2400"/>
              <a:t>Coeficiente de exceso de reservas (r): 3%</a:t>
            </a:r>
          </a:p>
          <a:p>
            <a:pPr marL="0" indent="0">
              <a:buNone/>
            </a:pPr>
            <a:r>
              <a:rPr lang="es-ES" sz="2400"/>
              <a:t>Calcula:</a:t>
            </a:r>
            <a:br>
              <a:rPr lang="es-ES" sz="2400"/>
            </a:br>
            <a:r>
              <a:rPr lang="es-ES" sz="2400"/>
              <a:t>a) El multiplicador monetario real</a:t>
            </a:r>
            <a:br>
              <a:rPr lang="es-ES" sz="2400"/>
            </a:br>
            <a:r>
              <a:rPr lang="es-ES" sz="2400"/>
              <a:t>b) Si la Base Monetaria es de 100,000 millones, ¿cuál es la Oferta Monetaria?</a:t>
            </a:r>
            <a:br>
              <a:rPr lang="es-ES" sz="2400"/>
            </a:br>
            <a:r>
              <a:rPr lang="es-ES" sz="2400"/>
              <a:t>c) Interpreta por qué este multiplicador es menor que el simple</a:t>
            </a:r>
          </a:p>
          <a:p>
            <a:pPr marL="0" indent="0">
              <a:buNone/>
            </a:pPr>
            <a:endParaRPr lang="es-PE" sz="24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FCD35CB-A933-BE90-2466-CD3204759AEE}"/>
              </a:ext>
            </a:extLst>
          </p:cNvPr>
          <p:cNvSpPr txBox="1"/>
          <p:nvPr/>
        </p:nvSpPr>
        <p:spPr>
          <a:xfrm>
            <a:off x="107504" y="4581128"/>
            <a:ext cx="78488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El </a:t>
            </a:r>
            <a:r>
              <a:rPr lang="es-ES" sz="1600" b="1" dirty="0"/>
              <a:t>coeficiente legal de reservas</a:t>
            </a:r>
            <a:r>
              <a:rPr lang="es-ES" sz="1600" dirty="0"/>
              <a:t> (también llamado </a:t>
            </a:r>
            <a:r>
              <a:rPr lang="es-ES" sz="1600" b="1" dirty="0"/>
              <a:t>encaje bancario</a:t>
            </a:r>
            <a:r>
              <a:rPr lang="es-ES" sz="1600" dirty="0"/>
              <a:t>) es el </a:t>
            </a:r>
            <a:r>
              <a:rPr lang="es-ES" sz="1600" b="1" dirty="0"/>
              <a:t>porcentaje de los depósitos que los bancos están obligados a mantener como reserva</a:t>
            </a:r>
            <a:r>
              <a:rPr lang="es-ES" sz="1600" dirty="0"/>
              <a:t>, sin poder prestarlo.</a:t>
            </a:r>
            <a:endParaRPr lang="es-PE" sz="16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57E5C4C-6A62-6345-8E01-3587D0CF84EA}"/>
              </a:ext>
            </a:extLst>
          </p:cNvPr>
          <p:cNvSpPr txBox="1"/>
          <p:nvPr/>
        </p:nvSpPr>
        <p:spPr>
          <a:xfrm>
            <a:off x="93405" y="5341333"/>
            <a:ext cx="88673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La </a:t>
            </a:r>
            <a:r>
              <a:rPr lang="es-ES" sz="1400" b="1" dirty="0"/>
              <a:t>relación efectivo/depósitos</a:t>
            </a:r>
            <a:r>
              <a:rPr lang="es-ES" sz="1400" dirty="0"/>
              <a:t> (también llamada </a:t>
            </a:r>
            <a:r>
              <a:rPr lang="es-ES" sz="1400" b="1" dirty="0"/>
              <a:t>coeficiente de preferencia por efectivo</a:t>
            </a:r>
            <a:r>
              <a:rPr lang="es-ES" sz="1400" dirty="0"/>
              <a:t>) expresa </a:t>
            </a:r>
            <a:r>
              <a:rPr lang="es-ES" sz="1400" b="1" dirty="0"/>
              <a:t>qué proporción del dinero que tiene el público se mantiene en efectivo y no en depósitos bancarios</a:t>
            </a:r>
            <a:r>
              <a:rPr lang="es-ES" sz="1400" dirty="0"/>
              <a:t>.</a:t>
            </a:r>
            <a:endParaRPr lang="es-PE" sz="1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ECAC2BC-8B55-820D-5DE6-75DB5022D308}"/>
              </a:ext>
            </a:extLst>
          </p:cNvPr>
          <p:cNvSpPr txBox="1"/>
          <p:nvPr/>
        </p:nvSpPr>
        <p:spPr>
          <a:xfrm>
            <a:off x="107504" y="6051425"/>
            <a:ext cx="83995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El </a:t>
            </a:r>
            <a:r>
              <a:rPr lang="es-ES" sz="1400" b="1" dirty="0"/>
              <a:t>coeficiente de exceso de reservas</a:t>
            </a:r>
            <a:r>
              <a:rPr lang="es-ES" sz="1400" dirty="0"/>
              <a:t> es la proporción de los depósitos que los bancos mantienen como </a:t>
            </a:r>
            <a:r>
              <a:rPr lang="es-ES" sz="1400" b="1" dirty="0"/>
              <a:t>reservas adicionales voluntarias</a:t>
            </a:r>
            <a:r>
              <a:rPr lang="es-ES" sz="1400" dirty="0"/>
              <a:t>, por encima del encaje legal obligatorio.</a:t>
            </a:r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1852910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60F5B-8F54-7B47-C4B7-A23A8B892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476672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ES" b="1" dirty="0"/>
              <a:t>Ejercicio 5: Proceso de expansión múltiple</a:t>
            </a:r>
          </a:p>
          <a:p>
            <a:pPr marL="0" indent="0" algn="just">
              <a:buNone/>
            </a:pPr>
            <a:r>
              <a:rPr lang="es-ES" dirty="0"/>
              <a:t>Un banco recibe un depósito inicial de 10,000 euros. El coeficiente de reservas es del 20% y no hay efectivo en poder del público. </a:t>
            </a:r>
          </a:p>
          <a:p>
            <a:pPr marL="0" indent="0" algn="just">
              <a:buNone/>
            </a:pPr>
            <a:r>
              <a:rPr lang="es-ES" dirty="0"/>
              <a:t>Muestre:</a:t>
            </a:r>
          </a:p>
          <a:p>
            <a:pPr marL="0" indent="0" algn="just">
              <a:buNone/>
            </a:pPr>
            <a:r>
              <a:rPr lang="es-ES" dirty="0"/>
              <a:t>a) Las primeras 4 etapas del proceso de creación secundaria de dinero</a:t>
            </a:r>
            <a:br>
              <a:rPr lang="es-ES" dirty="0"/>
            </a:br>
            <a:r>
              <a:rPr lang="es-ES" dirty="0"/>
              <a:t>b) El total de dinero creado al final del proceso</a:t>
            </a:r>
            <a:br>
              <a:rPr lang="es-ES" dirty="0"/>
            </a:br>
            <a:r>
              <a:rPr lang="es-ES" dirty="0"/>
              <a:t>c) El balance final del sistema bancario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409307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E1EB20-D92D-F134-4661-E7F8D149A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b="1" dirty="0"/>
              <a:t>Ejercicio 6: Creación secundaria con filtración de efectivo</a:t>
            </a:r>
            <a:br>
              <a:rPr lang="es-ES" dirty="0"/>
            </a:br>
            <a:r>
              <a:rPr lang="es-ES" dirty="0"/>
              <a:t>Partimos de un depósito inicial de 20,000€ en el sistema bancario. El coeficiente de reservas es del 15% y el público mantiene en efectivo el 10% de cada depósito que recibe. Calcula:</a:t>
            </a:r>
          </a:p>
          <a:p>
            <a:pPr marL="0" indent="0" algn="just">
              <a:buNone/>
            </a:pPr>
            <a:r>
              <a:rPr lang="es-ES" dirty="0"/>
              <a:t>a) El multiplicador en este contexto</a:t>
            </a:r>
            <a:br>
              <a:rPr lang="es-ES" dirty="0"/>
            </a:br>
            <a:r>
              <a:rPr lang="es-ES" dirty="0"/>
              <a:t>b) El total de depósitos creados</a:t>
            </a:r>
            <a:br>
              <a:rPr lang="es-ES" dirty="0"/>
            </a:br>
            <a:r>
              <a:rPr lang="es-ES" dirty="0"/>
              <a:t>c) El total de efectivo en manos del público al final del proceso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978505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1133</TotalTime>
  <Words>1363</Words>
  <Application>Microsoft Office PowerPoint</Application>
  <PresentationFormat>Presentación en pantalla (4:3)</PresentationFormat>
  <Paragraphs>76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Google Sans Text</vt:lpstr>
      <vt:lpstr>Tema de Office</vt:lpstr>
      <vt:lpstr>Presentación de PowerPoint</vt:lpstr>
      <vt:lpstr>EL PROCESO DE LA CREACION DE DINERO</vt:lpstr>
      <vt:lpstr>Presentación de PowerPoint</vt:lpstr>
      <vt:lpstr>Presentación de PowerPoint</vt:lpstr>
      <vt:lpstr>Presentación de PowerPoint</vt:lpstr>
      <vt:lpstr>Presentación de PowerPoint</vt:lpstr>
      <vt:lpstr>EJERCICIOS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Luffi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Luffi</dc:creator>
  <cp:lastModifiedBy>pamela torres toledo</cp:lastModifiedBy>
  <cp:revision>54</cp:revision>
  <dcterms:created xsi:type="dcterms:W3CDTF">2019-10-15T05:04:37Z</dcterms:created>
  <dcterms:modified xsi:type="dcterms:W3CDTF">2026-02-23T22:51:20Z</dcterms:modified>
</cp:coreProperties>
</file>