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7" r:id="rId2"/>
    <p:sldId id="284" r:id="rId3"/>
    <p:sldId id="272" r:id="rId4"/>
    <p:sldId id="285" r:id="rId5"/>
    <p:sldId id="286" r:id="rId6"/>
    <p:sldId id="288" r:id="rId7"/>
    <p:sldId id="289" r:id="rId8"/>
    <p:sldId id="287" r:id="rId9"/>
    <p:sldId id="290" r:id="rId10"/>
    <p:sldId id="291" r:id="rId11"/>
    <p:sldId id="292" r:id="rId12"/>
    <p:sldId id="293" r:id="rId13"/>
    <p:sldId id="294" r:id="rId14"/>
    <p:sldId id="295" r:id="rId15"/>
    <p:sldId id="296" r:id="rId16"/>
    <p:sldId id="297" r:id="rId17"/>
    <p:sldId id="298" r:id="rId18"/>
    <p:sldId id="299" r:id="rId19"/>
    <p:sldId id="300" r:id="rId20"/>
  </p:sldIdLst>
  <p:sldSz cx="9144000" cy="6858000" type="screen4x3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1498" y="12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PE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01A3A-EFAD-4DCA-BFCF-B84FCBA4F73B}" type="datetimeFigureOut">
              <a:rPr lang="es-PE" smtClean="0"/>
              <a:t>09/02/2026</a:t>
            </a:fld>
            <a:endParaRPr lang="es-P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E5113-3B2C-46E0-94AC-E33D17FBF03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3038277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01A3A-EFAD-4DCA-BFCF-B84FCBA4F73B}" type="datetimeFigureOut">
              <a:rPr lang="es-PE" smtClean="0"/>
              <a:t>09/02/2026</a:t>
            </a:fld>
            <a:endParaRPr lang="es-P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E5113-3B2C-46E0-94AC-E33D17FBF03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64772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01A3A-EFAD-4DCA-BFCF-B84FCBA4F73B}" type="datetimeFigureOut">
              <a:rPr lang="es-PE" smtClean="0"/>
              <a:t>09/02/2026</a:t>
            </a:fld>
            <a:endParaRPr lang="es-P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E5113-3B2C-46E0-94AC-E33D17FBF03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955999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01A3A-EFAD-4DCA-BFCF-B84FCBA4F73B}" type="datetimeFigureOut">
              <a:rPr lang="es-PE" smtClean="0"/>
              <a:t>09/02/2026</a:t>
            </a:fld>
            <a:endParaRPr lang="es-PE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E5113-3B2C-46E0-94AC-E33D17FBF03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9483625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01A3A-EFAD-4DCA-BFCF-B84FCBA4F73B}" type="datetimeFigureOut">
              <a:rPr lang="es-PE" smtClean="0"/>
              <a:t>09/02/2026</a:t>
            </a:fld>
            <a:endParaRPr lang="es-PE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E5113-3B2C-46E0-94AC-E33D17FBF03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5511222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01A3A-EFAD-4DCA-BFCF-B84FCBA4F73B}" type="datetimeFigureOut">
              <a:rPr lang="es-PE" smtClean="0"/>
              <a:t>09/02/2026</a:t>
            </a:fld>
            <a:endParaRPr lang="es-PE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E5113-3B2C-46E0-94AC-E33D17FBF03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283100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01A3A-EFAD-4DCA-BFCF-B84FCBA4F73B}" type="datetimeFigureOut">
              <a:rPr lang="es-PE" smtClean="0"/>
              <a:t>09/02/2026</a:t>
            </a:fld>
            <a:endParaRPr lang="es-PE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E5113-3B2C-46E0-94AC-E33D17FBF03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7503405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01A3A-EFAD-4DCA-BFCF-B84FCBA4F73B}" type="datetimeFigureOut">
              <a:rPr lang="es-PE" smtClean="0"/>
              <a:t>09/02/2026</a:t>
            </a:fld>
            <a:endParaRPr lang="es-PE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E5113-3B2C-46E0-94AC-E33D17FBF03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0550457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01A3A-EFAD-4DCA-BFCF-B84FCBA4F73B}" type="datetimeFigureOut">
              <a:rPr lang="es-PE" smtClean="0"/>
              <a:t>09/02/2026</a:t>
            </a:fld>
            <a:endParaRPr lang="es-PE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E5113-3B2C-46E0-94AC-E33D17FBF03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5181340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01A3A-EFAD-4DCA-BFCF-B84FCBA4F73B}" type="datetimeFigureOut">
              <a:rPr lang="es-PE" smtClean="0"/>
              <a:t>09/02/2026</a:t>
            </a:fld>
            <a:endParaRPr lang="es-P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E5113-3B2C-46E0-94AC-E33D17FBF03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19734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01A3A-EFAD-4DCA-BFCF-B84FCBA4F73B}" type="datetimeFigureOut">
              <a:rPr lang="es-PE" smtClean="0"/>
              <a:t>09/02/2026</a:t>
            </a:fld>
            <a:endParaRPr lang="es-P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E5113-3B2C-46E0-94AC-E33D17FBF03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4448643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001A3A-EFAD-4DCA-BFCF-B84FCBA4F73B}" type="datetimeFigureOut">
              <a:rPr lang="es-PE" smtClean="0"/>
              <a:t>09/02/2026</a:t>
            </a:fld>
            <a:endParaRPr lang="es-P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E5113-3B2C-46E0-94AC-E33D17FBF03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5498374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-bh3Tt_ZvXQ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472" y="159143"/>
            <a:ext cx="8901229" cy="651021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4 Marcador de texto"/>
          <p:cNvSpPr>
            <a:spLocks noGrp="1"/>
          </p:cNvSpPr>
          <p:nvPr>
            <p:ph type="body" idx="1"/>
          </p:nvPr>
        </p:nvSpPr>
        <p:spPr>
          <a:xfrm>
            <a:off x="611560" y="3414251"/>
            <a:ext cx="7772400" cy="2751053"/>
          </a:xfrm>
        </p:spPr>
        <p:txBody>
          <a:bodyPr>
            <a:noAutofit/>
          </a:bodyPr>
          <a:lstStyle/>
          <a:p>
            <a:pPr algn="ctr"/>
            <a:r>
              <a:rPr lang="es-PE" sz="4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ESCUELA PROFESIONAL DE ECONOMIA</a:t>
            </a:r>
          </a:p>
          <a:p>
            <a:pPr algn="just"/>
            <a:r>
              <a:rPr lang="es-PE" sz="3200" b="1" dirty="0">
                <a:solidFill>
                  <a:schemeClr val="tx1"/>
                </a:solidFill>
              </a:rPr>
              <a:t>CURSO	: TEORIA MONETARIA Y BANCARIA</a:t>
            </a:r>
          </a:p>
          <a:p>
            <a:pPr algn="just"/>
            <a:r>
              <a:rPr lang="es-PE" sz="3200" b="1" dirty="0">
                <a:solidFill>
                  <a:schemeClr val="tx1"/>
                </a:solidFill>
              </a:rPr>
              <a:t>DOCENTE	: DRA. PAMELA TORRES TOLEDO</a:t>
            </a:r>
          </a:p>
          <a:p>
            <a:pPr algn="just"/>
            <a:r>
              <a:rPr lang="es-PE" sz="3200" b="1" dirty="0">
                <a:solidFill>
                  <a:schemeClr val="tx1"/>
                </a:solidFill>
              </a:rPr>
              <a:t>SEMESTRE	: 2026-I</a:t>
            </a:r>
          </a:p>
        </p:txBody>
      </p:sp>
      <p:sp>
        <p:nvSpPr>
          <p:cNvPr id="6" name="AutoShape 5" descr="Resultado de imagen para UNSAA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PE"/>
          </a:p>
        </p:txBody>
      </p:sp>
      <p:sp>
        <p:nvSpPr>
          <p:cNvPr id="7" name="6 Rectángulo"/>
          <p:cNvSpPr/>
          <p:nvPr/>
        </p:nvSpPr>
        <p:spPr>
          <a:xfrm>
            <a:off x="3131840" y="457386"/>
            <a:ext cx="5606396" cy="78695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PE" sz="2800" b="1" dirty="0">
                <a:solidFill>
                  <a:schemeClr val="tx1"/>
                </a:solidFill>
              </a:rPr>
              <a:t>UNIVERSIDAD ANDINA DEL CUSCO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460" y="246497"/>
            <a:ext cx="2757003" cy="9978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724784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4 Marcador de contenido"/>
          <p:cNvSpPr>
            <a:spLocks noGrp="1"/>
          </p:cNvSpPr>
          <p:nvPr>
            <p:ph idx="1"/>
          </p:nvPr>
        </p:nvSpPr>
        <p:spPr>
          <a:xfrm>
            <a:off x="467544" y="404664"/>
            <a:ext cx="8229600" cy="612068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PE" sz="1800" b="1" dirty="0"/>
              <a:t>BIBLIOGRAFIA RECOMENDADA</a:t>
            </a:r>
            <a:r>
              <a:rPr lang="es-PE" sz="1800" dirty="0"/>
              <a:t>: </a:t>
            </a:r>
          </a:p>
          <a:p>
            <a:r>
              <a:rPr lang="es-ES" sz="1500" dirty="0"/>
              <a:t>Armas, A., &amp; Castillo, P. (2019). </a:t>
            </a:r>
            <a:r>
              <a:rPr lang="es-ES" sz="1500" i="1" dirty="0"/>
              <a:t>El BCRP: 100 años de historia y política monetaria.</a:t>
            </a:r>
            <a:r>
              <a:rPr lang="es-ES" sz="1500" dirty="0"/>
              <a:t> BCRP. </a:t>
            </a:r>
            <a:endParaRPr lang="es-PE" sz="1500" dirty="0"/>
          </a:p>
          <a:p>
            <a:r>
              <a:rPr lang="es-ES" sz="1500" dirty="0"/>
              <a:t>BCRP (2023). </a:t>
            </a:r>
            <a:r>
              <a:rPr lang="es-ES" sz="1500" i="1" dirty="0"/>
              <a:t>Monedas Digitales de Banco Central (CBDC): Una evaluación para el Perú.</a:t>
            </a:r>
            <a:r>
              <a:rPr lang="es-ES" sz="1500" dirty="0"/>
              <a:t> Documento de Trabajo. </a:t>
            </a:r>
            <a:endParaRPr lang="es-PE" sz="1500" dirty="0"/>
          </a:p>
          <a:p>
            <a:r>
              <a:rPr lang="es-ES" sz="1500" dirty="0"/>
              <a:t>Fernández-Baca, J. (2008). Teoría y política monetaria. Universidad del Pacífico.</a:t>
            </a:r>
            <a:endParaRPr lang="es-PE" sz="1500" dirty="0"/>
          </a:p>
          <a:p>
            <a:r>
              <a:rPr lang="es-ES" sz="1500" dirty="0" err="1"/>
              <a:t>Mishkin</a:t>
            </a:r>
            <a:r>
              <a:rPr lang="es-ES" sz="1500" dirty="0"/>
              <a:t>, F. S. (s.f.). Moneda, banca y mercados financieros (8.ª ed.). [Editorial no especificada].</a:t>
            </a:r>
            <a:endParaRPr lang="es-PE" sz="1500" dirty="0"/>
          </a:p>
          <a:p>
            <a:pPr marL="0" indent="0">
              <a:buNone/>
            </a:pPr>
            <a:r>
              <a:rPr lang="es-PE" sz="1800" b="1" dirty="0"/>
              <a:t>CALIFICACION:</a:t>
            </a:r>
          </a:p>
          <a:p>
            <a:pPr marL="0" indent="0">
              <a:buNone/>
            </a:pPr>
            <a:r>
              <a:rPr lang="es-PE" sz="1800" dirty="0"/>
              <a:t>	</a:t>
            </a:r>
          </a:p>
          <a:p>
            <a:pPr marL="0" indent="0">
              <a:buNone/>
            </a:pPr>
            <a:endParaRPr lang="es-PE" sz="1800" b="1" dirty="0"/>
          </a:p>
          <a:p>
            <a:pPr marL="0" indent="0">
              <a:buNone/>
            </a:pPr>
            <a:endParaRPr lang="es-PE" sz="1800" b="1" dirty="0"/>
          </a:p>
          <a:p>
            <a:pPr marL="0" indent="0">
              <a:buNone/>
            </a:pPr>
            <a:endParaRPr lang="es-PE" sz="1800" b="1" dirty="0"/>
          </a:p>
          <a:p>
            <a:pPr marL="0" indent="0">
              <a:buNone/>
            </a:pPr>
            <a:endParaRPr lang="es-PE" sz="1800" b="1" dirty="0"/>
          </a:p>
          <a:p>
            <a:pPr marL="0" indent="0">
              <a:buNone/>
            </a:pPr>
            <a:endParaRPr lang="es-PE" sz="1600" b="1" dirty="0"/>
          </a:p>
          <a:p>
            <a:pPr marL="0" indent="0">
              <a:buNone/>
            </a:pPr>
            <a:endParaRPr lang="es-PE" sz="1600" b="1" dirty="0"/>
          </a:p>
          <a:p>
            <a:pPr marL="0" indent="0">
              <a:buNone/>
            </a:pPr>
            <a:endParaRPr lang="es-PE" sz="1600" b="1" dirty="0"/>
          </a:p>
          <a:p>
            <a:pPr marL="0" indent="0">
              <a:buNone/>
            </a:pPr>
            <a:endParaRPr lang="es-PE" sz="1600" b="1" dirty="0"/>
          </a:p>
          <a:p>
            <a:pPr marL="0" indent="0">
              <a:buNone/>
            </a:pPr>
            <a:r>
              <a:rPr lang="es-PE" sz="1600" b="1" dirty="0"/>
              <a:t>SE CONTROLARA ASISTENCIA HASTA 10 MIN DESPUES DEL INICIO DE SESION DE CLASE</a:t>
            </a:r>
            <a:r>
              <a:rPr lang="es-PE" sz="1600" dirty="0"/>
              <a:t>.</a:t>
            </a:r>
          </a:p>
          <a:p>
            <a:pPr marL="0" indent="0" algn="just">
              <a:buNone/>
            </a:pPr>
            <a:r>
              <a:rPr lang="es-PE" sz="1600" b="1" dirty="0"/>
              <a:t>NO SE PERMITIRA EL INGRESO DESPUES DE 10 MIN. SI INSISTE SE DESCONTARA PUNTAJE.</a:t>
            </a:r>
          </a:p>
          <a:p>
            <a:pPr marL="0" indent="0" algn="just">
              <a:buNone/>
            </a:pPr>
            <a:r>
              <a:rPr lang="es-PE" sz="1600" b="1" dirty="0"/>
              <a:t>LECTURAS DADAS FINALIZADA LA SESION.</a:t>
            </a:r>
          </a:p>
          <a:p>
            <a:pPr marL="0" indent="0" algn="just">
              <a:buNone/>
            </a:pPr>
            <a:r>
              <a:rPr lang="es-PE" sz="1600" b="1" dirty="0"/>
              <a:t>SE RECOMIENDA ASISTIR A CLASE CON LECTURAS DESARROLLADAS, SE PREGUNTARA AL AZAR SOBRE EL CONTENIDO. TODO BAJO CALIFICACION.</a:t>
            </a:r>
          </a:p>
          <a:p>
            <a:pPr marL="0" indent="0" algn="just">
              <a:buNone/>
            </a:pPr>
            <a:endParaRPr lang="es-PE" sz="1800" b="1" dirty="0"/>
          </a:p>
          <a:p>
            <a:pPr marL="0" indent="0" algn="just">
              <a:buNone/>
            </a:pPr>
            <a:endParaRPr lang="es-PE" sz="1800" b="1" dirty="0"/>
          </a:p>
          <a:p>
            <a:pPr marL="0" indent="0">
              <a:buNone/>
            </a:pPr>
            <a:endParaRPr lang="es-PE" sz="1800" dirty="0"/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34729E13-B502-EDF4-E3EF-CC6E0BBC2C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296980"/>
              </p:ext>
            </p:extLst>
          </p:nvPr>
        </p:nvGraphicFramePr>
        <p:xfrm>
          <a:off x="1259632" y="2378019"/>
          <a:ext cx="5760640" cy="217397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09381">
                  <a:extLst>
                    <a:ext uri="{9D8B030D-6E8A-4147-A177-3AD203B41FA5}">
                      <a16:colId xmlns:a16="http://schemas.microsoft.com/office/drawing/2014/main" val="1571701216"/>
                    </a:ext>
                  </a:extLst>
                </a:gridCol>
                <a:gridCol w="1130684">
                  <a:extLst>
                    <a:ext uri="{9D8B030D-6E8A-4147-A177-3AD203B41FA5}">
                      <a16:colId xmlns:a16="http://schemas.microsoft.com/office/drawing/2014/main" val="948004568"/>
                    </a:ext>
                  </a:extLst>
                </a:gridCol>
                <a:gridCol w="964981">
                  <a:extLst>
                    <a:ext uri="{9D8B030D-6E8A-4147-A177-3AD203B41FA5}">
                      <a16:colId xmlns:a16="http://schemas.microsoft.com/office/drawing/2014/main" val="3781084157"/>
                    </a:ext>
                  </a:extLst>
                </a:gridCol>
                <a:gridCol w="555594">
                  <a:extLst>
                    <a:ext uri="{9D8B030D-6E8A-4147-A177-3AD203B41FA5}">
                      <a16:colId xmlns:a16="http://schemas.microsoft.com/office/drawing/2014/main" val="3137954756"/>
                    </a:ext>
                  </a:extLst>
                </a:gridCol>
              </a:tblGrid>
              <a:tr h="2696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800" dirty="0">
                          <a:effectLst/>
                        </a:rPr>
                        <a:t>RESULTADOS DE APRENDIZAJE</a:t>
                      </a:r>
                      <a:endParaRPr lang="es-PE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800">
                          <a:effectLst/>
                        </a:rPr>
                        <a:t>ACTIVIDADES A EVALUAR</a:t>
                      </a:r>
                      <a:endParaRPr lang="es-P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800">
                          <a:effectLst/>
                        </a:rPr>
                        <a:t>INSTRUMENTO DE EVALUACIÓN</a:t>
                      </a:r>
                      <a:endParaRPr lang="es-P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800">
                          <a:effectLst/>
                        </a:rPr>
                        <a:t>PESO</a:t>
                      </a:r>
                      <a:endParaRPr lang="es-P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930113086"/>
                  </a:ext>
                </a:extLst>
              </a:tr>
              <a:tr h="151672">
                <a:tc gridSpan="4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900">
                          <a:effectLst/>
                        </a:rPr>
                        <a:t>PRIMERA UNIDAD</a:t>
                      </a:r>
                      <a:endParaRPr lang="es-P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5361802"/>
                  </a:ext>
                </a:extLst>
              </a:tr>
              <a:tr h="2696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800">
                          <a:effectLst/>
                        </a:rPr>
                        <a:t>1.1.1. Comprende las bases teóricas de la teoría monetaria y bancaria dentro de la ciencia económica en la realidad</a:t>
                      </a:r>
                      <a:endParaRPr lang="es-P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900">
                          <a:effectLst/>
                        </a:rPr>
                        <a:t>Participación activa</a:t>
                      </a:r>
                      <a:endParaRPr lang="es-P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900">
                          <a:effectLst/>
                        </a:rPr>
                        <a:t>Lista de cotejo</a:t>
                      </a:r>
                      <a:endParaRPr lang="es-P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</a:rPr>
                        <a:t>15%</a:t>
                      </a:r>
                      <a:endParaRPr lang="es-P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580131884"/>
                  </a:ext>
                </a:extLst>
              </a:tr>
              <a:tr h="303345">
                <a:tc rowSpan="2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800" dirty="0">
                          <a:effectLst/>
                        </a:rPr>
                        <a:t>1.1.2. Comprende la importancia de la aplicación de mecanismos de política monetaria y cambiaria en una economía</a:t>
                      </a:r>
                      <a:endParaRPr lang="es-PE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900">
                          <a:effectLst/>
                        </a:rPr>
                        <a:t>Evaluación</a:t>
                      </a:r>
                      <a:endParaRPr lang="es-P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900">
                          <a:effectLst/>
                        </a:rPr>
                        <a:t>Evaluación Escrita</a:t>
                      </a:r>
                      <a:endParaRPr lang="es-P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</a:rPr>
                        <a:t>15%</a:t>
                      </a:r>
                      <a:endParaRPr lang="es-P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825323497"/>
                  </a:ext>
                </a:extLst>
              </a:tr>
              <a:tr h="151672">
                <a:tc v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900">
                          <a:effectLst/>
                        </a:rPr>
                        <a:t>Tarea Individual</a:t>
                      </a:r>
                      <a:endParaRPr lang="es-P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900">
                          <a:effectLst/>
                        </a:rPr>
                        <a:t>Rubrica </a:t>
                      </a:r>
                      <a:endParaRPr lang="es-P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</a:rPr>
                        <a:t>15%</a:t>
                      </a:r>
                      <a:endParaRPr lang="es-P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945294343"/>
                  </a:ext>
                </a:extLst>
              </a:tr>
              <a:tr h="2696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800">
                          <a:effectLst/>
                        </a:rPr>
                        <a:t>1.1.3. Interpreta la utilización de mecanismos de política monetaria, cambiaria y regulación del sistema financiero</a:t>
                      </a:r>
                      <a:endParaRPr lang="es-P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900">
                          <a:effectLst/>
                        </a:rPr>
                        <a:t>Tarea Grupal</a:t>
                      </a:r>
                      <a:endParaRPr lang="es-P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900">
                          <a:effectLst/>
                        </a:rPr>
                        <a:t>Rubrica</a:t>
                      </a:r>
                      <a:endParaRPr lang="es-P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</a:rPr>
                        <a:t>10%</a:t>
                      </a:r>
                      <a:endParaRPr lang="es-P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613866441"/>
                  </a:ext>
                </a:extLst>
              </a:tr>
              <a:tr h="151672">
                <a:tc rowSpan="3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800">
                          <a:effectLst/>
                        </a:rPr>
                        <a:t>1.1.4. Analiza la importancia de la teoría monetaria, bancaria y cambiaria en la estabilización económica.</a:t>
                      </a:r>
                      <a:endParaRPr lang="es-P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900">
                          <a:effectLst/>
                        </a:rPr>
                        <a:t>Informe Escrito</a:t>
                      </a:r>
                      <a:endParaRPr lang="es-P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900">
                          <a:effectLst/>
                        </a:rPr>
                        <a:t>Rubrica</a:t>
                      </a:r>
                      <a:endParaRPr lang="es-P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</a:rPr>
                        <a:t>20%</a:t>
                      </a:r>
                      <a:endParaRPr lang="es-P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630551047"/>
                  </a:ext>
                </a:extLst>
              </a:tr>
              <a:tr h="151672">
                <a:tc v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900">
                          <a:effectLst/>
                        </a:rPr>
                        <a:t>Exposición</a:t>
                      </a:r>
                      <a:endParaRPr lang="es-P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900">
                          <a:effectLst/>
                        </a:rPr>
                        <a:t>Rubrica</a:t>
                      </a:r>
                      <a:endParaRPr lang="es-P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</a:rPr>
                        <a:t>15%</a:t>
                      </a:r>
                      <a:endParaRPr lang="es-P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643379527"/>
                  </a:ext>
                </a:extLst>
              </a:tr>
              <a:tr h="303345">
                <a:tc v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900">
                          <a:effectLst/>
                        </a:rPr>
                        <a:t>Reporte de actividades</a:t>
                      </a:r>
                      <a:endParaRPr lang="es-P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900">
                          <a:effectLst/>
                        </a:rPr>
                        <a:t>Rubrica</a:t>
                      </a:r>
                      <a:endParaRPr lang="es-P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</a:rPr>
                        <a:t>10%</a:t>
                      </a:r>
                      <a:endParaRPr lang="es-P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133158083"/>
                  </a:ext>
                </a:extLst>
              </a:tr>
              <a:tr h="151672">
                <a:tc gridSpan="3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</a:rPr>
                        <a:t>TOTAL</a:t>
                      </a:r>
                      <a:endParaRPr lang="es-P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 dirty="0">
                          <a:effectLst/>
                        </a:rPr>
                        <a:t>100%</a:t>
                      </a:r>
                      <a:endParaRPr lang="es-PE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4710456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581700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87489" y="1252115"/>
            <a:ext cx="8229600" cy="7780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2000" dirty="0"/>
              <a:t>1.1.1. El Dinero: Evolución, funciones y formas modernas (dinero electrónico y </a:t>
            </a:r>
            <a:r>
              <a:rPr lang="es-ES" sz="2000" dirty="0" err="1"/>
              <a:t>CBDCs</a:t>
            </a:r>
            <a:r>
              <a:rPr lang="es-ES" sz="2000" dirty="0"/>
              <a:t>).</a:t>
            </a:r>
            <a:endParaRPr lang="es-PE" sz="2000" dirty="0"/>
          </a:p>
        </p:txBody>
      </p:sp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txBody>
          <a:bodyPr>
            <a:noAutofit/>
          </a:bodyPr>
          <a:lstStyle/>
          <a:p>
            <a:r>
              <a:rPr lang="es-PE" sz="3200" dirty="0"/>
              <a:t>DINERO, SISTEMA FINANCIERO Y BANCO CENTRAL</a:t>
            </a:r>
          </a:p>
        </p:txBody>
      </p:sp>
      <p:sp>
        <p:nvSpPr>
          <p:cNvPr id="5" name="2 Marcador de contenido"/>
          <p:cNvSpPr txBox="1">
            <a:spLocks/>
          </p:cNvSpPr>
          <p:nvPr/>
        </p:nvSpPr>
        <p:spPr>
          <a:xfrm>
            <a:off x="457200" y="2215750"/>
            <a:ext cx="7920880" cy="1357265"/>
          </a:xfrm>
          <a:prstGeom prst="rect">
            <a:avLst/>
          </a:prstGeom>
        </p:spPr>
        <p:txBody>
          <a:bodyPr vert="horz" lIns="91440" tIns="45720" rIns="91440" bIns="45720" rtlCol="0">
            <a:normAutofit fontScale="47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s-ES" dirty="0"/>
              <a:t>El dinero es todo medio de intercambio generalmente aceptado que se utiliza para comprar bienes y servicios, pagar deudas y expresar el valor de las cosas dentro de una economía.</a:t>
            </a:r>
          </a:p>
          <a:p>
            <a:pPr marL="0" indent="0" algn="just">
              <a:buNone/>
            </a:pPr>
            <a:r>
              <a:rPr lang="es-ES" dirty="0"/>
              <a:t>El dinero es cualquier activo o bien ampliamente aceptado como medio de pago para bienes, servicios y deudas, que además sirve como unidad de cuenta y depósito de valor. </a:t>
            </a:r>
          </a:p>
          <a:p>
            <a:pPr marL="0" indent="0" algn="just">
              <a:buNone/>
            </a:pPr>
            <a:r>
              <a:rPr lang="es-ES" dirty="0"/>
              <a:t>Representa un pacto social colectivo sobre lo que consideramos valioso para facilitar el intercambio.</a:t>
            </a:r>
            <a:endParaRPr lang="es-PE" sz="2400" dirty="0"/>
          </a:p>
          <a:p>
            <a:pPr marL="0" indent="0" algn="just">
              <a:buFont typeface="Arial" pitchFamily="34" charset="0"/>
              <a:buNone/>
            </a:pPr>
            <a:endParaRPr lang="es-PE" sz="2400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96A05DE0-2166-911D-115F-AA9B09E03580}"/>
              </a:ext>
            </a:extLst>
          </p:cNvPr>
          <p:cNvSpPr txBox="1"/>
          <p:nvPr/>
        </p:nvSpPr>
        <p:spPr>
          <a:xfrm>
            <a:off x="649861" y="3573015"/>
            <a:ext cx="7704856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s-ES" sz="1600" b="1" dirty="0"/>
              <a:t>Definición económica</a:t>
            </a:r>
          </a:p>
          <a:p>
            <a:pPr algn="just">
              <a:buNone/>
            </a:pPr>
            <a:r>
              <a:rPr lang="es-ES" sz="1600" dirty="0"/>
              <a:t>En economía, el dinero es un instrumento que facilita las transacciones, evita el trueque y permite que la actividad económica funcione de manera ordenada.</a:t>
            </a:r>
          </a:p>
          <a:p>
            <a:pPr algn="just">
              <a:buNone/>
            </a:pPr>
            <a:r>
              <a:rPr lang="es-ES" sz="1600" dirty="0"/>
              <a:t>Para que algo sea considerado dinero debe: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sz="1600" dirty="0"/>
              <a:t>ser aceptado por todos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sz="1600" dirty="0"/>
              <a:t>tener confianza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sz="1600" dirty="0"/>
              <a:t>mantener un valor relativamente estable</a:t>
            </a:r>
          </a:p>
        </p:txBody>
      </p:sp>
    </p:spTree>
    <p:extLst>
      <p:ext uri="{BB962C8B-B14F-4D97-AF65-F5344CB8AC3E}">
        <p14:creationId xmlns:p14="http://schemas.microsoft.com/office/powerpoint/2010/main" val="16128409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8272524-FEAB-E33B-66AF-80FA8569E3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260649"/>
            <a:ext cx="8229600" cy="3816424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s-ES" sz="1600" b="1" dirty="0"/>
              <a:t>Ejemplo práctico</a:t>
            </a:r>
          </a:p>
          <a:p>
            <a:pPr algn="just"/>
            <a:r>
              <a:rPr lang="es-ES" sz="1600" dirty="0"/>
              <a:t>Cuando pagas:</a:t>
            </a:r>
          </a:p>
          <a:p>
            <a:pPr algn="just"/>
            <a:r>
              <a:rPr lang="es-ES" sz="1600" dirty="0"/>
              <a:t>un pasaje</a:t>
            </a:r>
          </a:p>
          <a:p>
            <a:pPr algn="just"/>
            <a:r>
              <a:rPr lang="es-ES" sz="1600" dirty="0"/>
              <a:t>alimentos</a:t>
            </a:r>
          </a:p>
          <a:p>
            <a:pPr algn="just"/>
            <a:r>
              <a:rPr lang="es-ES" sz="1600" dirty="0"/>
              <a:t>servicios</a:t>
            </a:r>
          </a:p>
          <a:p>
            <a:pPr algn="just"/>
            <a:r>
              <a:rPr lang="es-ES" sz="1600" dirty="0"/>
              <a:t>estudios</a:t>
            </a:r>
          </a:p>
          <a:p>
            <a:pPr algn="just"/>
            <a:r>
              <a:rPr lang="es-ES" sz="1600" dirty="0"/>
              <a:t>estás usando dinero para </a:t>
            </a:r>
            <a:r>
              <a:rPr lang="es-ES" sz="1600" b="1" dirty="0"/>
              <a:t>intercambiar valor</a:t>
            </a:r>
            <a:r>
              <a:rPr lang="es-ES" sz="1600" dirty="0"/>
              <a:t> sin necesidad de cambiar un bien por otro.</a:t>
            </a:r>
          </a:p>
          <a:p>
            <a:pPr marL="0" indent="0" algn="just">
              <a:buNone/>
            </a:pPr>
            <a:endParaRPr lang="es-ES" sz="1600" b="1" dirty="0"/>
          </a:p>
          <a:p>
            <a:pPr marL="0" indent="0" algn="just">
              <a:buNone/>
            </a:pPr>
            <a:r>
              <a:rPr lang="es-ES" sz="1600" b="1" dirty="0"/>
              <a:t>¿Qué cosas pueden ser dinero?</a:t>
            </a:r>
          </a:p>
          <a:p>
            <a:pPr algn="just"/>
            <a:r>
              <a:rPr lang="es-ES" sz="1600" dirty="0"/>
              <a:t>A lo largo del tiempo han sido dinero:</a:t>
            </a:r>
          </a:p>
          <a:p>
            <a:pPr algn="just"/>
            <a:r>
              <a:rPr lang="es-ES" sz="1600" dirty="0"/>
              <a:t>metales (oro, plata)</a:t>
            </a:r>
          </a:p>
          <a:p>
            <a:pPr algn="just"/>
            <a:r>
              <a:rPr lang="es-ES" sz="1600" dirty="0"/>
              <a:t>billetes y monedas</a:t>
            </a:r>
          </a:p>
          <a:p>
            <a:pPr algn="just"/>
            <a:r>
              <a:rPr lang="es-ES" sz="1600" dirty="0"/>
              <a:t>depósitos bancarios</a:t>
            </a:r>
          </a:p>
          <a:p>
            <a:pPr algn="just"/>
            <a:r>
              <a:rPr lang="es-ES" sz="1600" dirty="0"/>
              <a:t>dinero electrónico (tarjetas, billeteras digitales como Yape o Plin)</a:t>
            </a:r>
          </a:p>
          <a:p>
            <a:pPr marL="0" indent="0" algn="just">
              <a:buNone/>
            </a:pPr>
            <a:endParaRPr lang="es-ES" sz="1600" dirty="0"/>
          </a:p>
          <a:p>
            <a:pPr marL="0" indent="0" algn="just">
              <a:buNone/>
            </a:pPr>
            <a:endParaRPr lang="es-PE" sz="1600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4D3C16C-45B2-506B-6FBB-A2B94FD77A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4293096"/>
            <a:ext cx="2664296" cy="1332148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0144180B-C3D5-AB19-A978-72200AB7ED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8144" y="4230089"/>
            <a:ext cx="2379106" cy="1458162"/>
          </a:xfrm>
          <a:prstGeom prst="rect">
            <a:avLst/>
          </a:prstGeom>
        </p:spPr>
      </p:pic>
      <p:sp>
        <p:nvSpPr>
          <p:cNvPr id="6" name="Flecha: a la derecha 5">
            <a:extLst>
              <a:ext uri="{FF2B5EF4-FFF2-40B4-BE49-F238E27FC236}">
                <a16:creationId xmlns:a16="http://schemas.microsoft.com/office/drawing/2014/main" id="{F1303096-A35D-8FAD-7F4F-1B47156F43E1}"/>
              </a:ext>
            </a:extLst>
          </p:cNvPr>
          <p:cNvSpPr/>
          <p:nvPr/>
        </p:nvSpPr>
        <p:spPr>
          <a:xfrm>
            <a:off x="2699792" y="5877272"/>
            <a:ext cx="3960440" cy="57606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CONFIANZA</a:t>
            </a:r>
          </a:p>
        </p:txBody>
      </p:sp>
    </p:spTree>
    <p:extLst>
      <p:ext uri="{BB962C8B-B14F-4D97-AF65-F5344CB8AC3E}">
        <p14:creationId xmlns:p14="http://schemas.microsoft.com/office/powerpoint/2010/main" val="33615615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690C6B-A072-A2EE-717F-13FBED59E1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03237"/>
            <a:ext cx="8229600" cy="457199"/>
          </a:xfrm>
        </p:spPr>
        <p:txBody>
          <a:bodyPr>
            <a:noAutofit/>
          </a:bodyPr>
          <a:lstStyle/>
          <a:p>
            <a:r>
              <a:rPr lang="es-PE" sz="3600" b="1" dirty="0"/>
              <a:t>Evolución Histórica del Dinero</a:t>
            </a:r>
            <a:br>
              <a:rPr lang="es-PE" sz="3600" b="1" dirty="0"/>
            </a:br>
            <a:endParaRPr lang="es-PE" sz="36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360C2C0-B7F0-37B3-F796-5B0E926707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60436"/>
            <a:ext cx="8229600" cy="5165727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s-ES" b="1" dirty="0"/>
              <a:t>1. Trueque (Sistema de intercambio directo)</a:t>
            </a:r>
          </a:p>
          <a:p>
            <a:pPr marL="0" indent="0" algn="just">
              <a:buNone/>
            </a:pPr>
            <a:r>
              <a:rPr lang="es-ES" dirty="0"/>
              <a:t>Intercambio de bienes y servicios sin medio de pago intermedio</a:t>
            </a:r>
          </a:p>
          <a:p>
            <a:pPr algn="just"/>
            <a:r>
              <a:rPr lang="es-ES" dirty="0"/>
              <a:t>Problemas: requiere "doble coincidencia de necesidades", difícil divisibilidad, ausencia de medida de valor común</a:t>
            </a:r>
          </a:p>
          <a:p>
            <a:pPr marL="0" indent="0" algn="just">
              <a:buNone/>
            </a:pPr>
            <a:r>
              <a:rPr lang="es-ES" b="1" dirty="0"/>
              <a:t>2. Dinero Mercancía</a:t>
            </a:r>
          </a:p>
          <a:p>
            <a:pPr marL="0" indent="0" algn="just">
              <a:buNone/>
            </a:pPr>
            <a:r>
              <a:rPr lang="es-ES" dirty="0"/>
              <a:t>Se empezaron a usar </a:t>
            </a:r>
            <a:r>
              <a:rPr lang="es-ES" b="1" dirty="0"/>
              <a:t>bienes aceptados por todos</a:t>
            </a:r>
            <a:r>
              <a:rPr lang="es-ES" dirty="0"/>
              <a:t> como medio de intercambio.</a:t>
            </a:r>
            <a:endParaRPr lang="es-ES" b="1" dirty="0"/>
          </a:p>
          <a:p>
            <a:pPr marL="0" indent="0" algn="just">
              <a:buNone/>
            </a:pPr>
            <a:r>
              <a:rPr lang="es-ES" b="1" dirty="0"/>
              <a:t>Primeras formas</a:t>
            </a:r>
            <a:r>
              <a:rPr lang="es-ES" dirty="0"/>
              <a:t>: Granos, ganado, conchas (cauri), sal ("salario")</a:t>
            </a:r>
          </a:p>
          <a:p>
            <a:pPr marL="0" indent="0" algn="just">
              <a:buNone/>
            </a:pP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42563123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7981086-9230-8EE1-F99C-5A0AC6D8A5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04664"/>
            <a:ext cx="8229600" cy="452596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s-ES" sz="2400" b="1" dirty="0"/>
              <a:t>Algunos ejemplos históricos:</a:t>
            </a:r>
            <a:endParaRPr lang="es-ES" sz="2400" dirty="0"/>
          </a:p>
          <a:p>
            <a:r>
              <a:rPr lang="es-ES" sz="2400" dirty="0"/>
              <a:t>Sal</a:t>
            </a:r>
          </a:p>
          <a:p>
            <a:r>
              <a:rPr lang="es-ES" sz="2400" dirty="0"/>
              <a:t>Ganado</a:t>
            </a:r>
          </a:p>
          <a:p>
            <a:r>
              <a:rPr lang="es-ES" sz="2400" dirty="0"/>
              <a:t>Cacao</a:t>
            </a:r>
          </a:p>
          <a:p>
            <a:r>
              <a:rPr lang="es-ES" sz="2400" dirty="0"/>
              <a:t>Conchas marinas</a:t>
            </a:r>
          </a:p>
          <a:p>
            <a:r>
              <a:rPr lang="es-ES" sz="2400" dirty="0"/>
              <a:t>Metales preciosos (oro y plata)</a:t>
            </a:r>
          </a:p>
          <a:p>
            <a:pPr marL="0" indent="0">
              <a:buNone/>
            </a:pPr>
            <a:r>
              <a:rPr lang="es-ES" sz="2400" b="1" dirty="0"/>
              <a:t>Ventajas:</a:t>
            </a:r>
            <a:endParaRPr lang="es-ES" sz="2400" dirty="0"/>
          </a:p>
          <a:p>
            <a:r>
              <a:rPr lang="es-ES" sz="2400" dirty="0"/>
              <a:t>Mayor aceptación</a:t>
            </a:r>
          </a:p>
          <a:p>
            <a:r>
              <a:rPr lang="es-ES" sz="2400" dirty="0"/>
              <a:t>Permitía acumular riqueza</a:t>
            </a:r>
          </a:p>
          <a:p>
            <a:pPr marL="0" indent="0">
              <a:buNone/>
            </a:pPr>
            <a:r>
              <a:rPr lang="es-ES" sz="2400" b="1" dirty="0"/>
              <a:t>Desventajas:</a:t>
            </a:r>
            <a:endParaRPr lang="es-ES" sz="2400" dirty="0"/>
          </a:p>
          <a:p>
            <a:r>
              <a:rPr lang="es-ES" sz="2400" dirty="0"/>
              <a:t>Difícil transporte</a:t>
            </a:r>
          </a:p>
          <a:p>
            <a:r>
              <a:rPr lang="es-ES" sz="2400" dirty="0"/>
              <a:t>Algunos bienes se deterioraban</a:t>
            </a:r>
          </a:p>
          <a:p>
            <a:pPr marL="0" indent="0">
              <a:buNone/>
            </a:pPr>
            <a:endParaRPr lang="es-ES" sz="2400" dirty="0"/>
          </a:p>
          <a:p>
            <a:pPr marL="0" indent="0">
              <a:buNone/>
            </a:pPr>
            <a:endParaRPr lang="es-PE" sz="2400" dirty="0"/>
          </a:p>
        </p:txBody>
      </p:sp>
    </p:spTree>
    <p:extLst>
      <p:ext uri="{BB962C8B-B14F-4D97-AF65-F5344CB8AC3E}">
        <p14:creationId xmlns:p14="http://schemas.microsoft.com/office/powerpoint/2010/main" val="1662292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814C75A-562E-E36C-E6B5-C3B9E1E113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332656"/>
            <a:ext cx="8229600" cy="6264696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ES" sz="2000" b="1" dirty="0"/>
              <a:t>Metales preciosos</a:t>
            </a:r>
            <a:r>
              <a:rPr lang="es-ES" sz="2000" dirty="0"/>
              <a:t>: Oro, plata, cobre - valor intrínseco, durable, divisible</a:t>
            </a:r>
          </a:p>
          <a:p>
            <a:pPr marL="0" indent="0" algn="just">
              <a:buNone/>
            </a:pPr>
            <a:endParaRPr lang="es-ES" sz="2000" dirty="0"/>
          </a:p>
          <a:p>
            <a:pPr marL="0" indent="0" algn="just">
              <a:buNone/>
            </a:pPr>
            <a:r>
              <a:rPr lang="es-ES" sz="2000" b="1" dirty="0"/>
              <a:t>Monedas acuñadas</a:t>
            </a:r>
            <a:r>
              <a:rPr lang="es-ES" sz="2000" dirty="0"/>
              <a:t> (siglo VII a.C., Lidia): Establecimiento de peso y pureza garantizados</a:t>
            </a:r>
          </a:p>
          <a:p>
            <a:r>
              <a:rPr lang="es-ES" sz="2000" b="1" dirty="0"/>
              <a:t>Monedas metálicas</a:t>
            </a:r>
          </a:p>
          <a:p>
            <a:pPr marL="0" indent="0">
              <a:buNone/>
            </a:pPr>
            <a:r>
              <a:rPr lang="es-ES" sz="2000" dirty="0"/>
              <a:t>Surgen cuando se acuñan metales con un </a:t>
            </a:r>
            <a:r>
              <a:rPr lang="es-ES" sz="2000" b="1" dirty="0"/>
              <a:t>valor y peso garantizado por una autoridad</a:t>
            </a:r>
            <a:r>
              <a:rPr lang="es-ES" sz="2000" dirty="0"/>
              <a:t>.</a:t>
            </a:r>
          </a:p>
          <a:p>
            <a:r>
              <a:rPr lang="es-ES" sz="2000" b="1" dirty="0"/>
              <a:t>Características:</a:t>
            </a:r>
            <a:endParaRPr lang="es-ES" sz="2000" dirty="0"/>
          </a:p>
          <a:p>
            <a:pPr marL="0" indent="0">
              <a:buNone/>
            </a:pPr>
            <a:r>
              <a:rPr lang="es-ES" sz="2000" dirty="0"/>
              <a:t>Hechas de oro, plata o cobre</a:t>
            </a:r>
          </a:p>
          <a:p>
            <a:pPr marL="0" indent="0">
              <a:buNone/>
            </a:pPr>
            <a:r>
              <a:rPr lang="es-ES" sz="2000" dirty="0"/>
              <a:t>Valor intrínseco (valían por el metal que contenían)</a:t>
            </a:r>
          </a:p>
          <a:p>
            <a:r>
              <a:rPr lang="es-ES" sz="2000" b="1" dirty="0"/>
              <a:t>Ventajas:</a:t>
            </a:r>
            <a:endParaRPr lang="es-ES" sz="2000" dirty="0"/>
          </a:p>
          <a:p>
            <a:r>
              <a:rPr lang="es-ES" sz="2000" dirty="0"/>
              <a:t>Duraderas</a:t>
            </a:r>
          </a:p>
          <a:p>
            <a:r>
              <a:rPr lang="es-ES" sz="2000" dirty="0"/>
              <a:t>Fáciles de transportar</a:t>
            </a:r>
          </a:p>
          <a:p>
            <a:r>
              <a:rPr lang="es-ES" sz="2000" dirty="0"/>
              <a:t>Aceptadas ampliamente</a:t>
            </a:r>
          </a:p>
          <a:p>
            <a:pPr marL="0" indent="0">
              <a:buNone/>
            </a:pPr>
            <a:endParaRPr lang="es-ES" sz="2000" dirty="0"/>
          </a:p>
          <a:p>
            <a:pPr marL="0" indent="0">
              <a:buNone/>
            </a:pPr>
            <a:r>
              <a:rPr lang="es-ES" sz="2000" dirty="0"/>
              <a:t>Este sistema fue clave en imperios como el romano.</a:t>
            </a:r>
          </a:p>
          <a:p>
            <a:pPr marL="0" indent="0" algn="just">
              <a:buNone/>
            </a:pPr>
            <a:endParaRPr lang="es-ES" sz="2000" dirty="0"/>
          </a:p>
          <a:p>
            <a:pPr marL="0" indent="0">
              <a:buNone/>
            </a:pPr>
            <a:endParaRPr lang="es-PE" sz="2000" dirty="0"/>
          </a:p>
        </p:txBody>
      </p:sp>
    </p:spTree>
    <p:extLst>
      <p:ext uri="{BB962C8B-B14F-4D97-AF65-F5344CB8AC3E}">
        <p14:creationId xmlns:p14="http://schemas.microsoft.com/office/powerpoint/2010/main" val="35103353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B3B2E1D-2602-0344-893C-31FAEB1D23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332656"/>
            <a:ext cx="8229600" cy="619268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ES" sz="1800" b="1" dirty="0"/>
              <a:t>3. Dinero Representativo</a:t>
            </a:r>
          </a:p>
          <a:p>
            <a:pPr marL="0" indent="0" algn="just">
              <a:buNone/>
            </a:pPr>
            <a:r>
              <a:rPr lang="es-ES" sz="1800" dirty="0"/>
              <a:t>Certificados respaldados por metales preciosos (patrón oro)</a:t>
            </a:r>
          </a:p>
          <a:p>
            <a:pPr marL="0" indent="0" algn="just">
              <a:buNone/>
            </a:pPr>
            <a:r>
              <a:rPr lang="es-ES" sz="1800" b="1" dirty="0"/>
              <a:t>Billetes bancarios</a:t>
            </a:r>
            <a:r>
              <a:rPr lang="es-ES" sz="1800" dirty="0"/>
              <a:t>: Emitidos por bancos privados, canjeables por oro/plata</a:t>
            </a:r>
          </a:p>
          <a:p>
            <a:pPr algn="just"/>
            <a:r>
              <a:rPr lang="es-ES" sz="1800" b="1" dirty="0"/>
              <a:t>Papel moneda</a:t>
            </a:r>
          </a:p>
          <a:p>
            <a:pPr marL="0" indent="0" algn="just">
              <a:buNone/>
            </a:pPr>
            <a:r>
              <a:rPr lang="es-ES" sz="1800" dirty="0"/>
              <a:t>Aparece cuando las personas comienzan a </a:t>
            </a:r>
            <a:r>
              <a:rPr lang="es-ES" sz="1800" b="1" dirty="0"/>
              <a:t>depositar oro en bancos</a:t>
            </a:r>
            <a:r>
              <a:rPr lang="es-ES" sz="1800" dirty="0"/>
              <a:t> y reciben certificados.</a:t>
            </a:r>
          </a:p>
          <a:p>
            <a:pPr algn="just"/>
            <a:r>
              <a:rPr lang="es-ES" sz="1800" b="1" dirty="0"/>
              <a:t>Evolución:</a:t>
            </a:r>
            <a:endParaRPr lang="es-ES" sz="1800" dirty="0"/>
          </a:p>
          <a:p>
            <a:pPr marL="0" indent="0" algn="just">
              <a:buNone/>
            </a:pPr>
            <a:r>
              <a:rPr lang="es-ES" sz="1800" dirty="0"/>
              <a:t>El papel representaba oro</a:t>
            </a:r>
          </a:p>
          <a:p>
            <a:pPr marL="0" indent="0" algn="just">
              <a:buNone/>
            </a:pPr>
            <a:r>
              <a:rPr lang="es-ES" sz="1800" dirty="0"/>
              <a:t>Con el tiempo dejó de estar respaldado por metales</a:t>
            </a:r>
          </a:p>
          <a:p>
            <a:pPr marL="0" indent="0" algn="just">
              <a:buNone/>
            </a:pPr>
            <a:endParaRPr lang="es-ES" sz="1800" dirty="0"/>
          </a:p>
          <a:p>
            <a:pPr marL="0" indent="0" algn="just">
              <a:buNone/>
            </a:pPr>
            <a:r>
              <a:rPr lang="es-ES" sz="1800" b="1" dirty="0"/>
              <a:t>4. Dinero Fiduciario (Fiat)</a:t>
            </a:r>
          </a:p>
          <a:p>
            <a:pPr marL="0" indent="0" algn="just">
              <a:buNone/>
            </a:pPr>
            <a:r>
              <a:rPr lang="es-ES" sz="1800" dirty="0"/>
              <a:t>Valor basado en decreto gubernamental y confianza colectiva</a:t>
            </a:r>
          </a:p>
          <a:p>
            <a:pPr marL="0" indent="0" algn="just">
              <a:buNone/>
            </a:pPr>
            <a:r>
              <a:rPr lang="es-ES" sz="1800" dirty="0"/>
              <a:t>No respaldado por reservas físicas</a:t>
            </a:r>
          </a:p>
          <a:p>
            <a:pPr marL="0" indent="0" algn="just">
              <a:buNone/>
            </a:pPr>
            <a:r>
              <a:rPr lang="es-ES" sz="1800" dirty="0"/>
              <a:t>Predominante desde 1971 (fin del patrón oro internacional)</a:t>
            </a:r>
          </a:p>
          <a:p>
            <a:pPr algn="just"/>
            <a:r>
              <a:rPr lang="es-ES" sz="1800" dirty="0"/>
              <a:t>Nace el </a:t>
            </a:r>
            <a:r>
              <a:rPr lang="es-ES" sz="1800" b="1" dirty="0"/>
              <a:t>dinero fiduciario</a:t>
            </a:r>
            <a:r>
              <a:rPr lang="es-ES" sz="1800" dirty="0"/>
              <a:t>, cuyo valor se basa en la confianza y en el respaldo del Estado.</a:t>
            </a:r>
          </a:p>
          <a:p>
            <a:pPr marL="0" indent="0" algn="just">
              <a:buNone/>
            </a:pPr>
            <a:r>
              <a:rPr lang="es-ES" sz="1800" b="1" dirty="0"/>
              <a:t>Ventajas:</a:t>
            </a:r>
            <a:endParaRPr lang="es-ES" sz="1800" dirty="0"/>
          </a:p>
          <a:p>
            <a:pPr algn="just"/>
            <a:r>
              <a:rPr lang="es-ES" sz="1800" dirty="0"/>
              <a:t>Ligero y fácil de usar</a:t>
            </a:r>
          </a:p>
          <a:p>
            <a:pPr algn="just"/>
            <a:r>
              <a:rPr lang="es-ES" sz="1800" dirty="0"/>
              <a:t>Facilita grandes transacciones</a:t>
            </a:r>
          </a:p>
          <a:p>
            <a:pPr marL="0" indent="0" algn="just">
              <a:buNone/>
            </a:pPr>
            <a:endParaRPr lang="es-ES" sz="1800" dirty="0"/>
          </a:p>
          <a:p>
            <a:pPr marL="0" indent="0" algn="just">
              <a:buNone/>
            </a:pPr>
            <a:endParaRPr lang="es-PE" sz="1800" dirty="0"/>
          </a:p>
        </p:txBody>
      </p:sp>
    </p:spTree>
    <p:extLst>
      <p:ext uri="{BB962C8B-B14F-4D97-AF65-F5344CB8AC3E}">
        <p14:creationId xmlns:p14="http://schemas.microsoft.com/office/powerpoint/2010/main" val="2314049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45DBABB-2946-0B67-0C22-589350305C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620688"/>
            <a:ext cx="8229600" cy="5472608"/>
          </a:xfrm>
        </p:spPr>
        <p:txBody>
          <a:bodyPr>
            <a:normAutofit fontScale="70000" lnSpcReduction="20000"/>
          </a:bodyPr>
          <a:lstStyle/>
          <a:p>
            <a:pPr marL="0" indent="0" algn="just">
              <a:buNone/>
            </a:pPr>
            <a:r>
              <a:rPr lang="es-ES" sz="2800" b="1" dirty="0"/>
              <a:t>5. Dinero Electrónico y Digital</a:t>
            </a:r>
          </a:p>
          <a:p>
            <a:pPr marL="0" indent="0" algn="just">
              <a:buNone/>
            </a:pPr>
            <a:r>
              <a:rPr lang="es-ES" sz="2800" dirty="0"/>
              <a:t>Es la forma moderna del dinero, se tiene por medio de </a:t>
            </a:r>
            <a:r>
              <a:rPr lang="es-ES" sz="2800" b="1" dirty="0"/>
              <a:t>Tarjetas, transferencias electrónicas</a:t>
            </a:r>
            <a:r>
              <a:rPr lang="es-ES" sz="2800" dirty="0"/>
              <a:t>, </a:t>
            </a:r>
            <a:r>
              <a:rPr lang="es-ES" sz="2800" b="1" dirty="0"/>
              <a:t>Criptomonedas</a:t>
            </a:r>
            <a:r>
              <a:rPr lang="es-ES" sz="2800" dirty="0"/>
              <a:t> (Bitcoin, 2009): Descentralizadas, </a:t>
            </a:r>
            <a:r>
              <a:rPr lang="es-ES" sz="2800" dirty="0" err="1"/>
              <a:t>blockchain</a:t>
            </a:r>
            <a:endParaRPr lang="es-ES" sz="2800" dirty="0"/>
          </a:p>
          <a:p>
            <a:pPr marL="0" indent="0" algn="just">
              <a:buNone/>
            </a:pPr>
            <a:r>
              <a:rPr lang="es-ES" sz="2800" b="1" dirty="0"/>
              <a:t>CBDC</a:t>
            </a:r>
            <a:r>
              <a:rPr lang="es-ES" sz="2800" dirty="0"/>
              <a:t> (Monedas Digitales de Banco Central): Versiones digitales de monedas oficiales</a:t>
            </a:r>
          </a:p>
          <a:p>
            <a:pPr marL="0" indent="0">
              <a:buNone/>
            </a:pPr>
            <a:r>
              <a:rPr lang="es-ES" sz="2800" dirty="0"/>
              <a:t>No existe físicamente, sino en </a:t>
            </a:r>
            <a:r>
              <a:rPr lang="es-ES" sz="2800" b="1" dirty="0"/>
              <a:t>registros contables</a:t>
            </a:r>
            <a:r>
              <a:rPr lang="es-ES" sz="2800" dirty="0"/>
              <a:t>.</a:t>
            </a:r>
          </a:p>
          <a:p>
            <a:pPr marL="0" indent="0">
              <a:buNone/>
            </a:pPr>
            <a:r>
              <a:rPr lang="es-ES" sz="2800" b="1" dirty="0"/>
              <a:t>Ejemplos:</a:t>
            </a:r>
            <a:endParaRPr lang="es-ES" sz="2800" dirty="0"/>
          </a:p>
          <a:p>
            <a:r>
              <a:rPr lang="es-ES" sz="2800" dirty="0"/>
              <a:t>Tarjetas de débito y crédito</a:t>
            </a:r>
          </a:p>
          <a:p>
            <a:r>
              <a:rPr lang="es-ES" sz="2800" dirty="0"/>
              <a:t>Billeteras electrónicas (Yape, Plin)</a:t>
            </a:r>
          </a:p>
          <a:p>
            <a:r>
              <a:rPr lang="es-ES" sz="2800" dirty="0"/>
              <a:t>Transferencias online</a:t>
            </a:r>
          </a:p>
          <a:p>
            <a:r>
              <a:rPr lang="es-ES" sz="2800" dirty="0"/>
              <a:t>Criptomonedas (Bitcoin, Ethereum)</a:t>
            </a:r>
          </a:p>
          <a:p>
            <a:r>
              <a:rPr lang="es-ES" sz="2800" dirty="0"/>
              <a:t>Las criptomonedas son descentralizadas y no dependen de un banco central, a diferencia del dinero tradicional.</a:t>
            </a:r>
          </a:p>
          <a:p>
            <a:r>
              <a:rPr lang="es-ES" sz="2800" dirty="0"/>
              <a:t>Depósitos en cuentas bancarias</a:t>
            </a:r>
          </a:p>
          <a:p>
            <a:r>
              <a:rPr lang="es-ES" sz="2800" dirty="0"/>
              <a:t>Transferencias</a:t>
            </a:r>
          </a:p>
          <a:p>
            <a:r>
              <a:rPr lang="es-ES" sz="2800" dirty="0"/>
              <a:t>Cheques</a:t>
            </a:r>
          </a:p>
          <a:p>
            <a:r>
              <a:rPr lang="es-ES" sz="2800" dirty="0"/>
              <a:t>Hoy es el tipo de dinero más usado.</a:t>
            </a:r>
          </a:p>
          <a:p>
            <a:pPr marL="0" indent="0">
              <a:buNone/>
            </a:pPr>
            <a:endParaRPr lang="es-PE" sz="2800" dirty="0"/>
          </a:p>
        </p:txBody>
      </p:sp>
    </p:spTree>
    <p:extLst>
      <p:ext uri="{BB962C8B-B14F-4D97-AF65-F5344CB8AC3E}">
        <p14:creationId xmlns:p14="http://schemas.microsoft.com/office/powerpoint/2010/main" val="26460057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36A321-00BD-F594-FB88-D38F1520D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>
            <a:normAutofit/>
          </a:bodyPr>
          <a:lstStyle/>
          <a:p>
            <a:r>
              <a:rPr lang="es-PE" sz="3600" b="1" dirty="0"/>
              <a:t>Funciones Esenciales del Dinero</a:t>
            </a:r>
            <a:endParaRPr lang="es-PE" sz="36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23342F9-2062-5968-3D70-ADCF5259F6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145435"/>
          </a:xfrm>
        </p:spPr>
        <p:txBody>
          <a:bodyPr>
            <a:normAutofit fontScale="85000" lnSpcReduction="20000"/>
          </a:bodyPr>
          <a:lstStyle/>
          <a:p>
            <a:pPr marL="0" indent="0" algn="just">
              <a:buNone/>
            </a:pPr>
            <a:r>
              <a:rPr lang="es-ES" b="1" dirty="0"/>
              <a:t>1. Medio de intercambio</a:t>
            </a:r>
          </a:p>
          <a:p>
            <a:pPr algn="just"/>
            <a:r>
              <a:rPr lang="es-ES" dirty="0"/>
              <a:t>Elimina la necesidad de trueque</a:t>
            </a:r>
          </a:p>
          <a:p>
            <a:pPr algn="just"/>
            <a:r>
              <a:rPr lang="es-ES" dirty="0"/>
              <a:t>Reduce costos de transacción</a:t>
            </a:r>
          </a:p>
          <a:p>
            <a:pPr algn="just"/>
            <a:r>
              <a:rPr lang="es-ES" dirty="0"/>
              <a:t>Facilita la especialización económica</a:t>
            </a:r>
          </a:p>
          <a:p>
            <a:pPr marL="0" indent="0" algn="just">
              <a:buNone/>
            </a:pPr>
            <a:r>
              <a:rPr lang="es-ES" b="1" dirty="0"/>
              <a:t>2. Unidad de cuenta</a:t>
            </a:r>
          </a:p>
          <a:p>
            <a:pPr algn="just"/>
            <a:r>
              <a:rPr lang="es-ES" dirty="0"/>
              <a:t>Estándar de valor para comparar precios</a:t>
            </a:r>
          </a:p>
          <a:p>
            <a:r>
              <a:rPr lang="es-ES" dirty="0"/>
              <a:t>Permite contabilidad, préstamos y planificación económica. </a:t>
            </a:r>
          </a:p>
          <a:p>
            <a:pPr marL="0" indent="0">
              <a:buNone/>
            </a:pPr>
            <a:r>
              <a:rPr lang="es-ES" dirty="0"/>
              <a:t>📌 Permite comparar precios:</a:t>
            </a:r>
          </a:p>
          <a:p>
            <a:pPr marL="0" indent="0">
              <a:buNone/>
            </a:pPr>
            <a:r>
              <a:rPr lang="es-ES" dirty="0"/>
              <a:t>un cuaderno cuesta S/ 5</a:t>
            </a:r>
          </a:p>
          <a:p>
            <a:pPr marL="0" indent="0">
              <a:buNone/>
            </a:pPr>
            <a:r>
              <a:rPr lang="es-ES" dirty="0"/>
              <a:t>un libro cuesta S/ 40</a:t>
            </a:r>
          </a:p>
          <a:p>
            <a:pPr marL="0" indent="0">
              <a:buNone/>
            </a:pPr>
            <a:r>
              <a:rPr lang="es-ES" dirty="0"/>
              <a:t>Sin dinero, comparar sería muy complicado.</a:t>
            </a:r>
          </a:p>
          <a:p>
            <a:pPr algn="just"/>
            <a:endParaRPr lang="es-ES" dirty="0"/>
          </a:p>
          <a:p>
            <a:pPr marL="0" indent="0" algn="just">
              <a:buNone/>
            </a:pP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8822214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266CFF-5478-0249-6982-FA4E2487D0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2074"/>
          </a:xfrm>
        </p:spPr>
        <p:txBody>
          <a:bodyPr>
            <a:normAutofit fontScale="90000"/>
          </a:bodyPr>
          <a:lstStyle/>
          <a:p>
            <a:r>
              <a:rPr lang="es-PE" b="1" dirty="0"/>
              <a:t>Funciones Esenciales del Dinero</a:t>
            </a: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509239F-83C0-C514-8AA4-0EE5A01C4D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855564"/>
            <a:ext cx="8229600" cy="4949700"/>
          </a:xfrm>
        </p:spPr>
        <p:txBody>
          <a:bodyPr>
            <a:normAutofit fontScale="70000" lnSpcReduction="20000"/>
          </a:bodyPr>
          <a:lstStyle/>
          <a:p>
            <a:pPr marL="0" indent="0" algn="just">
              <a:buNone/>
            </a:pPr>
            <a:r>
              <a:rPr lang="es-ES" b="1" dirty="0"/>
              <a:t>3. Depósito de valor</a:t>
            </a:r>
          </a:p>
          <a:p>
            <a:pPr algn="just"/>
            <a:r>
              <a:rPr lang="es-ES" dirty="0"/>
              <a:t>Permite ahorrar poder adquisitivo para el futuro</a:t>
            </a:r>
          </a:p>
          <a:p>
            <a:pPr algn="just"/>
            <a:r>
              <a:rPr lang="es-ES" dirty="0"/>
              <a:t>Efectividad depende de la estabilidad de precios (inflación)</a:t>
            </a:r>
          </a:p>
          <a:p>
            <a:pPr marL="0" indent="0" algn="just">
              <a:buNone/>
            </a:pPr>
            <a:r>
              <a:rPr lang="es-ES" dirty="0"/>
              <a:t>Ejemplo: guardas dinero hoy para comprar algo más adelante.</a:t>
            </a:r>
          </a:p>
          <a:p>
            <a:pPr marL="0" indent="0" algn="just">
              <a:buNone/>
            </a:pPr>
            <a:r>
              <a:rPr lang="es-ES" dirty="0"/>
              <a:t>Ojo: la inflación puede reducir esta función.</a:t>
            </a:r>
          </a:p>
          <a:p>
            <a:pPr marL="0" indent="0" algn="just">
              <a:buNone/>
            </a:pPr>
            <a:endParaRPr lang="es-ES" dirty="0"/>
          </a:p>
          <a:p>
            <a:pPr marL="0" indent="0" algn="just">
              <a:buNone/>
            </a:pPr>
            <a:r>
              <a:rPr lang="es-ES" b="1" dirty="0"/>
              <a:t>4. Patrón de pagos diferidos</a:t>
            </a:r>
          </a:p>
          <a:p>
            <a:pPr algn="just"/>
            <a:r>
              <a:rPr lang="es-ES" dirty="0"/>
              <a:t>Facilita préstamos y pagos a futuro</a:t>
            </a:r>
          </a:p>
          <a:p>
            <a:pPr algn="just"/>
            <a:r>
              <a:rPr lang="es-ES" dirty="0"/>
              <a:t>Base para instrumentos de crédito</a:t>
            </a:r>
          </a:p>
          <a:p>
            <a:pPr marL="0" indent="0">
              <a:buNone/>
            </a:pPr>
            <a:r>
              <a:rPr lang="es-ES" dirty="0"/>
              <a:t>Ejemplos:</a:t>
            </a:r>
          </a:p>
          <a:p>
            <a:r>
              <a:rPr lang="es-ES" dirty="0"/>
              <a:t>créditos</a:t>
            </a:r>
          </a:p>
          <a:p>
            <a:r>
              <a:rPr lang="es-ES" dirty="0"/>
              <a:t>préstamos</a:t>
            </a:r>
          </a:p>
          <a:p>
            <a:r>
              <a:rPr lang="es-ES" dirty="0"/>
              <a:t>compras en cuotas</a:t>
            </a:r>
          </a:p>
          <a:p>
            <a:pPr marL="0" indent="0">
              <a:buNone/>
            </a:pPr>
            <a:r>
              <a:rPr lang="es-ES" dirty="0"/>
              <a:t>Esto hace posible el sistema financiero moderno.</a:t>
            </a:r>
          </a:p>
          <a:p>
            <a:pPr marL="0" indent="0" algn="just">
              <a:buNone/>
            </a:pPr>
            <a:endParaRPr lang="es-ES" dirty="0"/>
          </a:p>
          <a:p>
            <a:pPr marL="0" indent="0" algn="just">
              <a:buNone/>
            </a:pP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7954221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18B5EE-52D5-8B5C-D2C6-65AAC4C09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57199"/>
          </a:xfrm>
        </p:spPr>
        <p:txBody>
          <a:bodyPr>
            <a:normAutofit fontScale="90000"/>
          </a:bodyPr>
          <a:lstStyle/>
          <a:p>
            <a:r>
              <a:rPr lang="es-PE" b="1" dirty="0"/>
              <a:t>Funciones Esenciales del Dinero</a:t>
            </a: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E172CAE-5C90-E761-082D-A0AF09E4B5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598" y="980728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lang="es-ES" dirty="0"/>
              <a:t>5. </a:t>
            </a:r>
            <a:r>
              <a:rPr lang="es-ES" b="1" dirty="0"/>
              <a:t>Patrón de pagos y contratos</a:t>
            </a:r>
          </a:p>
          <a:p>
            <a:pPr marL="0" indent="0">
              <a:buNone/>
            </a:pPr>
            <a:r>
              <a:rPr lang="es-ES" dirty="0"/>
              <a:t>Sirve como referencia para fijar:</a:t>
            </a:r>
          </a:p>
          <a:p>
            <a:r>
              <a:rPr lang="es-ES" dirty="0"/>
              <a:t>salarios</a:t>
            </a:r>
          </a:p>
          <a:p>
            <a:r>
              <a:rPr lang="es-ES" dirty="0"/>
              <a:t>alquileres</a:t>
            </a:r>
          </a:p>
          <a:p>
            <a:r>
              <a:rPr lang="es-ES" dirty="0"/>
              <a:t>contratos</a:t>
            </a:r>
          </a:p>
          <a:p>
            <a:pPr marL="0" indent="0">
              <a:buNone/>
            </a:pPr>
            <a:r>
              <a:rPr lang="es-ES" dirty="0"/>
              <a:t>Da estabilidad y seguridad jurídica a la economía.</a:t>
            </a:r>
          </a:p>
          <a:p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748708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8CDCAE-AEFA-2D44-C40A-5E1ACBB26E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60648"/>
            <a:ext cx="8229600" cy="576064"/>
          </a:xfrm>
        </p:spPr>
        <p:txBody>
          <a:bodyPr>
            <a:normAutofit fontScale="90000"/>
          </a:bodyPr>
          <a:lstStyle/>
          <a:p>
            <a:r>
              <a:rPr lang="es-PE" sz="3600" b="1" dirty="0"/>
              <a:t>Características del Dinero Eficaz</a:t>
            </a:r>
            <a:endParaRPr lang="es-PE" sz="36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1953C5C-342C-B65C-B917-25E18EBF76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145435"/>
          </a:xfrm>
        </p:spPr>
        <p:txBody>
          <a:bodyPr/>
          <a:lstStyle/>
          <a:p>
            <a:pPr algn="just"/>
            <a:r>
              <a:rPr lang="es-PE" b="1" dirty="0"/>
              <a:t>Aceptabilidad generalizada</a:t>
            </a:r>
            <a:endParaRPr lang="es-PE" dirty="0"/>
          </a:p>
          <a:p>
            <a:pPr algn="just"/>
            <a:r>
              <a:rPr lang="es-PE" b="1" dirty="0"/>
              <a:t>Durabilidad</a:t>
            </a:r>
            <a:r>
              <a:rPr lang="es-PE" dirty="0"/>
              <a:t> (no se deteriora)</a:t>
            </a:r>
          </a:p>
          <a:p>
            <a:pPr algn="just"/>
            <a:r>
              <a:rPr lang="es-PE" b="1" dirty="0"/>
              <a:t>Portabilidad</a:t>
            </a:r>
            <a:r>
              <a:rPr lang="es-PE" dirty="0"/>
              <a:t> (fácil de transportar)</a:t>
            </a:r>
          </a:p>
          <a:p>
            <a:pPr algn="just"/>
            <a:r>
              <a:rPr lang="es-PE" b="1" dirty="0"/>
              <a:t>Divisibilidad</a:t>
            </a:r>
            <a:r>
              <a:rPr lang="es-PE" dirty="0"/>
              <a:t> (unidades fraccionarias)</a:t>
            </a:r>
          </a:p>
          <a:p>
            <a:pPr algn="just"/>
            <a:r>
              <a:rPr lang="es-PE" b="1" dirty="0"/>
              <a:t>Difícil de falsificar</a:t>
            </a:r>
            <a:endParaRPr lang="es-PE" dirty="0"/>
          </a:p>
          <a:p>
            <a:pPr algn="just"/>
            <a:r>
              <a:rPr lang="es-PE" b="1" dirty="0"/>
              <a:t>Estabilidad de valor</a:t>
            </a:r>
            <a:r>
              <a:rPr lang="es-PE" dirty="0"/>
              <a:t> (relativa)</a:t>
            </a:r>
          </a:p>
          <a:p>
            <a:pPr marL="0" indent="0" algn="just">
              <a:buNone/>
            </a:pP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2731760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9DC0C3-3B4F-FA95-C061-DB7D53F2B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90066"/>
          </a:xfrm>
        </p:spPr>
        <p:txBody>
          <a:bodyPr>
            <a:noAutofit/>
          </a:bodyPr>
          <a:lstStyle/>
          <a:p>
            <a:r>
              <a:rPr lang="es-PE" sz="3200" b="1" dirty="0"/>
              <a:t>Creación del Dinero Moderno</a:t>
            </a:r>
            <a:endParaRPr lang="es-PE" sz="32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260EDB82-DD76-C0F0-0B74-DEE9E823C7C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836712"/>
                <a:ext cx="8229600" cy="5746650"/>
              </a:xfrm>
            </p:spPr>
            <p:txBody>
              <a:bodyPr>
                <a:normAutofit fontScale="47500" lnSpcReduction="20000"/>
              </a:bodyPr>
              <a:lstStyle/>
              <a:p>
                <a:pPr marL="0" indent="0" algn="just">
                  <a:buNone/>
                </a:pPr>
                <a:r>
                  <a:rPr lang="es-ES" b="1" dirty="0"/>
                  <a:t>Sistema de Reserva Fraccionaria</a:t>
                </a:r>
              </a:p>
              <a:p>
                <a:pPr marL="0" indent="0">
                  <a:buNone/>
                </a:pPr>
                <a:r>
                  <a:rPr lang="es-ES" dirty="0"/>
                  <a:t>Está compuesto por:</a:t>
                </a:r>
              </a:p>
              <a:p>
                <a:pPr marL="0" indent="0">
                  <a:buNone/>
                </a:pPr>
                <a:r>
                  <a:rPr lang="es-ES" dirty="0"/>
                  <a:t>🪙 Efectivo en circulación (billetes y monedas en manos del público)</a:t>
                </a:r>
              </a:p>
              <a:p>
                <a:pPr marL="0" indent="0">
                  <a:buNone/>
                </a:pPr>
                <a:r>
                  <a:rPr lang="es-ES" dirty="0"/>
                  <a:t>🏦 Reservas bancarias (dinero que los bancos mantienen en el Banco Central)</a:t>
                </a:r>
              </a:p>
              <a:p>
                <a:pPr marL="0" indent="0">
                  <a:buNone/>
                </a:pPr>
                <a:r>
                  <a:rPr lang="es-ES" dirty="0"/>
                  <a:t>👉 Fórmula básica:</a:t>
                </a:r>
                <a:br>
                  <a:rPr lang="es-ES" dirty="0"/>
                </a:br>
                <a:r>
                  <a:rPr lang="es-ES" dirty="0"/>
                  <a:t>Dinero base (M0): = efectivo en circulación + reservas bancarias</a:t>
                </a:r>
              </a:p>
              <a:p>
                <a:pPr marL="0" indent="0">
                  <a:buNone/>
                </a:pPr>
                <a:r>
                  <a:rPr lang="es-ES" dirty="0"/>
                  <a:t>Ejemplo:</a:t>
                </a:r>
              </a:p>
              <a:p>
                <a:r>
                  <a:rPr lang="es-ES" dirty="0"/>
                  <a:t>Si el Banco Central emite billetes y aumenta las reservas de los bancos, está aumentando el dinero base.</a:t>
                </a:r>
              </a:p>
              <a:p>
                <a:pPr marL="0" indent="0" algn="just">
                  <a:buNone/>
                </a:pPr>
                <a:endParaRPr lang="es-ES" dirty="0"/>
              </a:p>
              <a:p>
                <a:pPr marL="0" indent="0" algn="just">
                  <a:buNone/>
                </a:pPr>
                <a:r>
                  <a:rPr lang="es-ES" b="1" dirty="0"/>
                  <a:t>Multiplicador monetario</a:t>
                </a:r>
                <a:r>
                  <a:rPr lang="es-ES" dirty="0"/>
                  <a:t>: Los bancos prestan gran parte de sus depósitos</a:t>
                </a:r>
              </a:p>
              <a:p>
                <a:pPr marL="0" indent="0" algn="just">
                  <a:buNone/>
                </a:pPr>
                <a:r>
                  <a:rPr lang="es-ES" dirty="0"/>
                  <a:t>Los bancos </a:t>
                </a:r>
                <a:r>
                  <a:rPr lang="es-ES" b="1" dirty="0"/>
                  <a:t>no guardan todo el dinero</a:t>
                </a:r>
                <a:r>
                  <a:rPr lang="es-ES" dirty="0"/>
                  <a:t>, sino solo una parte (encaje legal), y </a:t>
                </a:r>
                <a:r>
                  <a:rPr lang="es-ES" b="1" dirty="0"/>
                  <a:t>prestan el resto</a:t>
                </a:r>
                <a:r>
                  <a:rPr lang="es-ES" dirty="0"/>
                  <a:t>, generando nuevo dinero.</a:t>
                </a:r>
              </a:p>
              <a:p>
                <a:pPr marL="0" indent="0">
                  <a:buNone/>
                </a:pPr>
                <a:r>
                  <a:rPr lang="es-PE" dirty="0"/>
                  <a:t>Multiplicador bancario= 1/ tasa de encaje​ </a:t>
                </a:r>
              </a:p>
              <a:p>
                <a:pPr marL="0" indent="0">
                  <a:buNone/>
                </a:pPr>
                <a:r>
                  <a:rPr lang="es-PE" b="1" dirty="0"/>
                  <a:t>Ejemplo:</a:t>
                </a:r>
              </a:p>
              <a:p>
                <a:r>
                  <a:rPr lang="es-PE" dirty="0"/>
                  <a:t>Si la tasa de encaje es 10% (0,10):</a:t>
                </a:r>
              </a:p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s-PE" b="0"/>
                      <m:t>Multiplicador</m:t>
                    </m:r>
                    <m:r>
                      <a:rPr lang="es-PE"/>
                      <m:t>=</m:t>
                    </m:r>
                    <m:f>
                      <m:fPr>
                        <m:ctrlPr>
                          <a:rPr lang="ar-AE" i="1"/>
                        </m:ctrlPr>
                      </m:fPr>
                      <m:num>
                        <m:r>
                          <a:rPr lang="ar-AE"/>
                          <m:t>1</m:t>
                        </m:r>
                      </m:num>
                      <m:den>
                        <m:r>
                          <a:rPr lang="ar-AE"/>
                          <m:t>0</m:t>
                        </m:r>
                        <m:r>
                          <a:rPr lang="ar-AE"/>
                          <m:t>,</m:t>
                        </m:r>
                        <m:r>
                          <a:rPr lang="ar-AE"/>
                          <m:t>10</m:t>
                        </m:r>
                      </m:den>
                    </m:f>
                    <m:r>
                      <a:rPr lang="ar-AE"/>
                      <m:t>=</m:t>
                    </m:r>
                    <m:r>
                      <a:rPr lang="ar-AE"/>
                      <m:t>10</m:t>
                    </m:r>
                  </m:oMath>
                </a14:m>
                <a:endParaRPr lang="ar-AE" b="0" dirty="0"/>
              </a:p>
              <a:p>
                <a:pPr marL="0" indent="0">
                  <a:buNone/>
                </a:pPr>
                <a:r>
                  <a:rPr lang="es-PE" dirty="0"/>
                  <a:t>👉 Esto significa que </a:t>
                </a:r>
                <a:r>
                  <a:rPr lang="es-PE" b="1" dirty="0"/>
                  <a:t>1 sol de dinero base puede generar hasta 10 soles de dinero en la economía</a:t>
                </a:r>
                <a:r>
                  <a:rPr lang="es-PE" dirty="0"/>
                  <a:t>.</a:t>
                </a:r>
              </a:p>
              <a:p>
                <a:pPr marL="0" indent="0" algn="just">
                  <a:buNone/>
                </a:pPr>
                <a:endParaRPr lang="es-ES" dirty="0"/>
              </a:p>
              <a:p>
                <a:pPr marL="0" indent="0" algn="just">
                  <a:buNone/>
                </a:pPr>
                <a:r>
                  <a:rPr lang="es-ES" b="1" dirty="0"/>
                  <a:t>Dinero bancario</a:t>
                </a:r>
                <a:r>
                  <a:rPr lang="es-ES" dirty="0"/>
                  <a:t> (M1/M2): Depósitos disponibles que superan el dinero base</a:t>
                </a:r>
              </a:p>
              <a:p>
                <a:r>
                  <a:rPr lang="es-ES" dirty="0"/>
                  <a:t>depósitos a la vista</a:t>
                </a:r>
              </a:p>
              <a:p>
                <a:r>
                  <a:rPr lang="es-ES" dirty="0"/>
                  <a:t>cuentas corrientes</a:t>
                </a:r>
              </a:p>
              <a:p>
                <a:r>
                  <a:rPr lang="es-ES" dirty="0"/>
                  <a:t>cuentas de ahorro</a:t>
                </a:r>
              </a:p>
              <a:p>
                <a:pPr marL="0" indent="0">
                  <a:buNone/>
                </a:pPr>
                <a:r>
                  <a:rPr lang="es-ES" dirty="0"/>
                  <a:t>📌 Cuando un banco concede un préstamo, </a:t>
                </a:r>
                <a:r>
                  <a:rPr lang="es-ES" b="1" dirty="0"/>
                  <a:t>crea dinero bancario</a:t>
                </a:r>
                <a:r>
                  <a:rPr lang="es-ES" dirty="0"/>
                  <a:t>, aunque no emita billetes.</a:t>
                </a:r>
              </a:p>
              <a:p>
                <a:pPr marL="0" indent="0" algn="just">
                  <a:buNone/>
                </a:pPr>
                <a:endParaRPr lang="es-PE" dirty="0"/>
              </a:p>
            </p:txBody>
          </p:sp>
        </mc:Choice>
        <mc:Fallback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260EDB82-DD76-C0F0-0B74-DEE9E823C7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836712"/>
                <a:ext cx="8229600" cy="5746650"/>
              </a:xfrm>
              <a:blipFill>
                <a:blip r:embed="rId2"/>
                <a:stretch>
                  <a:fillRect l="-296" t="-848" r="-296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271609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1C87EE7-AAE1-025C-A7C8-64C27923A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04664"/>
            <a:ext cx="8229600" cy="4525963"/>
          </a:xfrm>
        </p:spPr>
        <p:txBody>
          <a:bodyPr/>
          <a:lstStyle/>
          <a:p>
            <a:pPr marL="0" indent="0" algn="just">
              <a:buNone/>
            </a:pPr>
            <a:r>
              <a:rPr lang="es-PE" b="1" dirty="0"/>
              <a:t>Agentes creadores:</a:t>
            </a:r>
          </a:p>
          <a:p>
            <a:pPr algn="just"/>
            <a:r>
              <a:rPr lang="es-PE" b="1" dirty="0"/>
              <a:t>Bancos centrales</a:t>
            </a:r>
            <a:r>
              <a:rPr lang="es-PE" dirty="0"/>
              <a:t>: Dinero base (billetes, reservas)</a:t>
            </a:r>
          </a:p>
          <a:p>
            <a:pPr algn="just"/>
            <a:r>
              <a:rPr lang="es-PE" b="1" dirty="0"/>
              <a:t>Bancos comerciales</a:t>
            </a:r>
            <a:r>
              <a:rPr lang="es-PE" dirty="0"/>
              <a:t>: Dinero crediticio (préstamos crean depósitos)</a:t>
            </a:r>
          </a:p>
          <a:p>
            <a:pPr marL="0" indent="0" algn="just">
              <a:buNone/>
            </a:pP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4044034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DF0CB0-DF47-0AA3-ADB4-E9D4DFE5F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txBody>
          <a:bodyPr>
            <a:normAutofit/>
          </a:bodyPr>
          <a:lstStyle/>
          <a:p>
            <a:r>
              <a:rPr lang="es-PE" sz="4000" b="1" dirty="0"/>
              <a:t>Problemática y Controversias</a:t>
            </a:r>
            <a:endParaRPr lang="es-PE" sz="40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9CA70CE-C3F0-5FE6-D579-A52C1BF4B4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5328592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s-ES" b="1" dirty="0"/>
              <a:t>1. Inflación y Deflación</a:t>
            </a:r>
          </a:p>
          <a:p>
            <a:r>
              <a:rPr lang="es-ES" b="1" dirty="0"/>
              <a:t>Inflación</a:t>
            </a:r>
            <a:r>
              <a:rPr lang="es-ES" dirty="0"/>
              <a:t>: Pérdida de poder adquisitivo cuando la oferta monetaria crece más rápido que la producción</a:t>
            </a:r>
          </a:p>
          <a:p>
            <a:r>
              <a:rPr lang="es-ES" b="1" dirty="0"/>
              <a:t>Hiperinflación</a:t>
            </a:r>
            <a:r>
              <a:rPr lang="es-ES" dirty="0"/>
              <a:t>: Casos extremos (Zimbabue, Venezuela, Alemania 1923)</a:t>
            </a:r>
          </a:p>
          <a:p>
            <a:r>
              <a:rPr lang="es-ES" b="1" dirty="0"/>
              <a:t>Deflación</a:t>
            </a:r>
            <a:r>
              <a:rPr lang="es-ES" dirty="0"/>
              <a:t>: Caída generalizada de precios que puede paralizar la economía</a:t>
            </a:r>
          </a:p>
          <a:p>
            <a:pPr marL="0" indent="0">
              <a:buNone/>
            </a:pPr>
            <a:r>
              <a:rPr lang="es-ES" b="1" dirty="0"/>
              <a:t>2. Ciclos Económicos y Crisis</a:t>
            </a:r>
          </a:p>
          <a:p>
            <a:r>
              <a:rPr lang="es-ES" dirty="0"/>
              <a:t>Expansiones y contracciones crediticias</a:t>
            </a:r>
          </a:p>
          <a:p>
            <a:r>
              <a:rPr lang="es-ES" dirty="0"/>
              <a:t>Burbujas especulativas alimentadas por dinero barato</a:t>
            </a:r>
          </a:p>
          <a:p>
            <a:r>
              <a:rPr lang="es-ES" dirty="0"/>
              <a:t>Crisis financieras (2008): Interconexión sistémica</a:t>
            </a:r>
          </a:p>
          <a:p>
            <a:pPr marL="0" indent="0">
              <a:buNone/>
            </a:pP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2333641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BC710B8-010F-BE30-F58B-F5231A171C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548680"/>
            <a:ext cx="8229600" cy="5688632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ES" sz="2400" b="1" dirty="0"/>
              <a:t>3. Deuda y Sistema Bancario</a:t>
            </a:r>
          </a:p>
          <a:p>
            <a:pPr algn="just"/>
            <a:r>
              <a:rPr lang="es-ES" sz="2400" dirty="0"/>
              <a:t>Economías basadas en deuda</a:t>
            </a:r>
          </a:p>
          <a:p>
            <a:pPr algn="just"/>
            <a:r>
              <a:rPr lang="es-ES" sz="2400" dirty="0"/>
              <a:t>Riesgo de crisis de liquidez y solvencia</a:t>
            </a:r>
          </a:p>
          <a:p>
            <a:pPr algn="just"/>
            <a:r>
              <a:rPr lang="es-ES" sz="2400" dirty="0"/>
              <a:t>"</a:t>
            </a:r>
            <a:r>
              <a:rPr lang="es-ES" sz="2400" dirty="0" err="1"/>
              <a:t>Too</a:t>
            </a:r>
            <a:r>
              <a:rPr lang="es-ES" sz="2400" dirty="0"/>
              <a:t> </a:t>
            </a:r>
            <a:r>
              <a:rPr lang="es-ES" sz="2400" dirty="0" err="1"/>
              <a:t>big</a:t>
            </a:r>
            <a:r>
              <a:rPr lang="es-ES" sz="2400" dirty="0"/>
              <a:t> </a:t>
            </a:r>
            <a:r>
              <a:rPr lang="es-ES" sz="2400" dirty="0" err="1"/>
              <a:t>to</a:t>
            </a:r>
            <a:r>
              <a:rPr lang="es-ES" sz="2400" dirty="0"/>
              <a:t> </a:t>
            </a:r>
            <a:r>
              <a:rPr lang="es-ES" sz="2400" dirty="0" err="1"/>
              <a:t>fail</a:t>
            </a:r>
            <a:r>
              <a:rPr lang="es-ES" sz="2400" dirty="0"/>
              <a:t>": Bancos sistémicamente importantes</a:t>
            </a:r>
          </a:p>
          <a:p>
            <a:pPr marL="0" indent="0" algn="just">
              <a:buNone/>
            </a:pPr>
            <a:r>
              <a:rPr lang="es-ES" sz="2400" b="1" dirty="0"/>
              <a:t>4. Política Monetaria y Desigualdad</a:t>
            </a:r>
          </a:p>
          <a:p>
            <a:pPr algn="just"/>
            <a:r>
              <a:rPr lang="es-ES" sz="2400" b="1" dirty="0"/>
              <a:t>Expansión cuantitativa</a:t>
            </a:r>
            <a:r>
              <a:rPr lang="es-ES" sz="2400" dirty="0"/>
              <a:t>: Puede aumentar desigualdad de riqueza</a:t>
            </a:r>
          </a:p>
          <a:p>
            <a:pPr algn="just"/>
            <a:r>
              <a:rPr lang="es-ES" sz="2400" dirty="0"/>
              <a:t>Efectos distributivos de las decisiones de bancos centrales</a:t>
            </a:r>
          </a:p>
          <a:p>
            <a:pPr algn="just"/>
            <a:r>
              <a:rPr lang="es-ES" sz="2400" dirty="0"/>
              <a:t>Acceso diferencial al crédito</a:t>
            </a:r>
          </a:p>
          <a:p>
            <a:pPr marL="0" indent="0" algn="just">
              <a:buNone/>
            </a:pPr>
            <a:r>
              <a:rPr lang="es-ES" sz="2400" b="1" dirty="0"/>
              <a:t>5. Nuevos Desafíos Digitales</a:t>
            </a:r>
          </a:p>
          <a:p>
            <a:pPr algn="just"/>
            <a:r>
              <a:rPr lang="es-ES" sz="2400" b="1" dirty="0"/>
              <a:t>Criptomonedas</a:t>
            </a:r>
            <a:r>
              <a:rPr lang="es-ES" sz="2400" dirty="0"/>
              <a:t>: Volatilidad, uso ilícito, consumo energético</a:t>
            </a:r>
          </a:p>
          <a:p>
            <a:pPr algn="just"/>
            <a:r>
              <a:rPr lang="es-ES" sz="2400" b="1" dirty="0"/>
              <a:t>Privacidad vs. control</a:t>
            </a:r>
            <a:r>
              <a:rPr lang="es-ES" sz="2400" dirty="0"/>
              <a:t>: Dilema de las monedas digitales</a:t>
            </a:r>
          </a:p>
          <a:p>
            <a:pPr algn="just"/>
            <a:r>
              <a:rPr lang="es-ES" sz="2400" b="1" dirty="0"/>
              <a:t>Exclusión financiera digital</a:t>
            </a:r>
            <a:r>
              <a:rPr lang="es-ES" sz="2400" dirty="0"/>
              <a:t>: Brecha tecnológica</a:t>
            </a:r>
          </a:p>
          <a:p>
            <a:pPr marL="0" indent="0" algn="just">
              <a:buNone/>
            </a:pPr>
            <a:endParaRPr lang="es-PE" sz="2400" dirty="0"/>
          </a:p>
        </p:txBody>
      </p:sp>
    </p:spTree>
    <p:extLst>
      <p:ext uri="{BB962C8B-B14F-4D97-AF65-F5344CB8AC3E}">
        <p14:creationId xmlns:p14="http://schemas.microsoft.com/office/powerpoint/2010/main" val="6855113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D0F2DBB-1BE3-7624-9469-808C99FB9E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548680"/>
            <a:ext cx="8229600" cy="4525963"/>
          </a:xfrm>
        </p:spPr>
        <p:txBody>
          <a:bodyPr/>
          <a:lstStyle/>
          <a:p>
            <a:pPr marL="0" indent="0" algn="just">
              <a:buNone/>
            </a:pPr>
            <a:r>
              <a:rPr lang="es-ES" b="1" dirty="0"/>
              <a:t>6. Soberanía Monetaria y Globalización</a:t>
            </a:r>
          </a:p>
          <a:p>
            <a:pPr algn="just"/>
            <a:r>
              <a:rPr lang="es-ES" dirty="0"/>
              <a:t>Dominio del dólar estadounidense en transacciones internacionales</a:t>
            </a:r>
          </a:p>
          <a:p>
            <a:pPr algn="just"/>
            <a:r>
              <a:rPr lang="es-ES" dirty="0"/>
              <a:t>Sanciones financieras como arma geopolítica</a:t>
            </a:r>
          </a:p>
          <a:p>
            <a:pPr algn="just"/>
            <a:r>
              <a:rPr lang="es-ES" dirty="0"/>
              <a:t>Dilemas de países con dolarización informal</a:t>
            </a:r>
          </a:p>
          <a:p>
            <a:pPr marL="0" indent="0" algn="just">
              <a:buNone/>
            </a:pPr>
            <a:endParaRPr lang="es-ES" dirty="0"/>
          </a:p>
          <a:p>
            <a:pPr marL="0" indent="0" algn="just">
              <a:buNone/>
            </a:pPr>
            <a:r>
              <a:rPr lang="es-ES" dirty="0">
                <a:hlinkClick r:id="rId2"/>
              </a:rPr>
              <a:t>https://www.youtube.com/watch?v=-bh3Tt_ZvXQ</a:t>
            </a:r>
            <a:endParaRPr lang="es-ES" dirty="0"/>
          </a:p>
          <a:p>
            <a:pPr marL="0" indent="0" algn="just">
              <a:buNone/>
            </a:pPr>
            <a:endParaRPr lang="es-ES" dirty="0"/>
          </a:p>
          <a:p>
            <a:pPr marL="0" indent="0" algn="just">
              <a:buNone/>
            </a:pP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9107541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60F9D50-7968-4C75-07FA-53CA2C612A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836712"/>
            <a:ext cx="8229600" cy="4525963"/>
          </a:xfrm>
        </p:spPr>
        <p:txBody>
          <a:bodyPr/>
          <a:lstStyle/>
          <a:p>
            <a:pPr algn="just"/>
            <a:r>
              <a:rPr lang="es-PE" dirty="0"/>
              <a:t>Trabajo grupal: Analice las formas modernas de la evolución del dinero: pros y contras.</a:t>
            </a:r>
          </a:p>
        </p:txBody>
      </p:sp>
    </p:spTree>
    <p:extLst>
      <p:ext uri="{BB962C8B-B14F-4D97-AF65-F5344CB8AC3E}">
        <p14:creationId xmlns:p14="http://schemas.microsoft.com/office/powerpoint/2010/main" val="223696661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932</TotalTime>
  <Words>1575</Words>
  <Application>Microsoft Office PowerPoint</Application>
  <PresentationFormat>Presentación en pantalla (4:3)</PresentationFormat>
  <Paragraphs>241</Paragraphs>
  <Slides>19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19</vt:i4>
      </vt:variant>
    </vt:vector>
  </HeadingPairs>
  <TitlesOfParts>
    <vt:vector size="22" baseType="lpstr">
      <vt:lpstr>Arial</vt:lpstr>
      <vt:lpstr>Calibri</vt:lpstr>
      <vt:lpstr>Tema de Office</vt:lpstr>
      <vt:lpstr>Presentación de PowerPoint</vt:lpstr>
      <vt:lpstr>Presentación de PowerPoint</vt:lpstr>
      <vt:lpstr>DINERO, SISTEMA FINANCIERO Y BANCO CENTRAL</vt:lpstr>
      <vt:lpstr>Presentación de PowerPoint</vt:lpstr>
      <vt:lpstr>Evolución Histórica del Dinero </vt:lpstr>
      <vt:lpstr>Presentación de PowerPoint</vt:lpstr>
      <vt:lpstr>Presentación de PowerPoint</vt:lpstr>
      <vt:lpstr>Presentación de PowerPoint</vt:lpstr>
      <vt:lpstr>Presentación de PowerPoint</vt:lpstr>
      <vt:lpstr>Funciones Esenciales del Dinero</vt:lpstr>
      <vt:lpstr>Funciones Esenciales del Dinero</vt:lpstr>
      <vt:lpstr>Funciones Esenciales del Dinero</vt:lpstr>
      <vt:lpstr>Características del Dinero Eficaz</vt:lpstr>
      <vt:lpstr>Creación del Dinero Moderno</vt:lpstr>
      <vt:lpstr>Presentación de PowerPoint</vt:lpstr>
      <vt:lpstr>Problemática y Controversias</vt:lpstr>
      <vt:lpstr>Presentación de PowerPoint</vt:lpstr>
      <vt:lpstr>Presentación de PowerPoint</vt:lpstr>
      <vt:lpstr>Presentación de PowerPoint</vt:lpstr>
    </vt:vector>
  </TitlesOfParts>
  <Company>Luffi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Luffi</dc:creator>
  <cp:lastModifiedBy>pamela torres toledo</cp:lastModifiedBy>
  <cp:revision>51</cp:revision>
  <dcterms:created xsi:type="dcterms:W3CDTF">2019-10-15T05:04:37Z</dcterms:created>
  <dcterms:modified xsi:type="dcterms:W3CDTF">2026-02-09T22:52:10Z</dcterms:modified>
</cp:coreProperties>
</file>