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72" r:id="rId3"/>
    <p:sldId id="273" r:id="rId4"/>
    <p:sldId id="274" r:id="rId5"/>
    <p:sldId id="275"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Lst>
  <p:sldSz cx="9144000" cy="6858000" type="screen4x3"/>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PE"/>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PE"/>
          </a:p>
        </p:txBody>
      </p:sp>
      <p:sp>
        <p:nvSpPr>
          <p:cNvPr id="4" name="3 Marcador de fecha"/>
          <p:cNvSpPr>
            <a:spLocks noGrp="1"/>
          </p:cNvSpPr>
          <p:nvPr>
            <p:ph type="dt" sz="half" idx="10"/>
          </p:nvPr>
        </p:nvSpPr>
        <p:spPr/>
        <p:txBody>
          <a:bodyPr/>
          <a:lstStyle/>
          <a:p>
            <a:fld id="{7B001A3A-EFAD-4DCA-BFCF-B84FCBA4F73B}" type="datetimeFigureOut">
              <a:rPr lang="es-PE" smtClean="0"/>
              <a:t>04/03/2026</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D99E5113-3B2C-46E0-94AC-E33D17FBF03A}" type="slidenum">
              <a:rPr lang="es-PE" smtClean="0"/>
              <a:t>‹Nº›</a:t>
            </a:fld>
            <a:endParaRPr lang="es-PE"/>
          </a:p>
        </p:txBody>
      </p:sp>
    </p:spTree>
    <p:extLst>
      <p:ext uri="{BB962C8B-B14F-4D97-AF65-F5344CB8AC3E}">
        <p14:creationId xmlns:p14="http://schemas.microsoft.com/office/powerpoint/2010/main" val="1303827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fecha"/>
          <p:cNvSpPr>
            <a:spLocks noGrp="1"/>
          </p:cNvSpPr>
          <p:nvPr>
            <p:ph type="dt" sz="half" idx="10"/>
          </p:nvPr>
        </p:nvSpPr>
        <p:spPr/>
        <p:txBody>
          <a:bodyPr/>
          <a:lstStyle/>
          <a:p>
            <a:fld id="{7B001A3A-EFAD-4DCA-BFCF-B84FCBA4F73B}" type="datetimeFigureOut">
              <a:rPr lang="es-PE" smtClean="0"/>
              <a:t>04/03/2026</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D99E5113-3B2C-46E0-94AC-E33D17FBF03A}" type="slidenum">
              <a:rPr lang="es-PE" smtClean="0"/>
              <a:t>‹Nº›</a:t>
            </a:fld>
            <a:endParaRPr lang="es-PE"/>
          </a:p>
        </p:txBody>
      </p:sp>
    </p:spTree>
    <p:extLst>
      <p:ext uri="{BB962C8B-B14F-4D97-AF65-F5344CB8AC3E}">
        <p14:creationId xmlns:p14="http://schemas.microsoft.com/office/powerpoint/2010/main" val="364772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PE"/>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7B001A3A-EFAD-4DCA-BFCF-B84FCBA4F73B}" type="datetimeFigureOut">
              <a:rPr lang="es-PE" smtClean="0"/>
              <a:t>04/03/2026</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D99E5113-3B2C-46E0-94AC-E33D17FBF03A}" type="slidenum">
              <a:rPr lang="es-PE" smtClean="0"/>
              <a:t>‹Nº›</a:t>
            </a:fld>
            <a:endParaRPr lang="es-PE"/>
          </a:p>
        </p:txBody>
      </p:sp>
    </p:spTree>
    <p:extLst>
      <p:ext uri="{BB962C8B-B14F-4D97-AF65-F5344CB8AC3E}">
        <p14:creationId xmlns:p14="http://schemas.microsoft.com/office/powerpoint/2010/main" val="2955999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4 Marcador de fecha"/>
          <p:cNvSpPr>
            <a:spLocks noGrp="1"/>
          </p:cNvSpPr>
          <p:nvPr>
            <p:ph type="dt" sz="half" idx="10"/>
          </p:nvPr>
        </p:nvSpPr>
        <p:spPr/>
        <p:txBody>
          <a:bodyPr/>
          <a:lstStyle/>
          <a:p>
            <a:fld id="{7B001A3A-EFAD-4DCA-BFCF-B84FCBA4F73B}" type="datetimeFigureOut">
              <a:rPr lang="es-PE" smtClean="0"/>
              <a:t>04/03/2026</a:t>
            </a:fld>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p:txBody>
          <a:bodyPr/>
          <a:lstStyle/>
          <a:p>
            <a:fld id="{D99E5113-3B2C-46E0-94AC-E33D17FBF03A}" type="slidenum">
              <a:rPr lang="es-PE" smtClean="0"/>
              <a:t>‹Nº›</a:t>
            </a:fld>
            <a:endParaRPr lang="es-PE"/>
          </a:p>
        </p:txBody>
      </p:sp>
    </p:spTree>
    <p:extLst>
      <p:ext uri="{BB962C8B-B14F-4D97-AF65-F5344CB8AC3E}">
        <p14:creationId xmlns:p14="http://schemas.microsoft.com/office/powerpoint/2010/main" val="3948362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PE"/>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6 Marcador de fecha"/>
          <p:cNvSpPr>
            <a:spLocks noGrp="1"/>
          </p:cNvSpPr>
          <p:nvPr>
            <p:ph type="dt" sz="half" idx="10"/>
          </p:nvPr>
        </p:nvSpPr>
        <p:spPr/>
        <p:txBody>
          <a:bodyPr/>
          <a:lstStyle/>
          <a:p>
            <a:fld id="{7B001A3A-EFAD-4DCA-BFCF-B84FCBA4F73B}" type="datetimeFigureOut">
              <a:rPr lang="es-PE" smtClean="0"/>
              <a:t>04/03/2026</a:t>
            </a:fld>
            <a:endParaRPr lang="es-PE"/>
          </a:p>
        </p:txBody>
      </p:sp>
      <p:sp>
        <p:nvSpPr>
          <p:cNvPr id="8" name="7 Marcador de pie de página"/>
          <p:cNvSpPr>
            <a:spLocks noGrp="1"/>
          </p:cNvSpPr>
          <p:nvPr>
            <p:ph type="ftr" sz="quarter" idx="11"/>
          </p:nvPr>
        </p:nvSpPr>
        <p:spPr/>
        <p:txBody>
          <a:bodyPr/>
          <a:lstStyle/>
          <a:p>
            <a:endParaRPr lang="es-PE"/>
          </a:p>
        </p:txBody>
      </p:sp>
      <p:sp>
        <p:nvSpPr>
          <p:cNvPr id="9" name="8 Marcador de número de diapositiva"/>
          <p:cNvSpPr>
            <a:spLocks noGrp="1"/>
          </p:cNvSpPr>
          <p:nvPr>
            <p:ph type="sldNum" sz="quarter" idx="12"/>
          </p:nvPr>
        </p:nvSpPr>
        <p:spPr/>
        <p:txBody>
          <a:bodyPr/>
          <a:lstStyle/>
          <a:p>
            <a:fld id="{D99E5113-3B2C-46E0-94AC-E33D17FBF03A}" type="slidenum">
              <a:rPr lang="es-PE" smtClean="0"/>
              <a:t>‹Nº›</a:t>
            </a:fld>
            <a:endParaRPr lang="es-PE"/>
          </a:p>
        </p:txBody>
      </p:sp>
    </p:spTree>
    <p:extLst>
      <p:ext uri="{BB962C8B-B14F-4D97-AF65-F5344CB8AC3E}">
        <p14:creationId xmlns:p14="http://schemas.microsoft.com/office/powerpoint/2010/main" val="2551122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fecha"/>
          <p:cNvSpPr>
            <a:spLocks noGrp="1"/>
          </p:cNvSpPr>
          <p:nvPr>
            <p:ph type="dt" sz="half" idx="10"/>
          </p:nvPr>
        </p:nvSpPr>
        <p:spPr/>
        <p:txBody>
          <a:bodyPr/>
          <a:lstStyle/>
          <a:p>
            <a:fld id="{7B001A3A-EFAD-4DCA-BFCF-B84FCBA4F73B}" type="datetimeFigureOut">
              <a:rPr lang="es-PE" smtClean="0"/>
              <a:t>04/03/2026</a:t>
            </a:fld>
            <a:endParaRPr lang="es-PE"/>
          </a:p>
        </p:txBody>
      </p:sp>
      <p:sp>
        <p:nvSpPr>
          <p:cNvPr id="4" name="3 Marcador de pie de página"/>
          <p:cNvSpPr>
            <a:spLocks noGrp="1"/>
          </p:cNvSpPr>
          <p:nvPr>
            <p:ph type="ftr" sz="quarter" idx="11"/>
          </p:nvPr>
        </p:nvSpPr>
        <p:spPr/>
        <p:txBody>
          <a:bodyPr/>
          <a:lstStyle/>
          <a:p>
            <a:endParaRPr lang="es-PE"/>
          </a:p>
        </p:txBody>
      </p:sp>
      <p:sp>
        <p:nvSpPr>
          <p:cNvPr id="5" name="4 Marcador de número de diapositiva"/>
          <p:cNvSpPr>
            <a:spLocks noGrp="1"/>
          </p:cNvSpPr>
          <p:nvPr>
            <p:ph type="sldNum" sz="quarter" idx="12"/>
          </p:nvPr>
        </p:nvSpPr>
        <p:spPr/>
        <p:txBody>
          <a:bodyPr/>
          <a:lstStyle/>
          <a:p>
            <a:fld id="{D99E5113-3B2C-46E0-94AC-E33D17FBF03A}" type="slidenum">
              <a:rPr lang="es-PE" smtClean="0"/>
              <a:t>‹Nº›</a:t>
            </a:fld>
            <a:endParaRPr lang="es-PE"/>
          </a:p>
        </p:txBody>
      </p:sp>
    </p:spTree>
    <p:extLst>
      <p:ext uri="{BB962C8B-B14F-4D97-AF65-F5344CB8AC3E}">
        <p14:creationId xmlns:p14="http://schemas.microsoft.com/office/powerpoint/2010/main" val="1228310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B001A3A-EFAD-4DCA-BFCF-B84FCBA4F73B}" type="datetimeFigureOut">
              <a:rPr lang="es-PE" smtClean="0"/>
              <a:t>04/03/2026</a:t>
            </a:fld>
            <a:endParaRPr lang="es-PE"/>
          </a:p>
        </p:txBody>
      </p:sp>
      <p:sp>
        <p:nvSpPr>
          <p:cNvPr id="3" name="2 Marcador de pie de página"/>
          <p:cNvSpPr>
            <a:spLocks noGrp="1"/>
          </p:cNvSpPr>
          <p:nvPr>
            <p:ph type="ftr" sz="quarter" idx="11"/>
          </p:nvPr>
        </p:nvSpPr>
        <p:spPr/>
        <p:txBody>
          <a:bodyPr/>
          <a:lstStyle/>
          <a:p>
            <a:endParaRPr lang="es-PE"/>
          </a:p>
        </p:txBody>
      </p:sp>
      <p:sp>
        <p:nvSpPr>
          <p:cNvPr id="4" name="3 Marcador de número de diapositiva"/>
          <p:cNvSpPr>
            <a:spLocks noGrp="1"/>
          </p:cNvSpPr>
          <p:nvPr>
            <p:ph type="sldNum" sz="quarter" idx="12"/>
          </p:nvPr>
        </p:nvSpPr>
        <p:spPr/>
        <p:txBody>
          <a:bodyPr/>
          <a:lstStyle/>
          <a:p>
            <a:fld id="{D99E5113-3B2C-46E0-94AC-E33D17FBF03A}" type="slidenum">
              <a:rPr lang="es-PE" smtClean="0"/>
              <a:t>‹Nº›</a:t>
            </a:fld>
            <a:endParaRPr lang="es-PE"/>
          </a:p>
        </p:txBody>
      </p:sp>
    </p:spTree>
    <p:extLst>
      <p:ext uri="{BB962C8B-B14F-4D97-AF65-F5344CB8AC3E}">
        <p14:creationId xmlns:p14="http://schemas.microsoft.com/office/powerpoint/2010/main" val="750340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PE"/>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B001A3A-EFAD-4DCA-BFCF-B84FCBA4F73B}" type="datetimeFigureOut">
              <a:rPr lang="es-PE" smtClean="0"/>
              <a:t>04/03/2026</a:t>
            </a:fld>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p:txBody>
          <a:bodyPr/>
          <a:lstStyle/>
          <a:p>
            <a:fld id="{D99E5113-3B2C-46E0-94AC-E33D17FBF03A}" type="slidenum">
              <a:rPr lang="es-PE" smtClean="0"/>
              <a:t>‹Nº›</a:t>
            </a:fld>
            <a:endParaRPr lang="es-PE"/>
          </a:p>
        </p:txBody>
      </p:sp>
    </p:spTree>
    <p:extLst>
      <p:ext uri="{BB962C8B-B14F-4D97-AF65-F5344CB8AC3E}">
        <p14:creationId xmlns:p14="http://schemas.microsoft.com/office/powerpoint/2010/main" val="2055045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PE"/>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B001A3A-EFAD-4DCA-BFCF-B84FCBA4F73B}" type="datetimeFigureOut">
              <a:rPr lang="es-PE" smtClean="0"/>
              <a:t>04/03/2026</a:t>
            </a:fld>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p:txBody>
          <a:bodyPr/>
          <a:lstStyle/>
          <a:p>
            <a:fld id="{D99E5113-3B2C-46E0-94AC-E33D17FBF03A}" type="slidenum">
              <a:rPr lang="es-PE" smtClean="0"/>
              <a:t>‹Nº›</a:t>
            </a:fld>
            <a:endParaRPr lang="es-PE"/>
          </a:p>
        </p:txBody>
      </p:sp>
    </p:spTree>
    <p:extLst>
      <p:ext uri="{BB962C8B-B14F-4D97-AF65-F5344CB8AC3E}">
        <p14:creationId xmlns:p14="http://schemas.microsoft.com/office/powerpoint/2010/main" val="1518134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fecha"/>
          <p:cNvSpPr>
            <a:spLocks noGrp="1"/>
          </p:cNvSpPr>
          <p:nvPr>
            <p:ph type="dt" sz="half" idx="10"/>
          </p:nvPr>
        </p:nvSpPr>
        <p:spPr/>
        <p:txBody>
          <a:bodyPr/>
          <a:lstStyle/>
          <a:p>
            <a:fld id="{7B001A3A-EFAD-4DCA-BFCF-B84FCBA4F73B}" type="datetimeFigureOut">
              <a:rPr lang="es-PE" smtClean="0"/>
              <a:t>04/03/2026</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D99E5113-3B2C-46E0-94AC-E33D17FBF03A}" type="slidenum">
              <a:rPr lang="es-PE" smtClean="0"/>
              <a:t>‹Nº›</a:t>
            </a:fld>
            <a:endParaRPr lang="es-PE"/>
          </a:p>
        </p:txBody>
      </p:sp>
    </p:spTree>
    <p:extLst>
      <p:ext uri="{BB962C8B-B14F-4D97-AF65-F5344CB8AC3E}">
        <p14:creationId xmlns:p14="http://schemas.microsoft.com/office/powerpoint/2010/main" val="319734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PE"/>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fecha"/>
          <p:cNvSpPr>
            <a:spLocks noGrp="1"/>
          </p:cNvSpPr>
          <p:nvPr>
            <p:ph type="dt" sz="half" idx="10"/>
          </p:nvPr>
        </p:nvSpPr>
        <p:spPr/>
        <p:txBody>
          <a:bodyPr/>
          <a:lstStyle/>
          <a:p>
            <a:fld id="{7B001A3A-EFAD-4DCA-BFCF-B84FCBA4F73B}" type="datetimeFigureOut">
              <a:rPr lang="es-PE" smtClean="0"/>
              <a:t>04/03/2026</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D99E5113-3B2C-46E0-94AC-E33D17FBF03A}" type="slidenum">
              <a:rPr lang="es-PE" smtClean="0"/>
              <a:t>‹Nº›</a:t>
            </a:fld>
            <a:endParaRPr lang="es-PE"/>
          </a:p>
        </p:txBody>
      </p:sp>
    </p:spTree>
    <p:extLst>
      <p:ext uri="{BB962C8B-B14F-4D97-AF65-F5344CB8AC3E}">
        <p14:creationId xmlns:p14="http://schemas.microsoft.com/office/powerpoint/2010/main" val="3444864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001A3A-EFAD-4DCA-BFCF-B84FCBA4F73B}" type="datetimeFigureOut">
              <a:rPr lang="es-PE" smtClean="0"/>
              <a:t>04/03/2026</a:t>
            </a:fld>
            <a:endParaRPr lang="es-PE"/>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9E5113-3B2C-46E0-94AC-E33D17FBF03A}" type="slidenum">
              <a:rPr lang="es-PE" smtClean="0"/>
              <a:t>‹Nº›</a:t>
            </a:fld>
            <a:endParaRPr lang="es-PE"/>
          </a:p>
        </p:txBody>
      </p:sp>
    </p:spTree>
    <p:extLst>
      <p:ext uri="{BB962C8B-B14F-4D97-AF65-F5344CB8AC3E}">
        <p14:creationId xmlns:p14="http://schemas.microsoft.com/office/powerpoint/2010/main" val="2549837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42472" y="159143"/>
            <a:ext cx="8901229" cy="65102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Marcador de texto"/>
          <p:cNvSpPr>
            <a:spLocks noGrp="1"/>
          </p:cNvSpPr>
          <p:nvPr>
            <p:ph type="body" idx="1"/>
          </p:nvPr>
        </p:nvSpPr>
        <p:spPr>
          <a:xfrm>
            <a:off x="611560" y="3414251"/>
            <a:ext cx="7772400" cy="2751053"/>
          </a:xfrm>
        </p:spPr>
        <p:txBody>
          <a:bodyPr>
            <a:noAutofit/>
          </a:bodyPr>
          <a:lstStyle/>
          <a:p>
            <a:pPr algn="ctr"/>
            <a:r>
              <a:rPr lang="es-PE" sz="4000" b="1" dirty="0">
                <a:solidFill>
                  <a:schemeClr val="tx1">
                    <a:lumMod val="95000"/>
                    <a:lumOff val="5000"/>
                  </a:schemeClr>
                </a:solidFill>
              </a:rPr>
              <a:t>ESCUELA PROFESIONAL DE ECONOMIA</a:t>
            </a:r>
          </a:p>
          <a:p>
            <a:pPr algn="just"/>
            <a:r>
              <a:rPr lang="es-PE" sz="3200" b="1" dirty="0">
                <a:solidFill>
                  <a:schemeClr val="tx1"/>
                </a:solidFill>
              </a:rPr>
              <a:t>CURSO	: TEORIA MONETARIA Y BANCARIA</a:t>
            </a:r>
          </a:p>
          <a:p>
            <a:pPr algn="just"/>
            <a:r>
              <a:rPr lang="es-PE" sz="3200" b="1" dirty="0">
                <a:solidFill>
                  <a:schemeClr val="tx1"/>
                </a:solidFill>
              </a:rPr>
              <a:t>DOCENTE	: DRA. PAMELA TORRES TOLEDO</a:t>
            </a:r>
          </a:p>
          <a:p>
            <a:pPr algn="just"/>
            <a:r>
              <a:rPr lang="es-PE" sz="3200" b="1" dirty="0">
                <a:solidFill>
                  <a:schemeClr val="tx1"/>
                </a:solidFill>
              </a:rPr>
              <a:t>SEMESTRE	: 2026-I</a:t>
            </a:r>
          </a:p>
        </p:txBody>
      </p:sp>
      <p:sp>
        <p:nvSpPr>
          <p:cNvPr id="6" name="AutoShape 5" descr="Resultado de imagen para UNSAA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sp>
        <p:nvSpPr>
          <p:cNvPr id="7" name="6 Rectángulo"/>
          <p:cNvSpPr/>
          <p:nvPr/>
        </p:nvSpPr>
        <p:spPr>
          <a:xfrm>
            <a:off x="3131840" y="457386"/>
            <a:ext cx="5606396" cy="786954"/>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s-PE" sz="2800" b="1" dirty="0">
                <a:solidFill>
                  <a:schemeClr val="tx1"/>
                </a:solidFill>
              </a:rPr>
              <a:t>UNIVERSIDAD ANDINA DEL CUSCO</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460" y="246497"/>
            <a:ext cx="2757003" cy="997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2478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11560" y="1700808"/>
            <a:ext cx="8229600" cy="4392488"/>
          </a:xfrm>
        </p:spPr>
        <p:txBody>
          <a:bodyPr>
            <a:normAutofit/>
          </a:bodyPr>
          <a:lstStyle/>
          <a:p>
            <a:pPr marL="0" indent="0" algn="just">
              <a:buNone/>
            </a:pPr>
            <a:r>
              <a:rPr lang="es-ES" sz="2400" dirty="0"/>
              <a:t>La </a:t>
            </a:r>
            <a:r>
              <a:rPr lang="es-ES" sz="2400" b="1" dirty="0"/>
              <a:t>demanda de dinero</a:t>
            </a:r>
            <a:r>
              <a:rPr lang="es-ES" sz="2400" dirty="0"/>
              <a:t> en economía es la </a:t>
            </a:r>
            <a:r>
              <a:rPr lang="es-ES" sz="2400" b="1" dirty="0"/>
              <a:t>cantidad de dinero que las personas y empresas desean mantener en su poder</a:t>
            </a:r>
            <a:r>
              <a:rPr lang="es-ES" sz="2400" dirty="0"/>
              <a:t> (en efectivo o en cuentas bancarias) en lugar de invertirlo o gastarlo.</a:t>
            </a:r>
          </a:p>
          <a:p>
            <a:pPr marL="0" indent="0" algn="just">
              <a:buNone/>
            </a:pPr>
            <a:endParaRPr lang="es-ES" sz="2400" dirty="0"/>
          </a:p>
          <a:p>
            <a:pPr marL="0" indent="0" algn="just">
              <a:buNone/>
            </a:pPr>
            <a:r>
              <a:rPr lang="es-ES" sz="2000" dirty="0"/>
              <a:t>No significa cuánto dinero existe en la economía (eso es la </a:t>
            </a:r>
            <a:r>
              <a:rPr lang="es-ES" sz="2000" b="1" dirty="0"/>
              <a:t>oferta monetaria</a:t>
            </a:r>
            <a:r>
              <a:rPr lang="es-ES" sz="2000" dirty="0"/>
              <a:t>, controlada por el banco central), sino cuánto dinero la gente </a:t>
            </a:r>
            <a:r>
              <a:rPr lang="es-ES" sz="2000" i="1" dirty="0"/>
              <a:t>quiere tener</a:t>
            </a:r>
            <a:r>
              <a:rPr lang="es-ES" sz="2000" dirty="0"/>
              <a:t>.</a:t>
            </a:r>
            <a:endParaRPr lang="es-PE" sz="2000" dirty="0"/>
          </a:p>
        </p:txBody>
      </p:sp>
      <p:sp>
        <p:nvSpPr>
          <p:cNvPr id="4" name="1 Título"/>
          <p:cNvSpPr>
            <a:spLocks noGrp="1"/>
          </p:cNvSpPr>
          <p:nvPr>
            <p:ph type="title"/>
          </p:nvPr>
        </p:nvSpPr>
        <p:spPr>
          <a:xfrm>
            <a:off x="457200" y="274638"/>
            <a:ext cx="8229600" cy="778098"/>
          </a:xfrm>
        </p:spPr>
        <p:txBody>
          <a:bodyPr>
            <a:noAutofit/>
          </a:bodyPr>
          <a:lstStyle/>
          <a:p>
            <a:r>
              <a:rPr lang="es-PE" sz="4000" dirty="0"/>
              <a:t>La demanda de dinero</a:t>
            </a:r>
          </a:p>
        </p:txBody>
      </p:sp>
    </p:spTree>
    <p:extLst>
      <p:ext uri="{BB962C8B-B14F-4D97-AF65-F5344CB8AC3E}">
        <p14:creationId xmlns:p14="http://schemas.microsoft.com/office/powerpoint/2010/main" val="1612840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8D3B86-B42C-4E66-B34D-6E094FA3FBCD}"/>
              </a:ext>
            </a:extLst>
          </p:cNvPr>
          <p:cNvSpPr>
            <a:spLocks noGrp="1"/>
          </p:cNvSpPr>
          <p:nvPr>
            <p:ph type="title"/>
          </p:nvPr>
        </p:nvSpPr>
        <p:spPr/>
        <p:txBody>
          <a:bodyPr>
            <a:normAutofit fontScale="90000"/>
          </a:bodyPr>
          <a:lstStyle/>
          <a:p>
            <a:r>
              <a:rPr lang="es-ES" dirty="0"/>
              <a:t>¿Por qué las personas demandan dinero?</a:t>
            </a:r>
            <a:endParaRPr lang="es-PE" dirty="0"/>
          </a:p>
        </p:txBody>
      </p:sp>
      <p:sp>
        <p:nvSpPr>
          <p:cNvPr id="3" name="Marcador de contenido 2">
            <a:extLst>
              <a:ext uri="{FF2B5EF4-FFF2-40B4-BE49-F238E27FC236}">
                <a16:creationId xmlns:a16="http://schemas.microsoft.com/office/drawing/2014/main" id="{7CE8224F-042C-CE7E-1EF0-F282A38FBCA7}"/>
              </a:ext>
            </a:extLst>
          </p:cNvPr>
          <p:cNvSpPr>
            <a:spLocks noGrp="1"/>
          </p:cNvSpPr>
          <p:nvPr>
            <p:ph idx="1"/>
          </p:nvPr>
        </p:nvSpPr>
        <p:spPr/>
        <p:txBody>
          <a:bodyPr>
            <a:normAutofit lnSpcReduction="10000"/>
          </a:bodyPr>
          <a:lstStyle/>
          <a:p>
            <a:pPr marL="0" indent="0" algn="just">
              <a:buNone/>
            </a:pPr>
            <a:r>
              <a:rPr lang="es-ES" b="1" dirty="0"/>
              <a:t>1. Motivo transacción</a:t>
            </a:r>
          </a:p>
          <a:p>
            <a:pPr algn="just"/>
            <a:r>
              <a:rPr lang="es-ES" dirty="0"/>
              <a:t>Para realizar compras diarias:</a:t>
            </a:r>
          </a:p>
          <a:p>
            <a:pPr algn="just"/>
            <a:r>
              <a:rPr lang="es-ES" dirty="0"/>
              <a:t>Pagar alimentos</a:t>
            </a:r>
          </a:p>
          <a:p>
            <a:pPr algn="just"/>
            <a:r>
              <a:rPr lang="es-ES" dirty="0"/>
              <a:t>Transporte</a:t>
            </a:r>
          </a:p>
          <a:p>
            <a:pPr algn="just"/>
            <a:r>
              <a:rPr lang="es-ES" dirty="0"/>
              <a:t>Servicios</a:t>
            </a:r>
          </a:p>
          <a:p>
            <a:pPr algn="just"/>
            <a:r>
              <a:rPr lang="es-ES" dirty="0"/>
              <a:t>Salarios</a:t>
            </a:r>
          </a:p>
          <a:p>
            <a:pPr marL="0" indent="0" algn="just">
              <a:buNone/>
            </a:pPr>
            <a:r>
              <a:rPr lang="es-ES" dirty="0"/>
              <a:t>👉 Mientras mayor sea el ingreso, mayor será la demanda de dinero para transacciones.</a:t>
            </a:r>
          </a:p>
          <a:p>
            <a:pPr marL="0" indent="0" algn="just">
              <a:buNone/>
            </a:pPr>
            <a:endParaRPr lang="es-PE" dirty="0"/>
          </a:p>
        </p:txBody>
      </p:sp>
    </p:spTree>
    <p:extLst>
      <p:ext uri="{BB962C8B-B14F-4D97-AF65-F5344CB8AC3E}">
        <p14:creationId xmlns:p14="http://schemas.microsoft.com/office/powerpoint/2010/main" val="424629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182966C-19EC-E23F-54EC-D255AE8C02C5}"/>
              </a:ext>
            </a:extLst>
          </p:cNvPr>
          <p:cNvSpPr>
            <a:spLocks noGrp="1"/>
          </p:cNvSpPr>
          <p:nvPr>
            <p:ph idx="1"/>
          </p:nvPr>
        </p:nvSpPr>
        <p:spPr>
          <a:xfrm>
            <a:off x="457200" y="692696"/>
            <a:ext cx="8229600" cy="5433467"/>
          </a:xfrm>
        </p:spPr>
        <p:txBody>
          <a:bodyPr/>
          <a:lstStyle/>
          <a:p>
            <a:pPr marL="0" indent="0">
              <a:buNone/>
            </a:pPr>
            <a:r>
              <a:rPr lang="es-ES" b="1" dirty="0"/>
              <a:t>2. Motivo precaución</a:t>
            </a:r>
          </a:p>
          <a:p>
            <a:r>
              <a:rPr lang="es-ES" dirty="0"/>
              <a:t>Para enfrentar imprevistos:</a:t>
            </a:r>
          </a:p>
          <a:p>
            <a:r>
              <a:rPr lang="es-ES" dirty="0"/>
              <a:t>Emergencias médicas</a:t>
            </a:r>
          </a:p>
          <a:p>
            <a:r>
              <a:rPr lang="es-ES" dirty="0"/>
              <a:t>Reparaciones</a:t>
            </a:r>
          </a:p>
          <a:p>
            <a:r>
              <a:rPr lang="es-ES" dirty="0"/>
              <a:t>Pérdida de empleo</a:t>
            </a:r>
          </a:p>
          <a:p>
            <a:pPr marL="0" indent="0">
              <a:buNone/>
            </a:pPr>
            <a:r>
              <a:rPr lang="es-ES" dirty="0"/>
              <a:t>👉 A mayor incertidumbre, mayor demanda de dinero.</a:t>
            </a:r>
          </a:p>
          <a:p>
            <a:pPr marL="0" indent="0">
              <a:buNone/>
            </a:pPr>
            <a:endParaRPr lang="es-PE" dirty="0"/>
          </a:p>
        </p:txBody>
      </p:sp>
    </p:spTree>
    <p:extLst>
      <p:ext uri="{BB962C8B-B14F-4D97-AF65-F5344CB8AC3E}">
        <p14:creationId xmlns:p14="http://schemas.microsoft.com/office/powerpoint/2010/main" val="3712563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E951AC6-BADA-80F7-EE4D-E7C755A0D1DD}"/>
              </a:ext>
            </a:extLst>
          </p:cNvPr>
          <p:cNvSpPr>
            <a:spLocks noGrp="1"/>
          </p:cNvSpPr>
          <p:nvPr>
            <p:ph idx="1"/>
          </p:nvPr>
        </p:nvSpPr>
        <p:spPr>
          <a:xfrm>
            <a:off x="457200" y="692696"/>
            <a:ext cx="8229600" cy="4525963"/>
          </a:xfrm>
        </p:spPr>
        <p:txBody>
          <a:bodyPr>
            <a:normAutofit lnSpcReduction="10000"/>
          </a:bodyPr>
          <a:lstStyle/>
          <a:p>
            <a:pPr marL="0" indent="0">
              <a:buNone/>
            </a:pPr>
            <a:r>
              <a:rPr lang="es-ES" b="1" dirty="0"/>
              <a:t>3. Motivo especulación</a:t>
            </a:r>
          </a:p>
          <a:p>
            <a:pPr marL="0" indent="0">
              <a:buNone/>
            </a:pPr>
            <a:r>
              <a:rPr lang="es-ES" dirty="0"/>
              <a:t>Para decidir entre:</a:t>
            </a:r>
          </a:p>
          <a:p>
            <a:r>
              <a:rPr lang="es-ES" dirty="0"/>
              <a:t>Mantener dinero líquido</a:t>
            </a:r>
          </a:p>
          <a:p>
            <a:r>
              <a:rPr lang="es-ES" dirty="0"/>
              <a:t>Comprar activos financieros (bonos, acciones), donde influye mucho la </a:t>
            </a:r>
            <a:r>
              <a:rPr lang="es-ES" b="1" dirty="0"/>
              <a:t>tasa de interés</a:t>
            </a:r>
            <a:r>
              <a:rPr lang="es-ES" dirty="0"/>
              <a:t>:</a:t>
            </a:r>
          </a:p>
          <a:p>
            <a:pPr lvl="1"/>
            <a:r>
              <a:rPr lang="es-ES" dirty="0"/>
              <a:t>🔺 Si la tasa de interés es alta → conviene invertir → baja la demanda de dinero.</a:t>
            </a:r>
          </a:p>
          <a:p>
            <a:pPr lvl="1"/>
            <a:r>
              <a:rPr lang="es-ES" dirty="0"/>
              <a:t>🔻 Si la tasa es baja → conviene tener dinero → sube la demanda de dinero.</a:t>
            </a:r>
          </a:p>
          <a:p>
            <a:pPr marL="0" indent="0">
              <a:buNone/>
            </a:pPr>
            <a:endParaRPr lang="es-PE" dirty="0"/>
          </a:p>
        </p:txBody>
      </p:sp>
    </p:spTree>
    <p:extLst>
      <p:ext uri="{BB962C8B-B14F-4D97-AF65-F5344CB8AC3E}">
        <p14:creationId xmlns:p14="http://schemas.microsoft.com/office/powerpoint/2010/main" val="32854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3B10EE8-5B6D-5C76-6EBC-B87DF3883BD2}"/>
              </a:ext>
            </a:extLst>
          </p:cNvPr>
          <p:cNvSpPr>
            <a:spLocks noGrp="1"/>
          </p:cNvSpPr>
          <p:nvPr>
            <p:ph idx="1"/>
          </p:nvPr>
        </p:nvSpPr>
        <p:spPr>
          <a:xfrm>
            <a:off x="457200" y="620688"/>
            <a:ext cx="8229600" cy="5505475"/>
          </a:xfrm>
        </p:spPr>
        <p:txBody>
          <a:bodyPr>
            <a:normAutofit/>
          </a:bodyPr>
          <a:lstStyle/>
          <a:p>
            <a:pPr marL="0" indent="0">
              <a:buNone/>
            </a:pPr>
            <a:r>
              <a:rPr lang="es-ES" b="1" dirty="0"/>
              <a:t>Factores que determinan la demanda de dinero</a:t>
            </a:r>
          </a:p>
          <a:p>
            <a:r>
              <a:rPr lang="es-ES" b="1" dirty="0"/>
              <a:t>Nivel de ingreso (Y)</a:t>
            </a:r>
            <a:r>
              <a:rPr lang="es-ES" dirty="0"/>
              <a:t> → relación directa</a:t>
            </a:r>
          </a:p>
          <a:p>
            <a:r>
              <a:rPr lang="es-ES" b="1" dirty="0"/>
              <a:t>Nivel de precios (P)</a:t>
            </a:r>
            <a:r>
              <a:rPr lang="es-ES" dirty="0"/>
              <a:t> → relación directa</a:t>
            </a:r>
          </a:p>
          <a:p>
            <a:r>
              <a:rPr lang="es-ES" b="1" dirty="0"/>
              <a:t>Tasa de interés (i)</a:t>
            </a:r>
            <a:r>
              <a:rPr lang="es-ES" dirty="0"/>
              <a:t> → relación inversa</a:t>
            </a:r>
          </a:p>
          <a:p>
            <a:pPr marL="0" indent="0">
              <a:buNone/>
            </a:pPr>
            <a:r>
              <a:rPr lang="es-ES" dirty="0"/>
              <a:t>En forma simplificada:</a:t>
            </a:r>
          </a:p>
          <a:p>
            <a:pPr marL="0" indent="0">
              <a:buNone/>
            </a:pPr>
            <a:r>
              <a:rPr lang="es-ES" dirty="0"/>
              <a:t>		Md=f(</a:t>
            </a:r>
            <a:r>
              <a:rPr lang="es-ES" dirty="0" err="1"/>
              <a:t>Y,P,i</a:t>
            </a:r>
            <a:r>
              <a:rPr lang="es-ES" dirty="0"/>
              <a:t>)</a:t>
            </a:r>
          </a:p>
          <a:p>
            <a:pPr marL="0" indent="0">
              <a:buNone/>
            </a:pPr>
            <a:r>
              <a:rPr lang="es-ES" dirty="0"/>
              <a:t>Donde:</a:t>
            </a:r>
          </a:p>
          <a:p>
            <a:pPr marL="0" indent="0">
              <a:buNone/>
            </a:pPr>
            <a:r>
              <a:rPr lang="es-ES" sz="1800" dirty="0"/>
              <a:t>Md = Demanda de dinero</a:t>
            </a:r>
          </a:p>
          <a:p>
            <a:pPr marL="0" indent="0">
              <a:buNone/>
            </a:pPr>
            <a:r>
              <a:rPr lang="es-ES" sz="1800" dirty="0"/>
              <a:t>Y = Ingreso</a:t>
            </a:r>
          </a:p>
          <a:p>
            <a:pPr marL="0" indent="0">
              <a:buNone/>
            </a:pPr>
            <a:r>
              <a:rPr lang="es-ES" sz="1800" dirty="0"/>
              <a:t>P = Nivel de precios</a:t>
            </a:r>
          </a:p>
          <a:p>
            <a:pPr marL="0" indent="0">
              <a:buNone/>
            </a:pPr>
            <a:r>
              <a:rPr lang="es-ES" sz="1800" dirty="0"/>
              <a:t>i = Tasa de interés</a:t>
            </a:r>
          </a:p>
          <a:p>
            <a:pPr marL="0" indent="0">
              <a:buNone/>
            </a:pPr>
            <a:endParaRPr lang="es-PE" dirty="0"/>
          </a:p>
        </p:txBody>
      </p:sp>
    </p:spTree>
    <p:extLst>
      <p:ext uri="{BB962C8B-B14F-4D97-AF65-F5344CB8AC3E}">
        <p14:creationId xmlns:p14="http://schemas.microsoft.com/office/powerpoint/2010/main" val="1198213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927A942-54FD-008A-63A7-BAA524AC85A6}"/>
              </a:ext>
            </a:extLst>
          </p:cNvPr>
          <p:cNvSpPr>
            <a:spLocks noGrp="1"/>
          </p:cNvSpPr>
          <p:nvPr>
            <p:ph idx="1"/>
          </p:nvPr>
        </p:nvSpPr>
        <p:spPr>
          <a:xfrm>
            <a:off x="457200" y="548680"/>
            <a:ext cx="8229600" cy="5577483"/>
          </a:xfrm>
        </p:spPr>
        <p:txBody>
          <a:bodyPr>
            <a:normAutofit lnSpcReduction="10000"/>
          </a:bodyPr>
          <a:lstStyle/>
          <a:p>
            <a:pPr marL="0" indent="0" algn="just">
              <a:buNone/>
            </a:pPr>
            <a:r>
              <a:rPr lang="es-ES" b="1" dirty="0"/>
              <a:t>💡 Ejemplo aplicado al Perú</a:t>
            </a:r>
          </a:p>
          <a:p>
            <a:pPr marL="0" indent="0" algn="just">
              <a:buNone/>
            </a:pPr>
            <a:r>
              <a:rPr lang="es-ES" dirty="0"/>
              <a:t>Si el Banco Central de Reserva del Perú sube su tasa de interés:</a:t>
            </a:r>
          </a:p>
          <a:p>
            <a:pPr algn="just"/>
            <a:r>
              <a:rPr lang="es-ES" dirty="0"/>
              <a:t>Los bancos pagan más por depósitos.</a:t>
            </a:r>
          </a:p>
          <a:p>
            <a:pPr algn="just"/>
            <a:r>
              <a:rPr lang="es-ES" dirty="0"/>
              <a:t>Las personas prefieren ahorrar/invertir.</a:t>
            </a:r>
          </a:p>
          <a:p>
            <a:pPr marL="0" indent="0" algn="just">
              <a:buNone/>
            </a:pPr>
            <a:r>
              <a:rPr lang="es-ES" b="1" dirty="0"/>
              <a:t>Disminuye la demanda de dinero en efectivo.</a:t>
            </a:r>
            <a:endParaRPr lang="es-ES" dirty="0"/>
          </a:p>
          <a:p>
            <a:pPr algn="just"/>
            <a:r>
              <a:rPr lang="es-ES" dirty="0"/>
              <a:t>Si la economía crece y las personas ganan más:</a:t>
            </a:r>
          </a:p>
          <a:p>
            <a:pPr algn="just"/>
            <a:r>
              <a:rPr lang="es-ES" dirty="0"/>
              <a:t>Realizan más transacciones.</a:t>
            </a:r>
          </a:p>
          <a:p>
            <a:pPr marL="0" indent="0" algn="just">
              <a:buNone/>
            </a:pPr>
            <a:r>
              <a:rPr lang="es-ES" b="1" dirty="0"/>
              <a:t>Aumenta la demanda de dinero.</a:t>
            </a:r>
            <a:endParaRPr lang="es-ES" dirty="0"/>
          </a:p>
          <a:p>
            <a:pPr marL="0" indent="0" algn="just">
              <a:buNone/>
            </a:pPr>
            <a:endParaRPr lang="es-PE" dirty="0"/>
          </a:p>
        </p:txBody>
      </p:sp>
    </p:spTree>
    <p:extLst>
      <p:ext uri="{BB962C8B-B14F-4D97-AF65-F5344CB8AC3E}">
        <p14:creationId xmlns:p14="http://schemas.microsoft.com/office/powerpoint/2010/main" val="1254775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E7B7A43-7C93-3176-6B2F-23D5364176B8}"/>
              </a:ext>
            </a:extLst>
          </p:cNvPr>
          <p:cNvSpPr>
            <a:spLocks noGrp="1"/>
          </p:cNvSpPr>
          <p:nvPr>
            <p:ph idx="1"/>
          </p:nvPr>
        </p:nvSpPr>
        <p:spPr>
          <a:xfrm>
            <a:off x="457200" y="692696"/>
            <a:ext cx="8229600" cy="4525963"/>
          </a:xfrm>
        </p:spPr>
        <p:txBody>
          <a:bodyPr/>
          <a:lstStyle/>
          <a:p>
            <a:pPr marL="0" indent="0" algn="just">
              <a:buNone/>
            </a:pPr>
            <a:r>
              <a:rPr lang="es-ES" b="1" dirty="0"/>
              <a:t>🎯 En resumen</a:t>
            </a:r>
          </a:p>
          <a:p>
            <a:pPr marL="0" indent="0" algn="just">
              <a:buNone/>
            </a:pPr>
            <a:r>
              <a:rPr lang="es-ES" dirty="0"/>
              <a:t>La demanda de dinero es:</a:t>
            </a:r>
          </a:p>
          <a:p>
            <a:pPr algn="just"/>
            <a:r>
              <a:rPr lang="es-ES" dirty="0"/>
              <a:t>La cantidad de dinero que los agentes económicos desean mantener, dependiendo principalmente del ingreso y la tasa de interés.</a:t>
            </a:r>
          </a:p>
          <a:p>
            <a:pPr marL="0" indent="0" algn="just">
              <a:buNone/>
            </a:pPr>
            <a:endParaRPr lang="es-PE" dirty="0"/>
          </a:p>
        </p:txBody>
      </p:sp>
    </p:spTree>
    <p:extLst>
      <p:ext uri="{BB962C8B-B14F-4D97-AF65-F5344CB8AC3E}">
        <p14:creationId xmlns:p14="http://schemas.microsoft.com/office/powerpoint/2010/main" val="3635435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6829EC-CC0F-6810-5F19-E57A4B3BE396}"/>
              </a:ext>
            </a:extLst>
          </p:cNvPr>
          <p:cNvSpPr>
            <a:spLocks noGrp="1"/>
          </p:cNvSpPr>
          <p:nvPr>
            <p:ph type="title"/>
          </p:nvPr>
        </p:nvSpPr>
        <p:spPr/>
        <p:txBody>
          <a:bodyPr>
            <a:normAutofit fontScale="90000"/>
          </a:bodyPr>
          <a:lstStyle/>
          <a:p>
            <a:r>
              <a:rPr lang="es-ES" b="1" dirty="0"/>
              <a:t>Teoría Clásica de la Demanda de Dinero</a:t>
            </a:r>
            <a:r>
              <a:rPr lang="es-ES" dirty="0"/>
              <a:t>. </a:t>
            </a:r>
            <a:endParaRPr lang="es-PE" dirty="0"/>
          </a:p>
        </p:txBody>
      </p:sp>
      <p:sp>
        <p:nvSpPr>
          <p:cNvPr id="3" name="Marcador de contenido 2">
            <a:extLst>
              <a:ext uri="{FF2B5EF4-FFF2-40B4-BE49-F238E27FC236}">
                <a16:creationId xmlns:a16="http://schemas.microsoft.com/office/drawing/2014/main" id="{AF930366-F898-414A-4F8E-6211B6269913}"/>
              </a:ext>
            </a:extLst>
          </p:cNvPr>
          <p:cNvSpPr>
            <a:spLocks noGrp="1"/>
          </p:cNvSpPr>
          <p:nvPr>
            <p:ph idx="1"/>
          </p:nvPr>
        </p:nvSpPr>
        <p:spPr/>
        <p:txBody>
          <a:bodyPr>
            <a:normAutofit fontScale="92500" lnSpcReduction="10000"/>
          </a:bodyPr>
          <a:lstStyle/>
          <a:p>
            <a:pPr marL="0" indent="0" algn="just">
              <a:buNone/>
            </a:pPr>
            <a:r>
              <a:rPr lang="es-ES" sz="2400" dirty="0"/>
              <a:t>Aunque hablamos de "escuela clásica" (con autores como Adam Smith o David Ricardo), el enfoque más refinado y el que usualmente se estudia en macroeconomía como "el enfoque clásico" se formalizó a principios del siglo XX por economistas de la llamada </a:t>
            </a:r>
            <a:r>
              <a:rPr lang="es-ES" sz="2400" b="1" dirty="0"/>
              <a:t>Escuela de Cambridge (Marshall, </a:t>
            </a:r>
            <a:r>
              <a:rPr lang="es-ES" sz="2400" b="1" dirty="0" err="1"/>
              <a:t>Pigou</a:t>
            </a:r>
            <a:r>
              <a:rPr lang="es-ES" sz="2400" b="1" dirty="0"/>
              <a:t>)</a:t>
            </a:r>
            <a:r>
              <a:rPr lang="es-ES" sz="2400" dirty="0"/>
              <a:t> y por el economista estadounidense </a:t>
            </a:r>
            <a:r>
              <a:rPr lang="es-ES" sz="2400" b="1" dirty="0"/>
              <a:t>Irving Fisher</a:t>
            </a:r>
            <a:r>
              <a:rPr lang="es-ES" sz="2400" dirty="0"/>
              <a:t>.</a:t>
            </a:r>
          </a:p>
          <a:p>
            <a:pPr marL="0" indent="0" algn="just">
              <a:buNone/>
            </a:pPr>
            <a:endParaRPr lang="es-ES" sz="2400" dirty="0"/>
          </a:p>
          <a:p>
            <a:pPr marL="0" indent="0" algn="just">
              <a:buNone/>
            </a:pPr>
            <a:r>
              <a:rPr lang="es-ES" sz="2400" dirty="0"/>
              <a:t>El enfoque clásico se basa en una idea central: </a:t>
            </a:r>
            <a:r>
              <a:rPr lang="es-ES" sz="2400" b="1" dirty="0"/>
              <a:t>el dinero es principalmente un medio de cambio</a:t>
            </a:r>
            <a:r>
              <a:rPr lang="es-ES" sz="2400" dirty="0"/>
              <a:t>. La gente demanda dinero no por su valor intrínseco, sino para facilitar las transacciones comerciales. Dentro de este enfoque, encontramos dos versiones complementarias: la Teoría Cuantitativa del Dinero (de Fisher) y el Enfoque de Cambridge (de Marshall y </a:t>
            </a:r>
            <a:r>
              <a:rPr lang="es-ES" sz="2400" dirty="0" err="1"/>
              <a:t>Pigou</a:t>
            </a:r>
            <a:r>
              <a:rPr lang="es-ES" sz="2400" dirty="0"/>
              <a:t>).</a:t>
            </a:r>
            <a:br>
              <a:rPr lang="es-ES" sz="2400" dirty="0"/>
            </a:br>
            <a:endParaRPr lang="es-PE" sz="2400" dirty="0"/>
          </a:p>
        </p:txBody>
      </p:sp>
    </p:spTree>
    <p:extLst>
      <p:ext uri="{BB962C8B-B14F-4D97-AF65-F5344CB8AC3E}">
        <p14:creationId xmlns:p14="http://schemas.microsoft.com/office/powerpoint/2010/main" val="3661807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2BE334-5AF5-BDD8-5A1F-F735FE882D4D}"/>
              </a:ext>
            </a:extLst>
          </p:cNvPr>
          <p:cNvSpPr>
            <a:spLocks noGrp="1"/>
          </p:cNvSpPr>
          <p:nvPr>
            <p:ph type="title"/>
          </p:nvPr>
        </p:nvSpPr>
        <p:spPr>
          <a:xfrm>
            <a:off x="539552" y="620688"/>
            <a:ext cx="8229600" cy="360040"/>
          </a:xfrm>
        </p:spPr>
        <p:txBody>
          <a:bodyPr>
            <a:noAutofit/>
          </a:bodyPr>
          <a:lstStyle/>
          <a:p>
            <a:r>
              <a:rPr lang="es-PE" sz="3600" b="1" dirty="0"/>
              <a:t>Supuestos Clásicos</a:t>
            </a:r>
            <a:br>
              <a:rPr lang="es-PE" sz="3600" b="1" dirty="0"/>
            </a:br>
            <a:endParaRPr lang="es-PE" sz="3600"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F1F20623-E6A0-2555-F6F3-7A45B1CC78F9}"/>
                  </a:ext>
                </a:extLst>
              </p:cNvPr>
              <p:cNvSpPr>
                <a:spLocks noGrp="1"/>
              </p:cNvSpPr>
              <p:nvPr>
                <p:ph idx="1"/>
              </p:nvPr>
            </p:nvSpPr>
            <p:spPr>
              <a:xfrm>
                <a:off x="457200" y="1124744"/>
                <a:ext cx="8229600" cy="5001419"/>
              </a:xfrm>
            </p:spPr>
            <p:txBody>
              <a:bodyPr>
                <a:normAutofit fontScale="70000" lnSpcReduction="20000"/>
              </a:bodyPr>
              <a:lstStyle/>
              <a:p>
                <a:pPr marL="0" indent="0" algn="just">
                  <a:buNone/>
                </a:pPr>
                <a:r>
                  <a:rPr lang="es-ES" dirty="0"/>
                  <a:t>Para entender por qué la demanda de dinero funciona como lo plantean los clásicos, debemos partir de sus supuestos macroeconómicos:</a:t>
                </a:r>
              </a:p>
              <a:p>
                <a:pPr algn="just"/>
                <a:r>
                  <a:rPr lang="es-ES" b="1" dirty="0"/>
                  <a:t>Pleno empleo:</a:t>
                </a:r>
                <a:r>
                  <a:rPr lang="es-ES" dirty="0"/>
                  <a:t> La economía tiende naturalmente al pleno empleo de los recursos. Por lo tanto, la producción real (</a:t>
                </a:r>
                <a14:m>
                  <m:oMath xmlns:m="http://schemas.openxmlformats.org/officeDocument/2006/math">
                    <m:r>
                      <a:rPr lang="es-ES" i="1"/>
                      <m:t>𝑌</m:t>
                    </m:r>
                  </m:oMath>
                </a14:m>
                <a:r>
                  <a:rPr lang="es-ES" dirty="0"/>
                  <a:t>) o (</a:t>
                </a:r>
                <a14:m>
                  <m:oMath xmlns:m="http://schemas.openxmlformats.org/officeDocument/2006/math">
                    <m:r>
                      <a:rPr lang="es-ES" i="1"/>
                      <m:t>𝑄</m:t>
                    </m:r>
                  </m:oMath>
                </a14:m>
                <a:r>
                  <a:rPr lang="es-ES" dirty="0"/>
                  <a:t>) es constante en el corto plazo (está en su nivel potencial).</a:t>
                </a:r>
              </a:p>
              <a:p>
                <a:pPr algn="just"/>
                <a:r>
                  <a:rPr lang="es-ES" b="1" dirty="0"/>
                  <a:t>Velocidad constante:</a:t>
                </a:r>
                <a:r>
                  <a:rPr lang="es-ES" dirty="0"/>
                  <a:t> La velocidad de circulación del dinero (</a:t>
                </a:r>
                <a14:m>
                  <m:oMath xmlns:m="http://schemas.openxmlformats.org/officeDocument/2006/math">
                    <m:r>
                      <a:rPr lang="es-ES" i="1"/>
                      <m:t>𝑉</m:t>
                    </m:r>
                  </m:oMath>
                </a14:m>
                <a:r>
                  <a:rPr lang="es-ES" dirty="0"/>
                  <a:t>) es estable y predecible, ya que depende de factores institucionales y tecnológicos (como la frecuencia con que la gente cobra o los hábitos de pago), que cambian muy lentamente.</a:t>
                </a:r>
              </a:p>
              <a:p>
                <a:pPr algn="just"/>
                <a:r>
                  <a:rPr lang="es-ES" b="1" dirty="0"/>
                  <a:t>Dicotomía clásica y neutralidad del dinero:</a:t>
                </a:r>
                <a:r>
                  <a:rPr lang="es-ES" dirty="0"/>
                  <a:t> El sector real (producción, empleo) y el sector monetario (precios) están separados. El dinero solo afecta el nivel general de precios, no las variables reales. Es un "velo".</a:t>
                </a:r>
              </a:p>
              <a:p>
                <a:pPr marL="0" indent="0" algn="just">
                  <a:buNone/>
                </a:pPr>
                <a:endParaRPr lang="es-PE" dirty="0"/>
              </a:p>
            </p:txBody>
          </p:sp>
        </mc:Choice>
        <mc:Fallback>
          <p:sp>
            <p:nvSpPr>
              <p:cNvPr id="3" name="Marcador de contenido 2">
                <a:extLst>
                  <a:ext uri="{FF2B5EF4-FFF2-40B4-BE49-F238E27FC236}">
                    <a16:creationId xmlns:a16="http://schemas.microsoft.com/office/drawing/2014/main" id="{F1F20623-E6A0-2555-F6F3-7A45B1CC78F9}"/>
                  </a:ext>
                </a:extLst>
              </p:cNvPr>
              <p:cNvSpPr>
                <a:spLocks noGrp="1" noRot="1" noChangeAspect="1" noMove="1" noResize="1" noEditPoints="1" noAdjustHandles="1" noChangeArrowheads="1" noChangeShapeType="1" noTextEdit="1"/>
              </p:cNvSpPr>
              <p:nvPr>
                <p:ph idx="1"/>
              </p:nvPr>
            </p:nvSpPr>
            <p:spPr>
              <a:xfrm>
                <a:off x="457200" y="1124744"/>
                <a:ext cx="8229600" cy="5001419"/>
              </a:xfrm>
              <a:blipFill>
                <a:blip r:embed="rId2"/>
                <a:stretch>
                  <a:fillRect l="-963" t="-2073" r="-963"/>
                </a:stretch>
              </a:blipFill>
            </p:spPr>
            <p:txBody>
              <a:bodyPr/>
              <a:lstStyle/>
              <a:p>
                <a:r>
                  <a:rPr lang="es-PE">
                    <a:noFill/>
                  </a:rPr>
                  <a:t> </a:t>
                </a:r>
              </a:p>
            </p:txBody>
          </p:sp>
        </mc:Fallback>
      </mc:AlternateContent>
    </p:spTree>
    <p:extLst>
      <p:ext uri="{BB962C8B-B14F-4D97-AF65-F5344CB8AC3E}">
        <p14:creationId xmlns:p14="http://schemas.microsoft.com/office/powerpoint/2010/main" val="1877202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A6C08C-13EE-00C9-287A-2DA8BE4DD1A0}"/>
              </a:ext>
            </a:extLst>
          </p:cNvPr>
          <p:cNvSpPr>
            <a:spLocks noGrp="1"/>
          </p:cNvSpPr>
          <p:nvPr>
            <p:ph type="title"/>
          </p:nvPr>
        </p:nvSpPr>
        <p:spPr>
          <a:xfrm>
            <a:off x="423455" y="594816"/>
            <a:ext cx="8229600" cy="274042"/>
          </a:xfrm>
        </p:spPr>
        <p:txBody>
          <a:bodyPr>
            <a:noAutofit/>
          </a:bodyPr>
          <a:lstStyle/>
          <a:p>
            <a:r>
              <a:rPr lang="es-PE" sz="3200" b="1" dirty="0"/>
              <a:t>1. La Teoría Cuantitativa del Dinero (Irving Fisher)</a:t>
            </a:r>
            <a:br>
              <a:rPr lang="es-PE" sz="3200" b="1" dirty="0"/>
            </a:br>
            <a:endParaRPr lang="es-PE" sz="3200"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61C96C73-C760-EE63-E7C3-7A9EC276FFCA}"/>
                  </a:ext>
                </a:extLst>
              </p:cNvPr>
              <p:cNvSpPr>
                <a:spLocks noGrp="1"/>
              </p:cNvSpPr>
              <p:nvPr>
                <p:ph idx="1"/>
              </p:nvPr>
            </p:nvSpPr>
            <p:spPr>
              <a:xfrm>
                <a:off x="457200" y="980728"/>
                <a:ext cx="8229600" cy="5145435"/>
              </a:xfrm>
            </p:spPr>
            <p:txBody>
              <a:bodyPr>
                <a:normAutofit fontScale="70000" lnSpcReduction="20000"/>
              </a:bodyPr>
              <a:lstStyle/>
              <a:p>
                <a:pPr marL="0" indent="0" algn="just">
                  <a:buNone/>
                </a:pPr>
                <a:r>
                  <a:rPr lang="es-ES" dirty="0"/>
                  <a:t>Fisher formalizó la relación entre dinero y precios a través de su famosa </a:t>
                </a:r>
                <a:r>
                  <a:rPr lang="es-ES" b="1" dirty="0"/>
                  <a:t>Ecuación de Cambio</a:t>
                </a:r>
                <a:r>
                  <a:rPr lang="es-ES" dirty="0"/>
                  <a:t>:</a:t>
                </a:r>
              </a:p>
              <a:p>
                <a:pPr marL="0" indent="0" algn="just">
                  <a:buNone/>
                </a:pPr>
                <a:r>
                  <a:rPr lang="es-ES" dirty="0"/>
                  <a:t>			</a:t>
                </a:r>
                <a14:m>
                  <m:oMath xmlns:m="http://schemas.openxmlformats.org/officeDocument/2006/math">
                    <m:r>
                      <a:rPr lang="es-ES" i="1"/>
                      <m:t>𝑀</m:t>
                    </m:r>
                    <m:r>
                      <a:rPr lang="es-ES"/>
                      <m:t>⋅</m:t>
                    </m:r>
                    <m:r>
                      <a:rPr lang="es-ES" i="1"/>
                      <m:t>𝑉</m:t>
                    </m:r>
                    <m:r>
                      <a:rPr lang="es-ES"/>
                      <m:t>=</m:t>
                    </m:r>
                    <m:r>
                      <a:rPr lang="es-ES" i="1"/>
                      <m:t>𝑃</m:t>
                    </m:r>
                    <m:r>
                      <a:rPr lang="es-ES"/>
                      <m:t>⋅</m:t>
                    </m:r>
                    <m:r>
                      <a:rPr lang="es-ES" i="1"/>
                      <m:t>𝑇</m:t>
                    </m:r>
                  </m:oMath>
                </a14:m>
                <a:endParaRPr lang="es-ES" dirty="0"/>
              </a:p>
              <a:p>
                <a:pPr marL="0" indent="0" algn="just">
                  <a:buNone/>
                </a:pPr>
                <a:r>
                  <a:rPr lang="es-ES" b="1" dirty="0"/>
                  <a:t>M:</a:t>
                </a:r>
                <a:r>
                  <a:rPr lang="es-ES" dirty="0"/>
                  <a:t> Oferta monetaria (cantidad de dinero en circulación).</a:t>
                </a:r>
              </a:p>
              <a:p>
                <a:pPr marL="0" indent="0" algn="just">
                  <a:buNone/>
                </a:pPr>
                <a:r>
                  <a:rPr lang="es-ES" b="1" dirty="0"/>
                  <a:t>V:</a:t>
                </a:r>
                <a:r>
                  <a:rPr lang="es-ES" dirty="0"/>
                  <a:t> Velocidad de circulación del dinero (número de veces que una unidad monetaria cambia de manos en un período).</a:t>
                </a:r>
              </a:p>
              <a:p>
                <a:pPr marL="0" indent="0" algn="just">
                  <a:buNone/>
                </a:pPr>
                <a:r>
                  <a:rPr lang="es-ES" b="1" dirty="0"/>
                  <a:t>P:</a:t>
                </a:r>
                <a:r>
                  <a:rPr lang="es-ES" dirty="0"/>
                  <a:t> Nivel general de precios.</a:t>
                </a:r>
              </a:p>
              <a:p>
                <a:pPr marL="0" indent="0" algn="just">
                  <a:buNone/>
                </a:pPr>
                <a:r>
                  <a:rPr lang="es-ES" b="1" dirty="0"/>
                  <a:t>T:</a:t>
                </a:r>
                <a:r>
                  <a:rPr lang="es-ES" dirty="0"/>
                  <a:t> Volumen de transacciones de la economía (bienes, servicios y activos financieros).</a:t>
                </a:r>
              </a:p>
              <a:p>
                <a:pPr marL="0" indent="0" algn="just">
                  <a:buNone/>
                </a:pPr>
                <a:endParaRPr lang="es-ES" dirty="0"/>
              </a:p>
              <a:p>
                <a:pPr marL="0" indent="0" algn="just">
                  <a:buNone/>
                </a:pPr>
                <a:r>
                  <a:rPr lang="es-ES" dirty="0"/>
                  <a:t>Posteriormente, para simplificar, se suele sustituir </a:t>
                </a:r>
                <a14:m>
                  <m:oMath xmlns:m="http://schemas.openxmlformats.org/officeDocument/2006/math">
                    <m:r>
                      <a:rPr lang="es-ES" i="1"/>
                      <m:t>𝑇</m:t>
                    </m:r>
                  </m:oMath>
                </a14:m>
                <a:r>
                  <a:rPr lang="es-ES" dirty="0"/>
                  <a:t> (transacciones) por </a:t>
                </a:r>
                <a14:m>
                  <m:oMath xmlns:m="http://schemas.openxmlformats.org/officeDocument/2006/math">
                    <m:r>
                      <a:rPr lang="es-ES" i="1"/>
                      <m:t>𝑌</m:t>
                    </m:r>
                  </m:oMath>
                </a14:m>
                <a:r>
                  <a:rPr lang="es-ES" dirty="0"/>
                  <a:t> (producción o renta nacional), asumiendo que las transacciones son proporcionales a la renta.</a:t>
                </a:r>
              </a:p>
              <a:p>
                <a:pPr marL="0" indent="0" algn="just">
                  <a:buNone/>
                </a:pPr>
                <a14:m>
                  <m:oMathPara xmlns:m="http://schemas.openxmlformats.org/officeDocument/2006/math">
                    <m:oMathParaPr>
                      <m:jc m:val="centerGroup"/>
                    </m:oMathParaPr>
                    <m:oMath xmlns:m="http://schemas.openxmlformats.org/officeDocument/2006/math">
                      <m:r>
                        <a:rPr lang="es-ES" i="1"/>
                        <m:t>𝑀</m:t>
                      </m:r>
                      <m:r>
                        <a:rPr lang="es-ES"/>
                        <m:t>⋅</m:t>
                      </m:r>
                      <m:r>
                        <a:rPr lang="es-ES" i="1"/>
                        <m:t>𝑉</m:t>
                      </m:r>
                      <m:r>
                        <a:rPr lang="es-ES"/>
                        <m:t>=</m:t>
                      </m:r>
                      <m:r>
                        <a:rPr lang="es-ES" i="1"/>
                        <m:t>𝑃</m:t>
                      </m:r>
                      <m:r>
                        <a:rPr lang="es-ES"/>
                        <m:t>⋅</m:t>
                      </m:r>
                      <m:r>
                        <a:rPr lang="es-ES" i="1"/>
                        <m:t>𝑌</m:t>
                      </m:r>
                    </m:oMath>
                  </m:oMathPara>
                </a14:m>
                <a:endParaRPr lang="es-ES" dirty="0"/>
              </a:p>
              <a:p>
                <a:pPr marL="0" indent="0" algn="just">
                  <a:buNone/>
                </a:pPr>
                <a:endParaRPr lang="es-PE" dirty="0"/>
              </a:p>
            </p:txBody>
          </p:sp>
        </mc:Choice>
        <mc:Fallback>
          <p:sp>
            <p:nvSpPr>
              <p:cNvPr id="3" name="Marcador de contenido 2">
                <a:extLst>
                  <a:ext uri="{FF2B5EF4-FFF2-40B4-BE49-F238E27FC236}">
                    <a16:creationId xmlns:a16="http://schemas.microsoft.com/office/drawing/2014/main" id="{61C96C73-C760-EE63-E7C3-7A9EC276FFCA}"/>
                  </a:ext>
                </a:extLst>
              </p:cNvPr>
              <p:cNvSpPr>
                <a:spLocks noGrp="1" noRot="1" noChangeAspect="1" noMove="1" noResize="1" noEditPoints="1" noAdjustHandles="1" noChangeArrowheads="1" noChangeShapeType="1" noTextEdit="1"/>
              </p:cNvSpPr>
              <p:nvPr>
                <p:ph idx="1"/>
              </p:nvPr>
            </p:nvSpPr>
            <p:spPr>
              <a:xfrm>
                <a:off x="457200" y="980728"/>
                <a:ext cx="8229600" cy="5145435"/>
              </a:xfrm>
              <a:blipFill>
                <a:blip r:embed="rId2"/>
                <a:stretch>
                  <a:fillRect l="-963" t="-2014" r="-963"/>
                </a:stretch>
              </a:blipFill>
            </p:spPr>
            <p:txBody>
              <a:bodyPr/>
              <a:lstStyle/>
              <a:p>
                <a:r>
                  <a:rPr lang="es-PE">
                    <a:noFill/>
                  </a:rPr>
                  <a:t> </a:t>
                </a:r>
              </a:p>
            </p:txBody>
          </p:sp>
        </mc:Fallback>
      </mc:AlternateContent>
    </p:spTree>
    <p:extLst>
      <p:ext uri="{BB962C8B-B14F-4D97-AF65-F5344CB8AC3E}">
        <p14:creationId xmlns:p14="http://schemas.microsoft.com/office/powerpoint/2010/main" val="3395153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B5C766-67C9-3167-55B2-970617969F10}"/>
              </a:ext>
            </a:extLst>
          </p:cNvPr>
          <p:cNvSpPr>
            <a:spLocks noGrp="1"/>
          </p:cNvSpPr>
          <p:nvPr>
            <p:ph type="title"/>
          </p:nvPr>
        </p:nvSpPr>
        <p:spPr>
          <a:xfrm>
            <a:off x="257457" y="562670"/>
            <a:ext cx="8429343" cy="634082"/>
          </a:xfrm>
        </p:spPr>
        <p:txBody>
          <a:bodyPr>
            <a:noAutofit/>
          </a:bodyPr>
          <a:lstStyle/>
          <a:p>
            <a:r>
              <a:rPr lang="es-ES" sz="3200" b="1" dirty="0"/>
              <a:t>¿Cómo se deduce la demanda de dinero desde aquí?</a:t>
            </a:r>
            <a:br>
              <a:rPr lang="es-ES" sz="3200" b="1" dirty="0"/>
            </a:br>
            <a:endParaRPr lang="es-PE" sz="3200"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B84A6345-6606-AE38-B887-19F421D3EE5F}"/>
                  </a:ext>
                </a:extLst>
              </p:cNvPr>
              <p:cNvSpPr>
                <a:spLocks noGrp="1"/>
              </p:cNvSpPr>
              <p:nvPr>
                <p:ph idx="1"/>
              </p:nvPr>
            </p:nvSpPr>
            <p:spPr>
              <a:xfrm>
                <a:off x="457200" y="1196752"/>
                <a:ext cx="8229600" cy="4929411"/>
              </a:xfrm>
            </p:spPr>
            <p:txBody>
              <a:bodyPr>
                <a:normAutofit fontScale="92500"/>
              </a:bodyPr>
              <a:lstStyle/>
              <a:p>
                <a:pPr marL="0" indent="0" algn="just">
                  <a:buNone/>
                </a:pPr>
                <a:r>
                  <a:rPr lang="es-PE" dirty="0"/>
                  <a:t>La ecuación de Fisher es una identidad contable, pero los clásicos la convierten en una </a:t>
                </a:r>
                <a:r>
                  <a:rPr lang="es-PE" b="1" dirty="0"/>
                  <a:t>teoría de la demanda de dinero</a:t>
                </a:r>
                <a:r>
                  <a:rPr lang="es-PE" dirty="0"/>
                  <a:t> gracias a sus supuestos.</a:t>
                </a:r>
              </a:p>
              <a:p>
                <a:pPr algn="just"/>
                <a:r>
                  <a:rPr lang="es-PE" dirty="0"/>
                  <a:t>Si asumimos que </a:t>
                </a:r>
                <a14:m>
                  <m:oMath xmlns:m="http://schemas.openxmlformats.org/officeDocument/2006/math">
                    <m:r>
                      <a:rPr lang="es-PE" i="1"/>
                      <m:t>𝑉</m:t>
                    </m:r>
                  </m:oMath>
                </a14:m>
                <a:r>
                  <a:rPr lang="es-PE" dirty="0"/>
                  <a:t> y </a:t>
                </a:r>
                <a14:m>
                  <m:oMath xmlns:m="http://schemas.openxmlformats.org/officeDocument/2006/math">
                    <m:r>
                      <a:rPr lang="es-PE" i="1"/>
                      <m:t>𝑌</m:t>
                    </m:r>
                  </m:oMath>
                </a14:m>
                <a:r>
                  <a:rPr lang="es-PE" dirty="0"/>
                  <a:t> son constantes (o al menos independientes de </a:t>
                </a:r>
                <a14:m>
                  <m:oMath xmlns:m="http://schemas.openxmlformats.org/officeDocument/2006/math">
                    <m:r>
                      <a:rPr lang="es-PE" i="1"/>
                      <m:t>𝑀</m:t>
                    </m:r>
                  </m:oMath>
                </a14:m>
                <a:r>
                  <a:rPr lang="es-PE" dirty="0"/>
                  <a:t>), entonces la ecuación se transforma en una relación proporcional entre la cantidad de dinero (</a:t>
                </a:r>
                <a14:m>
                  <m:oMath xmlns:m="http://schemas.openxmlformats.org/officeDocument/2006/math">
                    <m:r>
                      <a:rPr lang="es-PE" i="1"/>
                      <m:t>𝑀</m:t>
                    </m:r>
                  </m:oMath>
                </a14:m>
                <a:r>
                  <a:rPr lang="es-PE" dirty="0"/>
                  <a:t>) y el nivel de precios (</a:t>
                </a:r>
                <a14:m>
                  <m:oMath xmlns:m="http://schemas.openxmlformats.org/officeDocument/2006/math">
                    <m:r>
                      <a:rPr lang="es-PE" i="1"/>
                      <m:t>𝑃</m:t>
                    </m:r>
                  </m:oMath>
                </a14:m>
                <a:r>
                  <a:rPr lang="es-PE" dirty="0"/>
                  <a:t>).</a:t>
                </a:r>
              </a:p>
              <a:p>
                <a:pPr algn="just"/>
                <a:r>
                  <a:rPr lang="es-PE" dirty="0"/>
                  <a:t>Despejando </a:t>
                </a:r>
                <a14:m>
                  <m:oMath xmlns:m="http://schemas.openxmlformats.org/officeDocument/2006/math">
                    <m:r>
                      <a:rPr lang="es-PE" i="1"/>
                      <m:t>𝑀</m:t>
                    </m:r>
                  </m:oMath>
                </a14:m>
                <a:r>
                  <a:rPr lang="es-PE" dirty="0"/>
                  <a:t> (que en equilibrio es igual a la demanda de dinero, </a:t>
                </a:r>
                <a14:m>
                  <m:oMath xmlns:m="http://schemas.openxmlformats.org/officeDocument/2006/math">
                    <m:sSup>
                      <m:sSupPr>
                        <m:ctrlPr>
                          <a:rPr lang="ar-AE"/>
                        </m:ctrlPr>
                      </m:sSupPr>
                      <m:e>
                        <m:r>
                          <a:rPr lang="ar-AE" i="1"/>
                          <m:t>𝑀</m:t>
                        </m:r>
                      </m:e>
                      <m:sup>
                        <m:r>
                          <a:rPr lang="ar-AE" i="1"/>
                          <m:t>𝑑</m:t>
                        </m:r>
                      </m:sup>
                    </m:sSup>
                  </m:oMath>
                </a14:m>
                <a:r>
                  <a:rPr lang="ar-AE" dirty="0"/>
                  <a:t>)</a:t>
                </a:r>
                <a:r>
                  <a:rPr lang="es-PE" dirty="0"/>
                  <a:t> obtenemos: M</a:t>
                </a:r>
                <a:r>
                  <a:rPr lang="es-PE" baseline="30000" dirty="0"/>
                  <a:t>D</a:t>
                </a:r>
                <a:r>
                  <a:rPr lang="es-PE" dirty="0"/>
                  <a:t>=P.Y/V)</a:t>
                </a:r>
              </a:p>
              <a:p>
                <a:pPr marL="0" indent="0" algn="just">
                  <a:buNone/>
                </a:pPr>
                <a:endParaRPr lang="es-PE" dirty="0"/>
              </a:p>
              <a:p>
                <a:pPr marL="0" indent="0" algn="just">
                  <a:buNone/>
                </a:pPr>
                <a:endParaRPr lang="es-PE" dirty="0"/>
              </a:p>
            </p:txBody>
          </p:sp>
        </mc:Choice>
        <mc:Fallback>
          <p:sp>
            <p:nvSpPr>
              <p:cNvPr id="3" name="Marcador de contenido 2">
                <a:extLst>
                  <a:ext uri="{FF2B5EF4-FFF2-40B4-BE49-F238E27FC236}">
                    <a16:creationId xmlns:a16="http://schemas.microsoft.com/office/drawing/2014/main" id="{B84A6345-6606-AE38-B887-19F421D3EE5F}"/>
                  </a:ext>
                </a:extLst>
              </p:cNvPr>
              <p:cNvSpPr>
                <a:spLocks noGrp="1" noRot="1" noChangeAspect="1" noMove="1" noResize="1" noEditPoints="1" noAdjustHandles="1" noChangeArrowheads="1" noChangeShapeType="1" noTextEdit="1"/>
              </p:cNvSpPr>
              <p:nvPr>
                <p:ph idx="1"/>
              </p:nvPr>
            </p:nvSpPr>
            <p:spPr>
              <a:xfrm>
                <a:off x="457200" y="1196752"/>
                <a:ext cx="8229600" cy="4929411"/>
              </a:xfrm>
              <a:blipFill>
                <a:blip r:embed="rId2"/>
                <a:stretch>
                  <a:fillRect l="-1704" t="-1483" r="-1704" b="-2349"/>
                </a:stretch>
              </a:blipFill>
            </p:spPr>
            <p:txBody>
              <a:bodyPr/>
              <a:lstStyle/>
              <a:p>
                <a:r>
                  <a:rPr lang="es-PE">
                    <a:noFill/>
                  </a:rPr>
                  <a:t> </a:t>
                </a:r>
              </a:p>
            </p:txBody>
          </p:sp>
        </mc:Fallback>
      </mc:AlternateContent>
    </p:spTree>
    <p:extLst>
      <p:ext uri="{BB962C8B-B14F-4D97-AF65-F5344CB8AC3E}">
        <p14:creationId xmlns:p14="http://schemas.microsoft.com/office/powerpoint/2010/main" val="4259905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AD870DA3-AC42-EE86-1268-6578F821BB30}"/>
                  </a:ext>
                </a:extLst>
              </p:cNvPr>
              <p:cNvSpPr>
                <a:spLocks noGrp="1"/>
              </p:cNvSpPr>
              <p:nvPr>
                <p:ph idx="1"/>
              </p:nvPr>
            </p:nvSpPr>
            <p:spPr>
              <a:xfrm>
                <a:off x="457200" y="404664"/>
                <a:ext cx="8229600" cy="5721499"/>
              </a:xfrm>
            </p:spPr>
            <p:txBody>
              <a:bodyPr>
                <a:normAutofit fontScale="92500" lnSpcReduction="10000"/>
              </a:bodyPr>
              <a:lstStyle/>
              <a:p>
                <a:pPr marL="0" indent="0" algn="just">
                  <a:buNone/>
                </a:pPr>
                <a:r>
                  <a:rPr lang="es-PE" b="1" dirty="0"/>
                  <a:t>Interpretación de Fisher:</a:t>
                </a:r>
              </a:p>
              <a:p>
                <a:pPr algn="just"/>
                <a:r>
                  <a:rPr lang="es-PE" dirty="0"/>
                  <a:t>La demanda de dinero (</a:t>
                </a:r>
                <a14:m>
                  <m:oMath xmlns:m="http://schemas.openxmlformats.org/officeDocument/2006/math">
                    <m:sSup>
                      <m:sSupPr>
                        <m:ctrlPr>
                          <a:rPr lang="ar-AE"/>
                        </m:ctrlPr>
                      </m:sSupPr>
                      <m:e>
                        <m:r>
                          <a:rPr lang="ar-AE" i="1"/>
                          <m:t>𝑀</m:t>
                        </m:r>
                      </m:e>
                      <m:sup>
                        <m:r>
                          <a:rPr lang="ar-AE" i="1"/>
                          <m:t>𝑑</m:t>
                        </m:r>
                      </m:sup>
                    </m:sSup>
                    <m:r>
                      <a:rPr lang="es-PE" b="0" i="0" smtClean="0">
                        <a:latin typeface="Cambria Math" panose="02040503050406030204" pitchFamily="18" charset="0"/>
                      </a:rPr>
                      <m:t>)</m:t>
                    </m:r>
                  </m:oMath>
                </a14:m>
                <a:r>
                  <a:rPr lang="ar-AE" dirty="0"/>
                  <a:t> </a:t>
                </a:r>
                <a:r>
                  <a:rPr lang="es-PE" dirty="0"/>
                  <a:t>es una </a:t>
                </a:r>
                <a:r>
                  <a:rPr lang="es-PE" b="1" dirty="0"/>
                  <a:t>demanda para transacciones</a:t>
                </a:r>
                <a:r>
                  <a:rPr lang="es-PE" dirty="0"/>
                  <a:t>. La gente necesita dinero para comprar el producto nacional (</a:t>
                </a:r>
                <a14:m>
                  <m:oMath xmlns:m="http://schemas.openxmlformats.org/officeDocument/2006/math">
                    <m:r>
                      <a:rPr lang="es-PE" i="1"/>
                      <m:t>𝑃</m:t>
                    </m:r>
                    <m:r>
                      <a:rPr lang="es-PE"/>
                      <m:t>⋅</m:t>
                    </m:r>
                    <m:r>
                      <a:rPr lang="es-PE" i="1"/>
                      <m:t>𝑌</m:t>
                    </m:r>
                  </m:oMath>
                </a14:m>
                <a:r>
                  <a:rPr lang="es-PE" dirty="0"/>
                  <a:t>).</a:t>
                </a:r>
              </a:p>
              <a:p>
                <a:pPr algn="just"/>
                <a:r>
                  <a:rPr lang="es-PE" dirty="0"/>
                  <a:t>Es directamente proporcional al nivel de precios (</a:t>
                </a:r>
                <a14:m>
                  <m:oMath xmlns:m="http://schemas.openxmlformats.org/officeDocument/2006/math">
                    <m:r>
                      <a:rPr lang="es-PE" i="1"/>
                      <m:t>𝑃</m:t>
                    </m:r>
                  </m:oMath>
                </a14:m>
                <a:r>
                  <a:rPr lang="es-PE" dirty="0"/>
                  <a:t>) y a la renta real (</a:t>
                </a:r>
                <a14:m>
                  <m:oMath xmlns:m="http://schemas.openxmlformats.org/officeDocument/2006/math">
                    <m:r>
                      <a:rPr lang="es-PE" i="1"/>
                      <m:t>𝑌</m:t>
                    </m:r>
                  </m:oMath>
                </a14:m>
                <a:r>
                  <a:rPr lang="es-PE" dirty="0"/>
                  <a:t>).</a:t>
                </a:r>
              </a:p>
              <a:p>
                <a:pPr algn="just"/>
                <a:r>
                  <a:rPr lang="es-PE" dirty="0"/>
                  <a:t>Es inversamente proporcional a la velocidad (</a:t>
                </a:r>
                <a14:m>
                  <m:oMath xmlns:m="http://schemas.openxmlformats.org/officeDocument/2006/math">
                    <m:r>
                      <a:rPr lang="es-PE" i="1"/>
                      <m:t>𝑉</m:t>
                    </m:r>
                  </m:oMath>
                </a14:m>
                <a:r>
                  <a:rPr lang="es-PE" dirty="0"/>
                  <a:t>).</a:t>
                </a:r>
              </a:p>
              <a:p>
                <a:pPr marL="0" indent="0" algn="just">
                  <a:buNone/>
                </a:pPr>
                <a:r>
                  <a:rPr lang="es-PE" b="1" dirty="0"/>
                  <a:t>Conclusión clave:</a:t>
                </a:r>
                <a:r>
                  <a:rPr lang="es-PE" dirty="0"/>
                  <a:t> La demanda de dinero es una función estable y predecible. Dado que </a:t>
                </a:r>
                <a14:m>
                  <m:oMath xmlns:m="http://schemas.openxmlformats.org/officeDocument/2006/math">
                    <m:r>
                      <a:rPr lang="es-PE" i="1"/>
                      <m:t>𝑉</m:t>
                    </m:r>
                  </m:oMath>
                </a14:m>
                <a:r>
                  <a:rPr lang="es-PE" dirty="0"/>
                  <a:t> es constante, la única razón por la que la gente querría tener más dinero nominal (</a:t>
                </a:r>
                <a14:m>
                  <m:oMath xmlns:m="http://schemas.openxmlformats.org/officeDocument/2006/math">
                    <m:sSup>
                      <m:sSupPr>
                        <m:ctrlPr>
                          <a:rPr lang="ar-AE"/>
                        </m:ctrlPr>
                      </m:sSupPr>
                      <m:e>
                        <m:r>
                          <a:rPr lang="ar-AE" i="1"/>
                          <m:t>𝑀</m:t>
                        </m:r>
                      </m:e>
                      <m:sup>
                        <m:r>
                          <a:rPr lang="ar-AE" i="1"/>
                          <m:t>𝑑</m:t>
                        </m:r>
                      </m:sup>
                    </m:sSup>
                  </m:oMath>
                </a14:m>
                <a:r>
                  <a:rPr lang="es-PE" dirty="0"/>
                  <a:t>)</a:t>
                </a:r>
                <a:r>
                  <a:rPr lang="ar-AE" dirty="0"/>
                  <a:t> </a:t>
                </a:r>
                <a:r>
                  <a:rPr lang="es-PE" dirty="0"/>
                  <a:t>es si suben los precios (</a:t>
                </a:r>
                <a14:m>
                  <m:oMath xmlns:m="http://schemas.openxmlformats.org/officeDocument/2006/math">
                    <m:r>
                      <a:rPr lang="es-PE" i="1"/>
                      <m:t>𝑃</m:t>
                    </m:r>
                  </m:oMath>
                </a14:m>
                <a:r>
                  <a:rPr lang="es-PE" dirty="0"/>
                  <a:t>) o aumenta la producción (</a:t>
                </a:r>
                <a14:m>
                  <m:oMath xmlns:m="http://schemas.openxmlformats.org/officeDocument/2006/math">
                    <m:r>
                      <a:rPr lang="es-PE" i="1"/>
                      <m:t>𝑌</m:t>
                    </m:r>
                  </m:oMath>
                </a14:m>
                <a:r>
                  <a:rPr lang="es-PE" dirty="0"/>
                  <a:t>).</a:t>
                </a:r>
              </a:p>
              <a:p>
                <a:pPr marL="0" indent="0" algn="just">
                  <a:buNone/>
                </a:pPr>
                <a:endParaRPr lang="es-PE" dirty="0"/>
              </a:p>
            </p:txBody>
          </p:sp>
        </mc:Choice>
        <mc:Fallback>
          <p:sp>
            <p:nvSpPr>
              <p:cNvPr id="3" name="Marcador de contenido 2">
                <a:extLst>
                  <a:ext uri="{FF2B5EF4-FFF2-40B4-BE49-F238E27FC236}">
                    <a16:creationId xmlns:a16="http://schemas.microsoft.com/office/drawing/2014/main" id="{AD870DA3-AC42-EE86-1268-6578F821BB30}"/>
                  </a:ext>
                </a:extLst>
              </p:cNvPr>
              <p:cNvSpPr>
                <a:spLocks noGrp="1" noRot="1" noChangeAspect="1" noMove="1" noResize="1" noEditPoints="1" noAdjustHandles="1" noChangeArrowheads="1" noChangeShapeType="1" noTextEdit="1"/>
              </p:cNvSpPr>
              <p:nvPr>
                <p:ph idx="1"/>
              </p:nvPr>
            </p:nvSpPr>
            <p:spPr>
              <a:xfrm>
                <a:off x="457200" y="404664"/>
                <a:ext cx="8229600" cy="5721499"/>
              </a:xfrm>
              <a:blipFill>
                <a:blip r:embed="rId2"/>
                <a:stretch>
                  <a:fillRect l="-1704" t="-2130" r="-1704"/>
                </a:stretch>
              </a:blipFill>
            </p:spPr>
            <p:txBody>
              <a:bodyPr/>
              <a:lstStyle/>
              <a:p>
                <a:r>
                  <a:rPr lang="es-PE">
                    <a:noFill/>
                  </a:rPr>
                  <a:t> </a:t>
                </a:r>
              </a:p>
            </p:txBody>
          </p:sp>
        </mc:Fallback>
      </mc:AlternateContent>
    </p:spTree>
    <p:extLst>
      <p:ext uri="{BB962C8B-B14F-4D97-AF65-F5344CB8AC3E}">
        <p14:creationId xmlns:p14="http://schemas.microsoft.com/office/powerpoint/2010/main" val="2536857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CBD2E9A-BAEE-18A2-9A37-EB5C13811E01}"/>
              </a:ext>
            </a:extLst>
          </p:cNvPr>
          <p:cNvSpPr>
            <a:spLocks noGrp="1"/>
          </p:cNvSpPr>
          <p:nvPr>
            <p:ph idx="1"/>
          </p:nvPr>
        </p:nvSpPr>
        <p:spPr>
          <a:xfrm>
            <a:off x="457200" y="764704"/>
            <a:ext cx="8229600" cy="4525963"/>
          </a:xfrm>
        </p:spPr>
        <p:txBody>
          <a:bodyPr/>
          <a:lstStyle/>
          <a:p>
            <a:r>
              <a:rPr lang="es-ES" b="1" dirty="0"/>
              <a:t>Crítica a Fisher:</a:t>
            </a:r>
            <a:r>
              <a:rPr lang="es-ES" dirty="0"/>
              <a:t> Se centra en el aspecto institucional (la velocidad) y no explica el comportamiento individual. ¿Por qué un individuo </a:t>
            </a:r>
            <a:r>
              <a:rPr lang="es-ES" i="1" dirty="0"/>
              <a:t>decide</a:t>
            </a:r>
            <a:r>
              <a:rPr lang="es-ES" dirty="0"/>
              <a:t> tener dinero en el bolsillo?</a:t>
            </a:r>
            <a:endParaRPr lang="es-PE" dirty="0"/>
          </a:p>
        </p:txBody>
      </p:sp>
    </p:spTree>
    <p:extLst>
      <p:ext uri="{BB962C8B-B14F-4D97-AF65-F5344CB8AC3E}">
        <p14:creationId xmlns:p14="http://schemas.microsoft.com/office/powerpoint/2010/main" val="3209568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38F704C-7E60-DE46-423A-C824AE57D78F}"/>
              </a:ext>
            </a:extLst>
          </p:cNvPr>
          <p:cNvSpPr>
            <a:spLocks noGrp="1"/>
          </p:cNvSpPr>
          <p:nvPr>
            <p:ph idx="1"/>
          </p:nvPr>
        </p:nvSpPr>
        <p:spPr>
          <a:xfrm>
            <a:off x="457200" y="476672"/>
            <a:ext cx="8229600" cy="5649491"/>
          </a:xfrm>
        </p:spPr>
        <p:txBody>
          <a:bodyPr>
            <a:normAutofit lnSpcReduction="10000"/>
          </a:bodyPr>
          <a:lstStyle/>
          <a:p>
            <a:pPr marL="0" indent="0" algn="just">
              <a:buNone/>
            </a:pPr>
            <a:r>
              <a:rPr lang="es-ES" b="1" dirty="0"/>
              <a:t>EJERCICIO 1: CÁLCULO BÁSICO DE LA DEMANDA DE DINERO</a:t>
            </a:r>
          </a:p>
          <a:p>
            <a:pPr marL="0" indent="0" algn="just">
              <a:buNone/>
            </a:pPr>
            <a:r>
              <a:rPr lang="es-ES" dirty="0"/>
              <a:t>En una economía hipotética, el Producto Interno Bruto (PIB) real es de 500.000 unidades monetarias. El nivel general de precios es 2. La velocidad de circulación del dinero es de 5. Se pide:</a:t>
            </a:r>
          </a:p>
          <a:p>
            <a:pPr marL="0" indent="0" algn="just">
              <a:buNone/>
            </a:pPr>
            <a:r>
              <a:rPr lang="es-ES" dirty="0"/>
              <a:t>a) Calcular la demanda de dinero nominal según el enfoque de Fisher.</a:t>
            </a:r>
            <a:br>
              <a:rPr lang="es-ES" dirty="0"/>
            </a:br>
            <a:r>
              <a:rPr lang="es-ES" dirty="0"/>
              <a:t>b) Determinar el PIB nominal de la economía.</a:t>
            </a:r>
            <a:br>
              <a:rPr lang="es-ES" dirty="0"/>
            </a:br>
            <a:r>
              <a:rPr lang="es-ES" dirty="0"/>
              <a:t>c) Interpretar el significado económico del resultado obtenido.</a:t>
            </a:r>
          </a:p>
          <a:p>
            <a:pPr marL="0" indent="0" algn="just">
              <a:buNone/>
            </a:pPr>
            <a:endParaRPr lang="es-PE" dirty="0"/>
          </a:p>
        </p:txBody>
      </p:sp>
    </p:spTree>
    <p:extLst>
      <p:ext uri="{BB962C8B-B14F-4D97-AF65-F5344CB8AC3E}">
        <p14:creationId xmlns:p14="http://schemas.microsoft.com/office/powerpoint/2010/main" val="1025981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2E0D2B0-4EF3-B2CB-BC55-0A8FCD8DCF6E}"/>
              </a:ext>
            </a:extLst>
          </p:cNvPr>
          <p:cNvSpPr>
            <a:spLocks noGrp="1"/>
          </p:cNvSpPr>
          <p:nvPr>
            <p:ph idx="1"/>
          </p:nvPr>
        </p:nvSpPr>
        <p:spPr>
          <a:xfrm>
            <a:off x="457200" y="404664"/>
            <a:ext cx="8229600" cy="5721499"/>
          </a:xfrm>
        </p:spPr>
        <p:txBody>
          <a:bodyPr>
            <a:normAutofit fontScale="70000" lnSpcReduction="20000"/>
          </a:bodyPr>
          <a:lstStyle/>
          <a:p>
            <a:pPr marL="0" indent="0" algn="just">
              <a:buNone/>
            </a:pPr>
            <a:r>
              <a:rPr lang="es-ES" b="1" dirty="0"/>
              <a:t>EJERCICIO 2: ANÁLISIS COMPARATIVO Y PROYECCIONES</a:t>
            </a:r>
          </a:p>
          <a:p>
            <a:pPr marL="0" indent="0" algn="just">
              <a:buNone/>
            </a:pPr>
            <a:br>
              <a:rPr lang="es-ES" dirty="0"/>
            </a:br>
            <a:r>
              <a:rPr lang="es-ES" dirty="0"/>
              <a:t>Un país tiene los siguientes datos para el año base:</a:t>
            </a:r>
          </a:p>
          <a:p>
            <a:pPr algn="just"/>
            <a:r>
              <a:rPr lang="es-ES" dirty="0"/>
              <a:t>PIB real: 800.000 millones de euros</a:t>
            </a:r>
          </a:p>
          <a:p>
            <a:pPr algn="just"/>
            <a:r>
              <a:rPr lang="es-ES" dirty="0"/>
              <a:t>Velocidad del dinero: 4</a:t>
            </a:r>
          </a:p>
          <a:p>
            <a:pPr algn="just"/>
            <a:r>
              <a:rPr lang="es-ES" dirty="0"/>
              <a:t>Oferta monetaria: 300.000 millones de euros</a:t>
            </a:r>
          </a:p>
          <a:p>
            <a:pPr algn="just"/>
            <a:r>
              <a:rPr lang="es-ES" dirty="0"/>
              <a:t>Para el próximo año, se espera:</a:t>
            </a:r>
          </a:p>
          <a:p>
            <a:pPr algn="just"/>
            <a:r>
              <a:rPr lang="es-ES" dirty="0"/>
              <a:t>El PIB real crecerá un 3%</a:t>
            </a:r>
          </a:p>
          <a:p>
            <a:pPr algn="just"/>
            <a:r>
              <a:rPr lang="es-ES" dirty="0"/>
              <a:t>La velocidad del dinero se mantendrá constante</a:t>
            </a:r>
          </a:p>
          <a:p>
            <a:pPr algn="just"/>
            <a:r>
              <a:rPr lang="es-ES" dirty="0"/>
              <a:t>Las autoridades monetarias planean aumentar la oferta monetaria en un 8%</a:t>
            </a:r>
          </a:p>
          <a:p>
            <a:pPr marL="0" indent="0" algn="just">
              <a:buNone/>
            </a:pPr>
            <a:r>
              <a:rPr lang="es-ES" dirty="0"/>
              <a:t>Según la teoría cuantitativa de Fisher, determine:</a:t>
            </a:r>
          </a:p>
          <a:p>
            <a:pPr marL="0" indent="0" algn="just">
              <a:buNone/>
            </a:pPr>
            <a:r>
              <a:rPr lang="es-ES" dirty="0"/>
              <a:t>a) El nivel de precios en el año base.</a:t>
            </a:r>
            <a:br>
              <a:rPr lang="es-ES" dirty="0"/>
            </a:br>
            <a:r>
              <a:rPr lang="es-ES" dirty="0"/>
              <a:t>b) La tasa de inflación esperada para el próximo año.</a:t>
            </a:r>
            <a:br>
              <a:rPr lang="es-ES" dirty="0"/>
            </a:br>
            <a:r>
              <a:rPr lang="es-ES" dirty="0"/>
              <a:t>c) La nueva demanda de dinero nominal para el próximo año.</a:t>
            </a:r>
            <a:br>
              <a:rPr lang="es-ES" dirty="0"/>
            </a:br>
            <a:r>
              <a:rPr lang="es-ES" dirty="0"/>
              <a:t>d) Verifique si se cumple la ecuación de cambio en ambos períodos.</a:t>
            </a:r>
          </a:p>
          <a:p>
            <a:pPr marL="0" indent="0" algn="just">
              <a:buNone/>
            </a:pPr>
            <a:endParaRPr lang="es-PE" dirty="0"/>
          </a:p>
        </p:txBody>
      </p:sp>
    </p:spTree>
    <p:extLst>
      <p:ext uri="{BB962C8B-B14F-4D97-AF65-F5344CB8AC3E}">
        <p14:creationId xmlns:p14="http://schemas.microsoft.com/office/powerpoint/2010/main" val="2436197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ABAA67-2F33-5D31-563A-5436DB6DDEFC}"/>
              </a:ext>
            </a:extLst>
          </p:cNvPr>
          <p:cNvSpPr>
            <a:spLocks noGrp="1"/>
          </p:cNvSpPr>
          <p:nvPr>
            <p:ph type="title"/>
          </p:nvPr>
        </p:nvSpPr>
        <p:spPr>
          <a:xfrm>
            <a:off x="457200" y="274638"/>
            <a:ext cx="8229600" cy="778098"/>
          </a:xfrm>
        </p:spPr>
        <p:txBody>
          <a:bodyPr>
            <a:noAutofit/>
          </a:bodyPr>
          <a:lstStyle/>
          <a:p>
            <a:r>
              <a:rPr lang="es-PE" sz="3200" dirty="0"/>
              <a:t>2. </a:t>
            </a:r>
            <a:r>
              <a:rPr lang="es-ES" sz="3200" b="1" dirty="0"/>
              <a:t>El Enfoque de Cambridge (Marshall y </a:t>
            </a:r>
            <a:r>
              <a:rPr lang="es-ES" sz="3200" b="1" dirty="0" err="1"/>
              <a:t>Pigou</a:t>
            </a:r>
            <a:r>
              <a:rPr lang="es-ES" sz="3200" b="1" dirty="0"/>
              <a:t>)</a:t>
            </a:r>
            <a:br>
              <a:rPr lang="es-ES" sz="3200" b="1" dirty="0"/>
            </a:br>
            <a:endParaRPr lang="es-PE" sz="3200"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C65CBFA6-B97F-FBBF-4864-E3D4B25E82F2}"/>
                  </a:ext>
                </a:extLst>
              </p:cNvPr>
              <p:cNvSpPr>
                <a:spLocks noGrp="1"/>
              </p:cNvSpPr>
              <p:nvPr>
                <p:ph idx="1"/>
              </p:nvPr>
            </p:nvSpPr>
            <p:spPr>
              <a:xfrm>
                <a:off x="457200" y="1052736"/>
                <a:ext cx="8229600" cy="5073427"/>
              </a:xfrm>
            </p:spPr>
            <p:txBody>
              <a:bodyPr>
                <a:normAutofit fontScale="92500"/>
              </a:bodyPr>
              <a:lstStyle/>
              <a:p>
                <a:pPr marL="0" indent="0">
                  <a:buNone/>
                </a:pPr>
                <a:r>
                  <a:rPr lang="es-PE" sz="2400" dirty="0"/>
                  <a:t>Mientras Fisher veía el dinero desde una perspectiva macroeconómica (toda la economía), los economistas de Cambridge (Inglaterra) desarrollaron un enfoque microeconómico, preguntándose: </a:t>
                </a:r>
              </a:p>
              <a:p>
                <a:pPr marL="0" indent="0">
                  <a:buNone/>
                </a:pPr>
                <a:r>
                  <a:rPr lang="es-PE" sz="2400" b="1" dirty="0"/>
                  <a:t>¿Por qué un individuo decide mantener dinero ocioso en su bolsillo?</a:t>
                </a:r>
                <a:endParaRPr lang="es-PE" sz="2400" dirty="0"/>
              </a:p>
              <a:p>
                <a:pPr marL="0" indent="0">
                  <a:buNone/>
                </a:pPr>
                <a:r>
                  <a:rPr lang="es-PE" sz="2400" dirty="0"/>
                  <a:t>Su respuesta fue: por </a:t>
                </a:r>
                <a:r>
                  <a:rPr lang="es-PE" sz="2400" b="1" dirty="0"/>
                  <a:t>conveniencia</a:t>
                </a:r>
                <a:r>
                  <a:rPr lang="es-PE" sz="2400" dirty="0"/>
                  <a:t> y </a:t>
                </a:r>
                <a:r>
                  <a:rPr lang="es-PE" sz="2400" b="1" dirty="0"/>
                  <a:t>seguridad</a:t>
                </a:r>
                <a:r>
                  <a:rPr lang="es-PE" sz="2400" dirty="0"/>
                  <a:t> (para hacer frente a imprevistos). Formalizaron esto con la </a:t>
                </a:r>
                <a:r>
                  <a:rPr lang="es-PE" sz="2400" b="1" dirty="0"/>
                  <a:t>Ecuación de Cambridge</a:t>
                </a:r>
                <a:r>
                  <a:rPr lang="es-PE" sz="2400" dirty="0"/>
                  <a:t>:</a:t>
                </a:r>
              </a:p>
              <a:p>
                <a:pPr marL="0" indent="0">
                  <a:buNone/>
                </a:pPr>
                <a14:m>
                  <m:oMathPara xmlns:m="http://schemas.openxmlformats.org/officeDocument/2006/math">
                    <m:oMathParaPr>
                      <m:jc m:val="centerGroup"/>
                    </m:oMathParaPr>
                    <m:oMath xmlns:m="http://schemas.openxmlformats.org/officeDocument/2006/math">
                      <m:sSup>
                        <m:sSupPr>
                          <m:ctrlPr>
                            <a:rPr lang="ar-AE" sz="2400"/>
                          </m:ctrlPr>
                        </m:sSupPr>
                        <m:e>
                          <m:r>
                            <a:rPr lang="ar-AE" sz="2400" i="1"/>
                            <m:t>𝑀</m:t>
                          </m:r>
                        </m:e>
                        <m:sup>
                          <m:r>
                            <a:rPr lang="ar-AE" sz="2400" i="1"/>
                            <m:t>𝑑</m:t>
                          </m:r>
                        </m:sup>
                      </m:sSup>
                      <m:r>
                        <a:rPr lang="ar-AE" sz="2400"/>
                        <m:t>=</m:t>
                      </m:r>
                      <m:r>
                        <a:rPr lang="ar-AE" sz="2400" i="1"/>
                        <m:t>𝑘</m:t>
                      </m:r>
                      <m:r>
                        <a:rPr lang="ar-AE" sz="2400"/>
                        <m:t>⋅</m:t>
                      </m:r>
                      <m:r>
                        <a:rPr lang="ar-AE" sz="2400" i="1"/>
                        <m:t>𝑃</m:t>
                      </m:r>
                      <m:r>
                        <a:rPr lang="ar-AE" sz="2400"/>
                        <m:t>⋅</m:t>
                      </m:r>
                      <m:r>
                        <a:rPr lang="ar-AE" sz="2400" i="1"/>
                        <m:t>𝑌</m:t>
                      </m:r>
                    </m:oMath>
                  </m:oMathPara>
                </a14:m>
                <a:endParaRPr lang="es-PE" sz="2400" dirty="0"/>
              </a:p>
              <a:p>
                <a:pPr marL="0" indent="0" algn="just">
                  <a:buNone/>
                </a:pPr>
                <a:r>
                  <a:rPr lang="es-PE" sz="2600" dirty="0"/>
                  <a:t>M</a:t>
                </a:r>
                <a:r>
                  <a:rPr lang="es-PE" sz="2600" baseline="30000" dirty="0"/>
                  <a:t>D</a:t>
                </a:r>
                <a:r>
                  <a:rPr lang="es-ES" sz="2600" b="1" dirty="0"/>
                  <a:t>:</a:t>
                </a:r>
                <a:r>
                  <a:rPr lang="es-ES" sz="2600" dirty="0"/>
                  <a:t> Demanda de dinero (saldos en efectivo que la gente desea mantener).</a:t>
                </a:r>
              </a:p>
              <a:p>
                <a:pPr marL="0" indent="0" algn="just">
                  <a:buNone/>
                </a:pPr>
                <a14:m>
                  <m:oMath xmlns:m="http://schemas.openxmlformats.org/officeDocument/2006/math">
                    <m:r>
                      <a:rPr lang="es-ES" sz="2600" i="1"/>
                      <m:t>𝑘</m:t>
                    </m:r>
                  </m:oMath>
                </a14:m>
                <a:r>
                  <a:rPr lang="es-ES" sz="2600" b="1" dirty="0"/>
                  <a:t>:</a:t>
                </a:r>
                <a:r>
                  <a:rPr lang="es-ES" sz="2600" dirty="0"/>
                  <a:t> Proporción de la renta nominal que el público desea mantener en forma de dinero (Coeficiente de Cambridge o coeficiente de atesoramiento).</a:t>
                </a:r>
              </a:p>
              <a:p>
                <a:pPr marL="0" indent="0" algn="just">
                  <a:buNone/>
                </a:pPr>
                <a14:m>
                  <m:oMath xmlns:m="http://schemas.openxmlformats.org/officeDocument/2006/math">
                    <m:r>
                      <a:rPr lang="es-ES" sz="2600" i="1"/>
                      <m:t>𝑃</m:t>
                    </m:r>
                    <m:r>
                      <a:rPr lang="es-ES" sz="2600"/>
                      <m:t>⋅</m:t>
                    </m:r>
                    <m:r>
                      <a:rPr lang="es-ES" sz="2600" i="1"/>
                      <m:t>𝑌</m:t>
                    </m:r>
                  </m:oMath>
                </a14:m>
                <a:r>
                  <a:rPr lang="es-ES" sz="2600" b="1" dirty="0"/>
                  <a:t>:</a:t>
                </a:r>
                <a:r>
                  <a:rPr lang="es-ES" sz="2600" dirty="0"/>
                  <a:t> Renta nominal.</a:t>
                </a:r>
              </a:p>
              <a:p>
                <a:pPr marL="0" indent="0">
                  <a:buNone/>
                </a:pPr>
                <a:endParaRPr lang="ar-AE" sz="2400" dirty="0"/>
              </a:p>
              <a:p>
                <a:pPr marL="0" indent="0">
                  <a:buNone/>
                </a:pPr>
                <a:endParaRPr lang="es-PE" sz="2400" dirty="0"/>
              </a:p>
            </p:txBody>
          </p:sp>
        </mc:Choice>
        <mc:Fallback>
          <p:sp>
            <p:nvSpPr>
              <p:cNvPr id="3" name="Marcador de contenido 2">
                <a:extLst>
                  <a:ext uri="{FF2B5EF4-FFF2-40B4-BE49-F238E27FC236}">
                    <a16:creationId xmlns:a16="http://schemas.microsoft.com/office/drawing/2014/main" id="{C65CBFA6-B97F-FBBF-4864-E3D4B25E82F2}"/>
                  </a:ext>
                </a:extLst>
              </p:cNvPr>
              <p:cNvSpPr>
                <a:spLocks noGrp="1" noRot="1" noChangeAspect="1" noMove="1" noResize="1" noEditPoints="1" noAdjustHandles="1" noChangeArrowheads="1" noChangeShapeType="1" noTextEdit="1"/>
              </p:cNvSpPr>
              <p:nvPr>
                <p:ph idx="1"/>
              </p:nvPr>
            </p:nvSpPr>
            <p:spPr>
              <a:xfrm>
                <a:off x="457200" y="1052736"/>
                <a:ext cx="8229600" cy="5073427"/>
              </a:xfrm>
              <a:blipFill>
                <a:blip r:embed="rId2"/>
                <a:stretch>
                  <a:fillRect l="-1111" t="-841" r="-2000" b="-1202"/>
                </a:stretch>
              </a:blipFill>
            </p:spPr>
            <p:txBody>
              <a:bodyPr/>
              <a:lstStyle/>
              <a:p>
                <a:r>
                  <a:rPr lang="es-PE">
                    <a:noFill/>
                  </a:rPr>
                  <a:t> </a:t>
                </a:r>
              </a:p>
            </p:txBody>
          </p:sp>
        </mc:Fallback>
      </mc:AlternateContent>
    </p:spTree>
    <p:extLst>
      <p:ext uri="{BB962C8B-B14F-4D97-AF65-F5344CB8AC3E}">
        <p14:creationId xmlns:p14="http://schemas.microsoft.com/office/powerpoint/2010/main" val="1204152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432167-4ADC-531D-9558-CF20369DD4BE}"/>
              </a:ext>
            </a:extLst>
          </p:cNvPr>
          <p:cNvSpPr>
            <a:spLocks noGrp="1"/>
          </p:cNvSpPr>
          <p:nvPr>
            <p:ph type="title"/>
          </p:nvPr>
        </p:nvSpPr>
        <p:spPr>
          <a:xfrm>
            <a:off x="457200" y="274638"/>
            <a:ext cx="8229600" cy="562074"/>
          </a:xfrm>
        </p:spPr>
        <p:txBody>
          <a:bodyPr>
            <a:normAutofit fontScale="90000"/>
          </a:bodyPr>
          <a:lstStyle/>
          <a:p>
            <a:r>
              <a:rPr lang="es-PE" sz="3600" b="1" dirty="0"/>
              <a:t>Interpretación de Cambridge:</a:t>
            </a:r>
            <a:endParaRPr lang="es-PE" sz="3600"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61977BB3-62DC-0EF0-FC11-02F01439BA3F}"/>
                  </a:ext>
                </a:extLst>
              </p:cNvPr>
              <p:cNvSpPr>
                <a:spLocks noGrp="1"/>
              </p:cNvSpPr>
              <p:nvPr>
                <p:ph idx="1"/>
              </p:nvPr>
            </p:nvSpPr>
            <p:spPr>
              <a:xfrm>
                <a:off x="457200" y="980728"/>
                <a:ext cx="8229600" cy="5472608"/>
              </a:xfrm>
            </p:spPr>
            <p:txBody>
              <a:bodyPr>
                <a:noAutofit/>
              </a:bodyPr>
              <a:lstStyle/>
              <a:p>
                <a:pPr marL="0" indent="0" algn="just">
                  <a:buNone/>
                </a:pPr>
                <a:r>
                  <a:rPr lang="es-ES" sz="2400" b="1" dirty="0"/>
                  <a:t>1. El "k" como preferencia:</a:t>
                </a:r>
                <a:r>
                  <a:rPr lang="es-ES" sz="2400" dirty="0"/>
                  <a:t> El factor </a:t>
                </a:r>
                <a14:m>
                  <m:oMath xmlns:m="http://schemas.openxmlformats.org/officeDocument/2006/math">
                    <m:r>
                      <a:rPr lang="es-ES" sz="2400" i="1"/>
                      <m:t>𝑘</m:t>
                    </m:r>
                  </m:oMath>
                </a14:m>
                <a:r>
                  <a:rPr lang="es-ES" sz="2400" dirty="0"/>
                  <a:t> es crucial. Representa la fracción de su ingreso anual que la gente quiere tener disponible en efectivo. Por ejemplo, si </a:t>
                </a:r>
                <a14:m>
                  <m:oMath xmlns:m="http://schemas.openxmlformats.org/officeDocument/2006/math">
                    <m:r>
                      <a:rPr lang="es-ES" sz="2400" i="1"/>
                      <m:t>𝑘</m:t>
                    </m:r>
                    <m:r>
                      <a:rPr lang="es-ES" sz="2400"/>
                      <m:t>=</m:t>
                    </m:r>
                    <m:r>
                      <a:rPr lang="es-ES" sz="2400"/>
                      <m:t>0</m:t>
                    </m:r>
                    <m:r>
                      <a:rPr lang="es-ES" sz="2400"/>
                      <m:t>.</m:t>
                    </m:r>
                    <m:r>
                      <a:rPr lang="es-ES" sz="2400"/>
                      <m:t>2</m:t>
                    </m:r>
                  </m:oMath>
                </a14:m>
                <a:r>
                  <a:rPr lang="es-ES" sz="2400" dirty="0"/>
                  <a:t>, significa que la gente desea tener en dinero el equivalente a 2.4 meses de su renta (0.2 x 12 meses).</a:t>
                </a:r>
              </a:p>
              <a:p>
                <a:pPr marL="0" indent="0" algn="just">
                  <a:buNone/>
                </a:pPr>
                <a:r>
                  <a:rPr lang="es-ES" sz="2400" b="1" dirty="0"/>
                  <a:t>2. </a:t>
                </a:r>
                <a:r>
                  <a:rPr lang="es-ES" sz="2400" b="1" dirty="0" err="1"/>
                  <a:t>Microfundamentos</a:t>
                </a:r>
                <a:r>
                  <a:rPr lang="es-ES" sz="2400" b="1" dirty="0"/>
                  <a:t>:</a:t>
                </a:r>
                <a:r>
                  <a:rPr lang="es-ES" sz="2400" dirty="0"/>
                  <a:t> A diferencia de Fisher, este enfoque introduce un elemento de </a:t>
                </a:r>
                <a:r>
                  <a:rPr lang="es-ES" sz="2400" b="1" dirty="0"/>
                  <a:t>elección</a:t>
                </a:r>
                <a:r>
                  <a:rPr lang="es-ES" sz="2400" dirty="0"/>
                  <a:t>. La gente decide cuánto dinero tener en función de:</a:t>
                </a:r>
              </a:p>
              <a:p>
                <a:pPr lvl="1" algn="just"/>
                <a:r>
                  <a:rPr lang="es-ES" sz="2000" dirty="0"/>
                  <a:t>La utilidad de tener dinero líquido (facilidad para comprar).</a:t>
                </a:r>
              </a:p>
              <a:p>
                <a:pPr lvl="1" algn="just"/>
                <a:r>
                  <a:rPr lang="es-ES" sz="2000" dirty="0"/>
                  <a:t>El costo de oportunidad de tener dinero (los intereses que se pierden por no tener bonos o invertir).</a:t>
                </a:r>
              </a:p>
              <a:p>
                <a:pPr marL="457200" lvl="1" indent="0" algn="just">
                  <a:buNone/>
                </a:pPr>
                <a:r>
                  <a:rPr lang="es-ES" sz="2400" dirty="0"/>
                  <a:t>Aunque en su versión más simple, los clásicos asumían que </a:t>
                </a:r>
                <a14:m>
                  <m:oMath xmlns:m="http://schemas.openxmlformats.org/officeDocument/2006/math">
                    <m:r>
                      <a:rPr lang="es-ES" sz="2400"/>
                      <m:t>𝑘</m:t>
                    </m:r>
                  </m:oMath>
                </a14:m>
                <a:r>
                  <a:rPr lang="es-ES" sz="2400" dirty="0"/>
                  <a:t> era constante porque no consideraban el tipo de interés como determinante (para ellos, solo los bonos daban interés, y la gente no especulaba).</a:t>
                </a:r>
              </a:p>
              <a:p>
                <a:pPr marL="0" indent="0" algn="just">
                  <a:buNone/>
                </a:pPr>
                <a:endParaRPr lang="es-PE" sz="2400" dirty="0"/>
              </a:p>
            </p:txBody>
          </p:sp>
        </mc:Choice>
        <mc:Fallback>
          <p:sp>
            <p:nvSpPr>
              <p:cNvPr id="3" name="Marcador de contenido 2">
                <a:extLst>
                  <a:ext uri="{FF2B5EF4-FFF2-40B4-BE49-F238E27FC236}">
                    <a16:creationId xmlns:a16="http://schemas.microsoft.com/office/drawing/2014/main" id="{61977BB3-62DC-0EF0-FC11-02F01439BA3F}"/>
                  </a:ext>
                </a:extLst>
              </p:cNvPr>
              <p:cNvSpPr>
                <a:spLocks noGrp="1" noRot="1" noChangeAspect="1" noMove="1" noResize="1" noEditPoints="1" noAdjustHandles="1" noChangeArrowheads="1" noChangeShapeType="1" noTextEdit="1"/>
              </p:cNvSpPr>
              <p:nvPr>
                <p:ph idx="1"/>
              </p:nvPr>
            </p:nvSpPr>
            <p:spPr>
              <a:xfrm>
                <a:off x="457200" y="980728"/>
                <a:ext cx="8229600" cy="5472608"/>
              </a:xfrm>
              <a:blipFill>
                <a:blip r:embed="rId2"/>
                <a:stretch>
                  <a:fillRect l="-1111" t="-891" r="-1111" b="-6013"/>
                </a:stretch>
              </a:blipFill>
            </p:spPr>
            <p:txBody>
              <a:bodyPr/>
              <a:lstStyle/>
              <a:p>
                <a:r>
                  <a:rPr lang="es-PE">
                    <a:noFill/>
                  </a:rPr>
                  <a:t> </a:t>
                </a:r>
              </a:p>
            </p:txBody>
          </p:sp>
        </mc:Fallback>
      </mc:AlternateContent>
    </p:spTree>
    <p:extLst>
      <p:ext uri="{BB962C8B-B14F-4D97-AF65-F5344CB8AC3E}">
        <p14:creationId xmlns:p14="http://schemas.microsoft.com/office/powerpoint/2010/main" val="3476479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4D4FBEE3-D446-73A4-0231-326B16EE36CC}"/>
                  </a:ext>
                </a:extLst>
              </p:cNvPr>
              <p:cNvSpPr>
                <a:spLocks noGrp="1"/>
              </p:cNvSpPr>
              <p:nvPr>
                <p:ph idx="1"/>
              </p:nvPr>
            </p:nvSpPr>
            <p:spPr>
              <a:xfrm>
                <a:off x="323528" y="404664"/>
                <a:ext cx="8229600" cy="4525963"/>
              </a:xfrm>
            </p:spPr>
            <p:txBody>
              <a:bodyPr>
                <a:normAutofit fontScale="92500"/>
              </a:bodyPr>
              <a:lstStyle/>
              <a:p>
                <a:pPr marL="0" indent="0" algn="just">
                  <a:buNone/>
                </a:pPr>
                <a:r>
                  <a:rPr lang="es-PE" b="1" dirty="0"/>
                  <a:t>Relación con Fisher:</a:t>
                </a:r>
                <a:r>
                  <a:rPr lang="es-PE" dirty="0"/>
                  <a:t> Si comparas ambas fórmulas:</a:t>
                </a:r>
              </a:p>
              <a:p>
                <a:pPr lvl="0" algn="just"/>
                <a:r>
                  <a:rPr lang="es-PE" dirty="0"/>
                  <a:t>Fisher: </a:t>
                </a:r>
                <a14:m>
                  <m:oMath xmlns:m="http://schemas.openxmlformats.org/officeDocument/2006/math">
                    <m:sSup>
                      <m:sSupPr>
                        <m:ctrlPr>
                          <a:rPr lang="es-PE" i="1"/>
                        </m:ctrlPr>
                      </m:sSupPr>
                      <m:e>
                        <m:r>
                          <a:rPr lang="es-PE" i="1"/>
                          <m:t>𝑀</m:t>
                        </m:r>
                      </m:e>
                      <m:sup>
                        <m:r>
                          <a:rPr lang="es-PE" i="1"/>
                          <m:t>𝑑</m:t>
                        </m:r>
                      </m:sup>
                    </m:sSup>
                    <m:r>
                      <a:rPr lang="es-PE" i="1"/>
                      <m:t>=</m:t>
                    </m:r>
                    <m:f>
                      <m:fPr>
                        <m:ctrlPr>
                          <a:rPr lang="es-PE" i="1"/>
                        </m:ctrlPr>
                      </m:fPr>
                      <m:num>
                        <m:r>
                          <a:rPr lang="es-PE" i="1"/>
                          <m:t>1</m:t>
                        </m:r>
                      </m:num>
                      <m:den>
                        <m:r>
                          <a:rPr lang="es-PE" i="1"/>
                          <m:t>𝑉</m:t>
                        </m:r>
                      </m:den>
                    </m:f>
                    <m:r>
                      <a:rPr lang="es-PE" i="1"/>
                      <m:t>⋅</m:t>
                    </m:r>
                    <m:r>
                      <a:rPr lang="es-PE" i="1"/>
                      <m:t>𝑃</m:t>
                    </m:r>
                    <m:r>
                      <a:rPr lang="es-PE" i="1"/>
                      <m:t>⋅</m:t>
                    </m:r>
                    <m:r>
                      <a:rPr lang="es-PE" i="1"/>
                      <m:t>𝑌</m:t>
                    </m:r>
                  </m:oMath>
                </a14:m>
                <a:endParaRPr lang="es-PE" dirty="0"/>
              </a:p>
              <a:p>
                <a:pPr lvl="0" algn="just"/>
                <a:r>
                  <a:rPr lang="es-PE" dirty="0"/>
                  <a:t>Cambridge: </a:t>
                </a:r>
                <a14:m>
                  <m:oMath xmlns:m="http://schemas.openxmlformats.org/officeDocument/2006/math">
                    <m:sSup>
                      <m:sSupPr>
                        <m:ctrlPr>
                          <a:rPr lang="es-PE" i="1"/>
                        </m:ctrlPr>
                      </m:sSupPr>
                      <m:e>
                        <m:r>
                          <a:rPr lang="es-PE" i="1"/>
                          <m:t>𝑀</m:t>
                        </m:r>
                      </m:e>
                      <m:sup>
                        <m:r>
                          <a:rPr lang="es-PE" i="1"/>
                          <m:t>𝑑</m:t>
                        </m:r>
                      </m:sup>
                    </m:sSup>
                    <m:r>
                      <a:rPr lang="es-PE" i="1"/>
                      <m:t>=</m:t>
                    </m:r>
                    <m:r>
                      <a:rPr lang="es-PE" i="1"/>
                      <m:t>𝑘</m:t>
                    </m:r>
                    <m:r>
                      <a:rPr lang="es-PE" i="1"/>
                      <m:t>⋅</m:t>
                    </m:r>
                    <m:r>
                      <a:rPr lang="es-PE" i="1"/>
                      <m:t>𝑃</m:t>
                    </m:r>
                    <m:r>
                      <a:rPr lang="es-PE" i="1"/>
                      <m:t>⋅</m:t>
                    </m:r>
                    <m:r>
                      <a:rPr lang="es-PE" i="1"/>
                      <m:t>𝑌</m:t>
                    </m:r>
                  </m:oMath>
                </a14:m>
                <a:endParaRPr lang="es-PE" dirty="0"/>
              </a:p>
              <a:p>
                <a:pPr marL="0" indent="0" algn="just">
                  <a:buNone/>
                </a:pPr>
                <a:r>
                  <a:rPr lang="es-PE" b="1" dirty="0"/>
                  <a:t>Conclusión:</a:t>
                </a:r>
                <a:r>
                  <a:rPr lang="es-PE" dirty="0"/>
                  <a:t> El coeficiente de Cambridge (</a:t>
                </a:r>
                <a14:m>
                  <m:oMath xmlns:m="http://schemas.openxmlformats.org/officeDocument/2006/math">
                    <m:r>
                      <a:rPr lang="es-PE" i="1"/>
                      <m:t>𝑘</m:t>
                    </m:r>
                  </m:oMath>
                </a14:m>
                <a:r>
                  <a:rPr lang="es-PE" dirty="0"/>
                  <a:t>) es el inverso de la velocidad de circulación de Fisher (</a:t>
                </a:r>
                <a14:m>
                  <m:oMath xmlns:m="http://schemas.openxmlformats.org/officeDocument/2006/math">
                    <m:r>
                      <a:rPr lang="es-PE" i="1"/>
                      <m:t>𝑉</m:t>
                    </m:r>
                  </m:oMath>
                </a14:m>
                <a:r>
                  <a:rPr lang="es-PE" dirty="0"/>
                  <a:t>). Si </a:t>
                </a:r>
                <a14:m>
                  <m:oMath xmlns:m="http://schemas.openxmlformats.org/officeDocument/2006/math">
                    <m:r>
                      <a:rPr lang="es-PE" i="1"/>
                      <m:t>𝑘</m:t>
                    </m:r>
                    <m:r>
                      <a:rPr lang="es-PE" i="1"/>
                      <m:t>=</m:t>
                    </m:r>
                    <m:r>
                      <a:rPr lang="es-PE" i="1"/>
                      <m:t>0</m:t>
                    </m:r>
                    <m:r>
                      <a:rPr lang="es-PE" i="1"/>
                      <m:t>.</m:t>
                    </m:r>
                    <m:r>
                      <a:rPr lang="es-PE" i="1"/>
                      <m:t>2</m:t>
                    </m:r>
                  </m:oMath>
                </a14:m>
                <a:r>
                  <a:rPr lang="es-PE" dirty="0"/>
                  <a:t>, entonces </a:t>
                </a:r>
                <a14:m>
                  <m:oMath xmlns:m="http://schemas.openxmlformats.org/officeDocument/2006/math">
                    <m:r>
                      <a:rPr lang="es-PE" i="1"/>
                      <m:t>𝑉</m:t>
                    </m:r>
                    <m:r>
                      <a:rPr lang="es-PE" i="1"/>
                      <m:t>=</m:t>
                    </m:r>
                    <m:r>
                      <a:rPr lang="es-PE" i="1"/>
                      <m:t>5</m:t>
                    </m:r>
                  </m:oMath>
                </a14:m>
                <a:r>
                  <a:rPr lang="es-PE" dirty="0"/>
                  <a:t>. Ambos llegan al mismo destino, pero Cambridge le da un toque psicológico y de decisión individual.</a:t>
                </a:r>
              </a:p>
              <a:p>
                <a:pPr marL="0" indent="0" algn="just">
                  <a:buNone/>
                </a:pPr>
                <a:endParaRPr lang="es-PE" dirty="0"/>
              </a:p>
            </p:txBody>
          </p:sp>
        </mc:Choice>
        <mc:Fallback>
          <p:sp>
            <p:nvSpPr>
              <p:cNvPr id="3" name="Marcador de contenido 2">
                <a:extLst>
                  <a:ext uri="{FF2B5EF4-FFF2-40B4-BE49-F238E27FC236}">
                    <a16:creationId xmlns:a16="http://schemas.microsoft.com/office/drawing/2014/main" id="{4D4FBEE3-D446-73A4-0231-326B16EE36CC}"/>
                  </a:ext>
                </a:extLst>
              </p:cNvPr>
              <p:cNvSpPr>
                <a:spLocks noGrp="1" noRot="1" noChangeAspect="1" noMove="1" noResize="1" noEditPoints="1" noAdjustHandles="1" noChangeArrowheads="1" noChangeShapeType="1" noTextEdit="1"/>
              </p:cNvSpPr>
              <p:nvPr>
                <p:ph idx="1"/>
              </p:nvPr>
            </p:nvSpPr>
            <p:spPr>
              <a:xfrm>
                <a:off x="323528" y="404664"/>
                <a:ext cx="8229600" cy="4525963"/>
              </a:xfrm>
              <a:blipFill>
                <a:blip r:embed="rId2"/>
                <a:stretch>
                  <a:fillRect l="-1704" t="-1615" r="-1778"/>
                </a:stretch>
              </a:blipFill>
            </p:spPr>
            <p:txBody>
              <a:bodyPr/>
              <a:lstStyle/>
              <a:p>
                <a:r>
                  <a:rPr lang="es-PE">
                    <a:noFill/>
                  </a:rPr>
                  <a:t> </a:t>
                </a:r>
              </a:p>
            </p:txBody>
          </p:sp>
        </mc:Fallback>
      </mc:AlternateContent>
    </p:spTree>
    <p:extLst>
      <p:ext uri="{BB962C8B-B14F-4D97-AF65-F5344CB8AC3E}">
        <p14:creationId xmlns:p14="http://schemas.microsoft.com/office/powerpoint/2010/main" val="2750469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731BAE7-7552-2E92-22A6-4CB4AE61BB61}"/>
              </a:ext>
            </a:extLst>
          </p:cNvPr>
          <p:cNvSpPr>
            <a:spLocks noGrp="1"/>
          </p:cNvSpPr>
          <p:nvPr>
            <p:ph idx="1"/>
          </p:nvPr>
        </p:nvSpPr>
        <p:spPr>
          <a:xfrm>
            <a:off x="457200" y="476672"/>
            <a:ext cx="8229600" cy="5649491"/>
          </a:xfrm>
        </p:spPr>
        <p:txBody>
          <a:bodyPr>
            <a:normAutofit fontScale="77500" lnSpcReduction="20000"/>
          </a:bodyPr>
          <a:lstStyle/>
          <a:p>
            <a:pPr marL="0" indent="0" algn="just">
              <a:buNone/>
            </a:pPr>
            <a:r>
              <a:rPr lang="es-ES" b="1" dirty="0"/>
              <a:t>EJERCICIO 1: CÁLCULO DEL COEFICIENTE "K" Y DEMANDA DE DINERO</a:t>
            </a:r>
            <a:br>
              <a:rPr lang="es-ES" dirty="0"/>
            </a:br>
            <a:r>
              <a:rPr lang="es-ES" dirty="0"/>
              <a:t>En un país se recopila la siguiente información trimestral:</a:t>
            </a:r>
          </a:p>
          <a:p>
            <a:pPr algn="just"/>
            <a:r>
              <a:rPr lang="es-ES" dirty="0"/>
              <a:t>Renta nacional nominal (PY): 200.000 millones de euros</a:t>
            </a:r>
          </a:p>
          <a:p>
            <a:pPr algn="just"/>
            <a:r>
              <a:rPr lang="es-ES" dirty="0"/>
              <a:t>Oferta monetaria (M): 40.000 millones de euros</a:t>
            </a:r>
          </a:p>
          <a:p>
            <a:pPr algn="just"/>
            <a:r>
              <a:rPr lang="es-ES" dirty="0"/>
              <a:t>Se sabe que la velocidad de circulación del dinero (V) es 5</a:t>
            </a:r>
          </a:p>
          <a:p>
            <a:pPr marL="0" indent="0" algn="just">
              <a:buNone/>
            </a:pPr>
            <a:r>
              <a:rPr lang="es-ES" dirty="0"/>
              <a:t>Se pide:</a:t>
            </a:r>
            <a:br>
              <a:rPr lang="es-ES" dirty="0"/>
            </a:br>
            <a:r>
              <a:rPr lang="es-ES" dirty="0"/>
              <a:t>a) Calcular la demanda de dinero según el enfoque de Cambridge.</a:t>
            </a:r>
            <a:br>
              <a:rPr lang="es-ES" dirty="0"/>
            </a:br>
            <a:r>
              <a:rPr lang="es-ES" dirty="0"/>
              <a:t>b) Determinar el coeficiente "k" (Coeficiente de Cambridge).</a:t>
            </a:r>
            <a:br>
              <a:rPr lang="es-ES" dirty="0"/>
            </a:br>
            <a:r>
              <a:rPr lang="es-ES" dirty="0"/>
              <a:t>c) Demostrar la relación entre "k" y "V".</a:t>
            </a:r>
            <a:br>
              <a:rPr lang="es-ES" dirty="0"/>
            </a:br>
            <a:r>
              <a:rPr lang="es-ES" dirty="0"/>
              <a:t>d) Interpretar qué significa el valor de "k" obtenido para las decisiones de los agentes económicos.</a:t>
            </a:r>
          </a:p>
          <a:p>
            <a:pPr marL="0" indent="0" algn="just">
              <a:buNone/>
            </a:pPr>
            <a:endParaRPr lang="es-PE" dirty="0"/>
          </a:p>
        </p:txBody>
      </p:sp>
    </p:spTree>
    <p:extLst>
      <p:ext uri="{BB962C8B-B14F-4D97-AF65-F5344CB8AC3E}">
        <p14:creationId xmlns:p14="http://schemas.microsoft.com/office/powerpoint/2010/main" val="1003807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F394F4-AE09-0AE3-5A9A-BEBC98AA8052}"/>
              </a:ext>
            </a:extLst>
          </p:cNvPr>
          <p:cNvSpPr>
            <a:spLocks noGrp="1"/>
          </p:cNvSpPr>
          <p:nvPr>
            <p:ph idx="1"/>
          </p:nvPr>
        </p:nvSpPr>
        <p:spPr>
          <a:xfrm>
            <a:off x="457200" y="476672"/>
            <a:ext cx="8229600" cy="5649491"/>
          </a:xfrm>
        </p:spPr>
        <p:txBody>
          <a:bodyPr>
            <a:normAutofit fontScale="62500" lnSpcReduction="20000"/>
          </a:bodyPr>
          <a:lstStyle/>
          <a:p>
            <a:pPr marL="0" indent="0">
              <a:buNone/>
            </a:pPr>
            <a:r>
              <a:rPr lang="es-ES" b="1" dirty="0"/>
              <a:t>EJERCICIO 2: CAMBIOS EN LAS PREFERENCIAS Y EFECTOS SOBRE "K"</a:t>
            </a:r>
          </a:p>
          <a:p>
            <a:pPr marL="0" indent="0">
              <a:buNone/>
            </a:pPr>
            <a:r>
              <a:rPr lang="es-ES" dirty="0"/>
              <a:t>Considere una economía con los siguientes datos del año actual:</a:t>
            </a:r>
          </a:p>
          <a:p>
            <a:r>
              <a:rPr lang="es-ES" dirty="0"/>
              <a:t>Renta nacional real (Y): 1.000.000 </a:t>
            </a:r>
            <a:r>
              <a:rPr lang="es-ES" dirty="0" err="1"/>
              <a:t>u.m</a:t>
            </a:r>
            <a:r>
              <a:rPr lang="es-ES" dirty="0"/>
              <a:t>.</a:t>
            </a:r>
          </a:p>
          <a:p>
            <a:r>
              <a:rPr lang="es-ES" dirty="0"/>
              <a:t>Nivel de precios (P): 2</a:t>
            </a:r>
          </a:p>
          <a:p>
            <a:r>
              <a:rPr lang="es-ES" dirty="0"/>
              <a:t>Coeficiente de Cambridge (k): 0,25</a:t>
            </a:r>
          </a:p>
          <a:p>
            <a:pPr marL="0" indent="0">
              <a:buNone/>
            </a:pPr>
            <a:r>
              <a:rPr lang="es-ES" dirty="0"/>
              <a:t>Para el próximo año se esperan los siguientes cambios:</a:t>
            </a:r>
          </a:p>
          <a:p>
            <a:r>
              <a:rPr lang="es-ES" dirty="0"/>
              <a:t>La renta real aumentará un 4%</a:t>
            </a:r>
          </a:p>
          <a:p>
            <a:r>
              <a:rPr lang="es-ES" dirty="0"/>
              <a:t>El nivel de precios aumentará un 6%</a:t>
            </a:r>
          </a:p>
          <a:p>
            <a:r>
              <a:rPr lang="es-ES" dirty="0"/>
              <a:t>Debido a una innovación financiera (mayor uso de tarjetas de crédito), el coeficiente "k" se reducirá en 2 puntos porcentuales (es decir, pasará de 0,25 a 0,23)</a:t>
            </a:r>
          </a:p>
          <a:p>
            <a:pPr marL="0" indent="0">
              <a:buNone/>
            </a:pPr>
            <a:r>
              <a:rPr lang="es-ES" dirty="0"/>
              <a:t>Se pide:</a:t>
            </a:r>
            <a:br>
              <a:rPr lang="es-ES" dirty="0"/>
            </a:br>
            <a:r>
              <a:rPr lang="es-ES" dirty="0"/>
              <a:t>a) Calcular la demanda de dinero actual.</a:t>
            </a:r>
            <a:br>
              <a:rPr lang="es-ES" dirty="0"/>
            </a:br>
            <a:r>
              <a:rPr lang="es-ES" dirty="0"/>
              <a:t>b) Calcular la demanda de dinero proyectada para el próximo año.</a:t>
            </a:r>
            <a:br>
              <a:rPr lang="es-ES" dirty="0"/>
            </a:br>
            <a:r>
              <a:rPr lang="es-ES" dirty="0"/>
              <a:t>c) Determinar la variación porcentual de la demanda de dinero.</a:t>
            </a:r>
            <a:br>
              <a:rPr lang="es-ES" dirty="0"/>
            </a:br>
            <a:r>
              <a:rPr lang="es-ES" dirty="0"/>
              <a:t>d) Explicar qué ha sucedido con la velocidad de circulación (V) y por qué.</a:t>
            </a:r>
            <a:br>
              <a:rPr lang="es-ES" dirty="0"/>
            </a:br>
            <a:r>
              <a:rPr lang="es-ES" dirty="0"/>
              <a:t>e) Analizar cómo afecta la reducción de "k" a la relación entre dinero y renta.</a:t>
            </a:r>
          </a:p>
          <a:p>
            <a:pPr marL="0" indent="0">
              <a:buNone/>
            </a:pPr>
            <a:endParaRPr lang="es-PE" dirty="0"/>
          </a:p>
        </p:txBody>
      </p:sp>
    </p:spTree>
    <p:extLst>
      <p:ext uri="{BB962C8B-B14F-4D97-AF65-F5344CB8AC3E}">
        <p14:creationId xmlns:p14="http://schemas.microsoft.com/office/powerpoint/2010/main" val="324900903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1227</TotalTime>
  <Words>1954</Words>
  <Application>Microsoft Office PowerPoint</Application>
  <PresentationFormat>Presentación en pantalla (4:3)</PresentationFormat>
  <Paragraphs>127</Paragraphs>
  <Slides>21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Calibri</vt:lpstr>
      <vt:lpstr>Cambria Math</vt:lpstr>
      <vt:lpstr>Tema de Office</vt:lpstr>
      <vt:lpstr>Presentación de PowerPoint</vt:lpstr>
      <vt:lpstr>La demanda de dinero</vt:lpstr>
      <vt:lpstr>¿Por qué las personas demandan dinero?</vt:lpstr>
      <vt:lpstr>Presentación de PowerPoint</vt:lpstr>
      <vt:lpstr>Presentación de PowerPoint</vt:lpstr>
      <vt:lpstr>Presentación de PowerPoint</vt:lpstr>
      <vt:lpstr>Presentación de PowerPoint</vt:lpstr>
      <vt:lpstr>Presentación de PowerPoint</vt:lpstr>
      <vt:lpstr>Teoría Clásica de la Demanda de Dinero. </vt:lpstr>
      <vt:lpstr>Supuestos Clásicos </vt:lpstr>
      <vt:lpstr>1. La Teoría Cuantitativa del Dinero (Irving Fisher) </vt:lpstr>
      <vt:lpstr>¿Cómo se deduce la demanda de dinero desde aquí? </vt:lpstr>
      <vt:lpstr>Presentación de PowerPoint</vt:lpstr>
      <vt:lpstr>Presentación de PowerPoint</vt:lpstr>
      <vt:lpstr>Presentación de PowerPoint</vt:lpstr>
      <vt:lpstr>Presentación de PowerPoint</vt:lpstr>
      <vt:lpstr>2. El Enfoque de Cambridge (Marshall y Pigou) </vt:lpstr>
      <vt:lpstr>Interpretación de Cambridge:</vt:lpstr>
      <vt:lpstr>Presentación de PowerPoint</vt:lpstr>
      <vt:lpstr>Presentación de PowerPoint</vt:lpstr>
      <vt:lpstr>Presentación de PowerPoint</vt:lpstr>
    </vt:vector>
  </TitlesOfParts>
  <Company>Luffi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Luffi</dc:creator>
  <cp:lastModifiedBy>pamela torres toledo</cp:lastModifiedBy>
  <cp:revision>57</cp:revision>
  <dcterms:created xsi:type="dcterms:W3CDTF">2019-10-15T05:04:37Z</dcterms:created>
  <dcterms:modified xsi:type="dcterms:W3CDTF">2026-03-04T22:38:07Z</dcterms:modified>
</cp:coreProperties>
</file>