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2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83" r:id="rId13"/>
    <p:sldId id="284" r:id="rId14"/>
    <p:sldId id="285" r:id="rId15"/>
    <p:sldId id="286" r:id="rId16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25/02/2026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382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25/02/2026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77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25/02/2026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599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25/02/2026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836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25/02/2026</a:t>
            </a:fld>
            <a:endParaRPr lang="es-P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112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25/02/2026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831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25/02/2026</a:t>
            </a:fld>
            <a:endParaRPr lang="es-P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034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25/02/2026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504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25/02/2026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813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25/02/2026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73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25/02/2026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486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01A3A-EFAD-4DCA-BFCF-B84FCBA4F73B}" type="datetimeFigureOut">
              <a:rPr lang="es-PE" smtClean="0"/>
              <a:t>25/02/2026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983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72" y="159143"/>
            <a:ext cx="8901229" cy="65102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611560" y="3414251"/>
            <a:ext cx="7772400" cy="2751053"/>
          </a:xfrm>
        </p:spPr>
        <p:txBody>
          <a:bodyPr>
            <a:noAutofit/>
          </a:bodyPr>
          <a:lstStyle/>
          <a:p>
            <a:pPr algn="ctr"/>
            <a:r>
              <a:rPr lang="es-PE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ESCUELA PROFESIONAL DE ECONOMIA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CURSO	: TEORIA MONETARIA Y BANCARIA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DOCENTE	: DRA. PAMELA TORRES TOLEDO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SEMESTRE	: 2026-I</a:t>
            </a:r>
          </a:p>
        </p:txBody>
      </p:sp>
      <p:sp>
        <p:nvSpPr>
          <p:cNvPr id="6" name="AutoShape 5" descr="Resultado de imagen para UNSAA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7" name="6 Rectángulo"/>
          <p:cNvSpPr/>
          <p:nvPr/>
        </p:nvSpPr>
        <p:spPr>
          <a:xfrm>
            <a:off x="3131840" y="457386"/>
            <a:ext cx="5606396" cy="7869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2800" b="1" dirty="0">
                <a:solidFill>
                  <a:schemeClr val="tx1"/>
                </a:solidFill>
              </a:rPr>
              <a:t>UNIVERSIDAD ANDINA DEL CUSCO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60" y="246497"/>
            <a:ext cx="2757003" cy="997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247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7489" y="1196752"/>
            <a:ext cx="8229600" cy="43924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/>
              <a:t>Las </a:t>
            </a:r>
            <a:r>
              <a:rPr lang="es-ES" sz="2400" b="1" dirty="0"/>
              <a:t>ventas de divisas</a:t>
            </a:r>
            <a:r>
              <a:rPr lang="es-ES" sz="2400" dirty="0"/>
              <a:t> son operaciones de intervención cambiaria mediante las cuales un Banco Central vende moneda extranjera (dólares, euros, etc.) que tiene en sus reservas internacionales, a cambio de moneda nacional. Es una herramienta de política monetaria y cambiaria utilizada para influir en el tipo de cambio y controlar la liquidez de la economía.</a:t>
            </a:r>
            <a:endParaRPr lang="es-PE" sz="20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r>
              <a:rPr lang="es-PE" sz="3200" dirty="0"/>
              <a:t>Ventas de Divisas por parte del Banco Central de Reserva</a:t>
            </a:r>
          </a:p>
        </p:txBody>
      </p:sp>
    </p:spTree>
    <p:extLst>
      <p:ext uri="{BB962C8B-B14F-4D97-AF65-F5344CB8AC3E}">
        <p14:creationId xmlns:p14="http://schemas.microsoft.com/office/powerpoint/2010/main" val="161284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F9D04C-815D-BE8B-480A-9D741EC88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Mecanismo de Funcionamiento</a:t>
            </a:r>
          </a:p>
          <a:p>
            <a:pPr marL="0" indent="0">
              <a:buNone/>
            </a:pPr>
            <a:r>
              <a:rPr lang="es-ES" dirty="0"/>
              <a:t>Cuando el Banco Central vende divisas:</a:t>
            </a:r>
          </a:p>
          <a:p>
            <a:r>
              <a:rPr lang="es-ES" b="1" dirty="0"/>
              <a:t>Entrega divisas</a:t>
            </a:r>
            <a:r>
              <a:rPr lang="es-ES" dirty="0"/>
              <a:t> (reservas internacionales) a los bancos comerciales o al público</a:t>
            </a:r>
          </a:p>
          <a:p>
            <a:r>
              <a:rPr lang="es-ES" b="1" dirty="0"/>
              <a:t>Recibe moneda nacional</a:t>
            </a:r>
            <a:r>
              <a:rPr lang="es-ES" dirty="0"/>
              <a:t> a cambio (la moneda local del país)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53345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F157A3-1E25-F3DD-5135-26C1B6FED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ES" b="1" dirty="0"/>
              <a:t>Efectos Económicos de la Venta de Divisas</a:t>
            </a:r>
          </a:p>
          <a:p>
            <a:pPr marL="0" indent="0" algn="just">
              <a:buNone/>
            </a:pPr>
            <a:r>
              <a:rPr lang="es-ES" b="1" dirty="0"/>
              <a:t>1. Efecto sobre el Tipo de Cambio</a:t>
            </a:r>
          </a:p>
          <a:p>
            <a:pPr marL="0" indent="0" algn="just">
              <a:buNone/>
            </a:pPr>
            <a:r>
              <a:rPr lang="es-ES" b="1" dirty="0"/>
              <a:t>Objetivo principal</a:t>
            </a:r>
            <a:r>
              <a:rPr lang="es-ES" dirty="0"/>
              <a:t>: Evitar la depreciación excesiva de la moneda nacional</a:t>
            </a:r>
          </a:p>
          <a:p>
            <a:pPr marL="0" indent="0" algn="just">
              <a:buNone/>
            </a:pPr>
            <a:r>
              <a:rPr lang="es-ES" b="1" dirty="0"/>
              <a:t>Mecanismo</a:t>
            </a:r>
            <a:r>
              <a:rPr lang="es-ES" dirty="0"/>
              <a:t>: Al vender divisas, aumenta la oferta de moneda extranjera en el mercado, lo que tiende a </a:t>
            </a:r>
            <a:r>
              <a:rPr lang="es-ES" b="1" dirty="0"/>
              <a:t>frenar o reducir el precio de la divisa</a:t>
            </a:r>
            <a:r>
              <a:rPr lang="es-ES" dirty="0"/>
              <a:t> (fortalece la moneda local)</a:t>
            </a:r>
          </a:p>
          <a:p>
            <a:pPr marL="0" indent="0" algn="just">
              <a:buNone/>
            </a:pPr>
            <a:r>
              <a:rPr lang="es-ES" b="1" dirty="0"/>
              <a:t>2. Efecto sobre la Base Monetaria</a:t>
            </a:r>
          </a:p>
          <a:p>
            <a:pPr marL="0" indent="0" algn="just">
              <a:buNone/>
            </a:pPr>
            <a:r>
              <a:rPr lang="es-ES" b="1" dirty="0"/>
              <a:t>IMPORTANTE</a:t>
            </a:r>
            <a:r>
              <a:rPr lang="es-ES" dirty="0"/>
              <a:t>: La venta de divisas </a:t>
            </a:r>
            <a:r>
              <a:rPr lang="es-ES" b="1" dirty="0"/>
              <a:t>reduce la Base Monetaria</a:t>
            </a:r>
            <a:r>
              <a:rPr lang="es-ES" dirty="0"/>
              <a:t> (efecto contractivo)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57873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E95B66-B2CF-4818-7906-CD08B496F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Explicación paso a paso</a:t>
            </a:r>
            <a:r>
              <a:rPr lang="es-ES" dirty="0"/>
              <a:t>:</a:t>
            </a:r>
          </a:p>
          <a:p>
            <a:r>
              <a:rPr lang="es-ES" dirty="0"/>
              <a:t>El Banco Central recibe moneda nacional a cambio de las divisas</a:t>
            </a:r>
          </a:p>
          <a:p>
            <a:r>
              <a:rPr lang="es-ES" dirty="0"/>
              <a:t>Esa moneda nacional que recibe </a:t>
            </a:r>
            <a:r>
              <a:rPr lang="es-ES" b="1" dirty="0"/>
              <a:t>sale de circulación</a:t>
            </a:r>
            <a:r>
              <a:rPr lang="es-ES" dirty="0"/>
              <a:t> (se esteriliza)</a:t>
            </a:r>
          </a:p>
          <a:p>
            <a:r>
              <a:rPr lang="es-ES" dirty="0"/>
              <a:t>Disminuye el dinero en poder del público y/o las reservas bancarias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57971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3DF8AB-F50A-9C8C-230C-23ED55D31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3. Efecto sobre la Oferta Monetaria</a:t>
            </a:r>
          </a:p>
          <a:p>
            <a:r>
              <a:rPr lang="es-ES" dirty="0"/>
              <a:t>Al reducirse la Base Monetaria, y aplicando el multiplicador monetario, la </a:t>
            </a:r>
            <a:r>
              <a:rPr lang="es-ES" b="1" dirty="0"/>
              <a:t>Oferta Monetaria total disminuye</a:t>
            </a:r>
            <a:r>
              <a:rPr lang="es-ES" dirty="0"/>
              <a:t> en una magnitud mayor:</a:t>
            </a:r>
          </a:p>
          <a:p>
            <a:pPr marL="0" indent="0">
              <a:buNone/>
            </a:pPr>
            <a:r>
              <a:rPr lang="es-ES" b="1" dirty="0"/>
              <a:t>      ΔOM = m × ΔBM</a:t>
            </a:r>
            <a:r>
              <a:rPr lang="es-ES" dirty="0"/>
              <a:t> (con ΔBM negativa)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119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9321C-69EB-251B-5C7F-298FE0592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Autofit/>
          </a:bodyPr>
          <a:lstStyle/>
          <a:p>
            <a:r>
              <a:rPr lang="es-PE" sz="3200" dirty="0"/>
              <a:t>Tipos de Ventas de Divisas</a:t>
            </a:r>
            <a:br>
              <a:rPr lang="es-PE" sz="3200" dirty="0"/>
            </a:br>
            <a:endParaRPr lang="es-PE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697AE8-4A2E-E6BF-9996-54ACE772A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ES" b="1" dirty="0"/>
              <a:t>1. Ventas Directas</a:t>
            </a:r>
          </a:p>
          <a:p>
            <a:r>
              <a:rPr lang="es-ES" dirty="0"/>
              <a:t>El Banco Central vende directamente a bancos comerciales</a:t>
            </a:r>
          </a:p>
          <a:p>
            <a:r>
              <a:rPr lang="es-ES" dirty="0"/>
              <a:t>Estos luego venden al público</a:t>
            </a:r>
          </a:p>
          <a:p>
            <a:pPr marL="0" indent="0">
              <a:buNone/>
            </a:pPr>
            <a:r>
              <a:rPr lang="es-ES" b="1" dirty="0"/>
              <a:t>2. Subastas Públicas</a:t>
            </a:r>
          </a:p>
          <a:p>
            <a:r>
              <a:rPr lang="es-ES" dirty="0"/>
              <a:t>El Banco Central anuncia subastas de divisas</a:t>
            </a:r>
          </a:p>
          <a:p>
            <a:r>
              <a:rPr lang="es-ES" dirty="0"/>
              <a:t>Los bancos ofertan por las divisas</a:t>
            </a:r>
          </a:p>
          <a:p>
            <a:r>
              <a:rPr lang="es-ES" dirty="0"/>
              <a:t>Mecanismo más transparente y de mercado</a:t>
            </a:r>
          </a:p>
          <a:p>
            <a:pPr marL="0" indent="0">
              <a:buNone/>
            </a:pPr>
            <a:r>
              <a:rPr lang="es-ES" b="1" dirty="0"/>
              <a:t>3. Intervenciones Cambiarias "Swap"</a:t>
            </a:r>
          </a:p>
          <a:p>
            <a:r>
              <a:rPr lang="es-ES" dirty="0"/>
              <a:t>Venta de divisas con acuerdo de recompra futura</a:t>
            </a:r>
          </a:p>
          <a:p>
            <a:r>
              <a:rPr lang="es-ES" dirty="0"/>
              <a:t>Efecto temporal sobre la liquidez</a:t>
            </a:r>
          </a:p>
          <a:p>
            <a:r>
              <a:rPr lang="es-ES" dirty="0"/>
              <a:t>Útil para intervenciones de corto plazo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42187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38BC61A-8955-5FAA-D30A-67B6F51FF0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554467"/>
              </p:ext>
            </p:extLst>
          </p:nvPr>
        </p:nvGraphicFramePr>
        <p:xfrm>
          <a:off x="1670876" y="1556792"/>
          <a:ext cx="5730240" cy="3898900"/>
        </p:xfrm>
        <a:graphic>
          <a:graphicData uri="http://schemas.openxmlformats.org/drawingml/2006/table">
            <a:tbl>
              <a:tblPr/>
              <a:tblGrid>
                <a:gridCol w="1910080">
                  <a:extLst>
                    <a:ext uri="{9D8B030D-6E8A-4147-A177-3AD203B41FA5}">
                      <a16:colId xmlns:a16="http://schemas.microsoft.com/office/drawing/2014/main" val="94553978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1269924183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11687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PE" b="1">
                          <a:effectLst/>
                          <a:latin typeface="quote-cjk-patch"/>
                        </a:rPr>
                        <a:t>Situación</a:t>
                      </a:r>
                      <a:endParaRPr lang="es-PE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PE" b="1">
                          <a:effectLst/>
                          <a:latin typeface="quote-cjk-patch"/>
                        </a:rPr>
                        <a:t>Objetivo</a:t>
                      </a:r>
                      <a:endParaRPr lang="es-PE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PE" b="1">
                          <a:effectLst/>
                          <a:latin typeface="quote-cjk-patch"/>
                        </a:rPr>
                        <a:t>Razón</a:t>
                      </a:r>
                      <a:endParaRPr lang="es-PE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150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b="0">
                          <a:effectLst/>
                          <a:latin typeface="quote-cjk-patch"/>
                        </a:rPr>
                        <a:t>Depreciación acelerada de la moneda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PE" b="0" dirty="0">
                          <a:effectLst/>
                          <a:latin typeface="quote-cjk-patch"/>
                        </a:rPr>
                        <a:t>Estabilizar tipo de cambio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PE" b="0">
                          <a:effectLst/>
                          <a:latin typeface="quote-cjk-patch"/>
                        </a:rPr>
                        <a:t>Evitar crisis cambiaria, proteger poder adquisitivo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874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PE" b="0">
                          <a:effectLst/>
                          <a:latin typeface="quote-cjk-patch"/>
                        </a:rPr>
                        <a:t>Ataque especulativo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PE" b="0">
                          <a:effectLst/>
                          <a:latin typeface="quote-cjk-patch"/>
                        </a:rPr>
                        <a:t>Defender la moneda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b="0">
                          <a:effectLst/>
                          <a:latin typeface="quote-cjk-patch"/>
                        </a:rPr>
                        <a:t>Mantener credibilidad del Banco Central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141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b="0">
                          <a:effectLst/>
                          <a:latin typeface="quote-cjk-patch"/>
                        </a:rPr>
                        <a:t>Exceso de liquidez en moneda nacional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PE" b="0">
                          <a:effectLst/>
                          <a:latin typeface="quote-cjk-patch"/>
                        </a:rPr>
                        <a:t>Controlar inflación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PE" b="0">
                          <a:effectLst/>
                          <a:latin typeface="quote-cjk-patch"/>
                        </a:rPr>
                        <a:t>Reducir presión inflacionaria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95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PE" b="0">
                          <a:effectLst/>
                          <a:latin typeface="quote-cjk-patch"/>
                        </a:rPr>
                        <a:t>Cumplir metas de inflación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PE" b="0">
                          <a:effectLst/>
                          <a:latin typeface="quote-cjk-patch"/>
                        </a:rPr>
                        <a:t>Política contractiva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PE" b="0" dirty="0">
                          <a:effectLst/>
                          <a:latin typeface="quote-cjk-patch"/>
                        </a:rPr>
                        <a:t>Enfriar economía sobrecalentada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72110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6454D17-25E6-9BA1-7612-7C2B979F7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656" y="407424"/>
            <a:ext cx="6120680" cy="9540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Cuándo y Por Qué un Banco Central Vende Divisas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679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91DB3-BB2A-B2A4-8767-71193445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826" y="503237"/>
            <a:ext cx="8229600" cy="457199"/>
          </a:xfrm>
        </p:spPr>
        <p:txBody>
          <a:bodyPr>
            <a:noAutofit/>
          </a:bodyPr>
          <a:lstStyle/>
          <a:p>
            <a:r>
              <a:rPr lang="es-PE" sz="3200" dirty="0"/>
              <a:t>Riesgos y Limitaciones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07BDD-FD67-1385-C8B9-C974018E2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ES" b="1" dirty="0"/>
              <a:t>1. Agotamiento de Reservas</a:t>
            </a:r>
          </a:p>
          <a:p>
            <a:pPr marL="0" indent="0" algn="just">
              <a:buNone/>
            </a:pPr>
            <a:r>
              <a:rPr lang="es-ES" dirty="0"/>
              <a:t>Si el Banco Central vende divisas constantemente, puede quedarse sin reservas internacionales</a:t>
            </a:r>
          </a:p>
          <a:p>
            <a:pPr marL="0" indent="0" algn="just">
              <a:buNone/>
            </a:pPr>
            <a:r>
              <a:rPr lang="es-ES" b="1" dirty="0"/>
              <a:t>Ejemplo</a:t>
            </a:r>
            <a:r>
              <a:rPr lang="es-ES" dirty="0"/>
              <a:t>: Crisis del "Tequila" en México (1994) - las reservas se agotaron</a:t>
            </a:r>
          </a:p>
          <a:p>
            <a:pPr marL="0" indent="0" algn="just">
              <a:buNone/>
            </a:pPr>
            <a:r>
              <a:rPr lang="es-ES" b="1" dirty="0"/>
              <a:t>2. Señal de Debilidad</a:t>
            </a:r>
          </a:p>
          <a:p>
            <a:pPr algn="just"/>
            <a:r>
              <a:rPr lang="es-ES" dirty="0"/>
              <a:t>Las ventas frecuentes pueden interpretarse como:</a:t>
            </a:r>
          </a:p>
          <a:p>
            <a:pPr algn="just"/>
            <a:r>
              <a:rPr lang="es-ES" dirty="0"/>
              <a:t>Debilidad de la moneda nacional</a:t>
            </a:r>
          </a:p>
          <a:p>
            <a:pPr algn="just"/>
            <a:r>
              <a:rPr lang="es-ES" dirty="0"/>
              <a:t>Falta de confianza en la economía</a:t>
            </a:r>
          </a:p>
          <a:p>
            <a:pPr algn="just"/>
            <a:r>
              <a:rPr lang="es-ES" dirty="0"/>
              <a:t>Puede incentivar más especulación</a:t>
            </a:r>
          </a:p>
          <a:p>
            <a:pPr marL="0" indent="0" algn="just">
              <a:buNone/>
            </a:pPr>
            <a:r>
              <a:rPr lang="es-ES" b="1" dirty="0"/>
              <a:t>3. Costo de Oportunidad</a:t>
            </a:r>
          </a:p>
          <a:p>
            <a:pPr marL="0" indent="0" algn="just">
              <a:buNone/>
            </a:pPr>
            <a:r>
              <a:rPr lang="es-ES" dirty="0"/>
              <a:t>Las reservas internacionales:</a:t>
            </a:r>
          </a:p>
          <a:p>
            <a:pPr algn="just"/>
            <a:r>
              <a:rPr lang="es-ES" dirty="0"/>
              <a:t>Generan rendimientos (intereses)</a:t>
            </a:r>
          </a:p>
          <a:p>
            <a:pPr algn="just"/>
            <a:r>
              <a:rPr lang="es-ES" dirty="0"/>
              <a:t>Sirven como colchón para crisis externas</a:t>
            </a:r>
          </a:p>
          <a:p>
            <a:pPr algn="just"/>
            <a:r>
              <a:rPr lang="es-ES" dirty="0"/>
              <a:t>Venderlas reduce protección futura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96309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7E333B36-6921-1D93-849C-2B58310A1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51833"/>
              </p:ext>
            </p:extLst>
          </p:nvPr>
        </p:nvGraphicFramePr>
        <p:xfrm>
          <a:off x="1619672" y="1772816"/>
          <a:ext cx="5730240" cy="293370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342186486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18633415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PE" b="1">
                          <a:effectLst/>
                          <a:latin typeface="quote-cjk-patch"/>
                        </a:rPr>
                        <a:t>Política Cambiaria</a:t>
                      </a:r>
                      <a:endParaRPr lang="es-PE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PE" b="1">
                          <a:effectLst/>
                          <a:latin typeface="quote-cjk-patch"/>
                        </a:rPr>
                        <a:t>Política Monetaria</a:t>
                      </a:r>
                      <a:endParaRPr lang="es-PE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882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b="0" dirty="0">
                          <a:effectLst/>
                          <a:latin typeface="quote-cjk-patch"/>
                        </a:rPr>
                        <a:t>Objetivo: Tipo de cambio estable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PE" b="0">
                          <a:effectLst/>
                          <a:latin typeface="quote-cjk-patch"/>
                        </a:rPr>
                        <a:t>Objetivo: Control de inflación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219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b="0">
                          <a:effectLst/>
                          <a:latin typeface="quote-cjk-patch"/>
                        </a:rPr>
                        <a:t>Herramienta: Venta/compra de divisas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b="0">
                          <a:effectLst/>
                          <a:latin typeface="quote-cjk-patch"/>
                        </a:rPr>
                        <a:t>Herramienta: Tasas de interés, encajes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423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PE" b="0">
                          <a:effectLst/>
                          <a:latin typeface="quote-cjk-patch"/>
                        </a:rPr>
                        <a:t>Efecto directo: Tipo de cambio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PE" b="0">
                          <a:effectLst/>
                          <a:latin typeface="quote-cjk-patch"/>
                        </a:rPr>
                        <a:t>Efecto directo: Liquidez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84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PE" b="1">
                          <a:effectLst/>
                          <a:latin typeface="quote-cjk-patch"/>
                        </a:rPr>
                        <a:t>Consecuencia</a:t>
                      </a:r>
                      <a:r>
                        <a:rPr lang="es-PE" b="0">
                          <a:effectLst/>
                          <a:latin typeface="quote-cjk-patch"/>
                        </a:rPr>
                        <a:t>: Afecta BM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ES" b="1" dirty="0">
                          <a:effectLst/>
                          <a:latin typeface="quote-cjk-patch"/>
                        </a:rPr>
                        <a:t>Consecuencia</a:t>
                      </a:r>
                      <a:r>
                        <a:rPr lang="es-ES" b="0" dirty="0">
                          <a:effectLst/>
                          <a:latin typeface="quote-cjk-patch"/>
                        </a:rPr>
                        <a:t>: Afecta tipo de cambio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80927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7A737DC-336E-78FF-03C6-439FC419F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752" y="420070"/>
            <a:ext cx="3641122" cy="11078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Relación con la Política Monetaria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Las ventas de divisas conectan dos políticas:</a:t>
            </a:r>
            <a:endParaRPr kumimoji="0" lang="es-PE" altLang="es-PE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072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B684DB-53A8-5CA3-58DB-A4F99459B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ES" b="1" dirty="0"/>
              <a:t>Conclusión Clave</a:t>
            </a:r>
          </a:p>
          <a:p>
            <a:pPr algn="just"/>
            <a:r>
              <a:rPr lang="es-ES" dirty="0"/>
              <a:t>Las ventas de divisas son una herramienta de </a:t>
            </a:r>
            <a:r>
              <a:rPr lang="es-ES" b="1" dirty="0"/>
              <a:t>doble filo</a:t>
            </a:r>
            <a:r>
              <a:rPr lang="es-ES" dirty="0"/>
              <a:t>: útiles para estabilizar el tipo de cambio a corto plazo, pero con efectos contractivos sobre la liquidez y riesgo de agotar reservas si se usan en exceso. Por eso los Bancos Centrales las combinan con otras herramientas y suelen </a:t>
            </a:r>
            <a:r>
              <a:rPr lang="es-ES" b="1" dirty="0"/>
              <a:t>esterilizar</a:t>
            </a:r>
            <a:r>
              <a:rPr lang="es-ES" dirty="0"/>
              <a:t> (neutralizar) parcialmente sus efectos monetarios mediante operaciones de mercado abierto complementarias.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64289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FC776D-9CF0-9EC5-1BBE-6F09415F8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ES" b="1" dirty="0"/>
              <a:t>CONTINUACION DE EJERCICIOS</a:t>
            </a:r>
          </a:p>
          <a:p>
            <a:pPr marL="0" indent="0">
              <a:buNone/>
            </a:pPr>
            <a:r>
              <a:rPr lang="es-ES" b="1" dirty="0"/>
              <a:t>Ejercicio 7: Componentes de la Oferta Monetaria</a:t>
            </a:r>
          </a:p>
          <a:p>
            <a:pPr marL="0" indent="0">
              <a:buNone/>
            </a:pPr>
            <a:r>
              <a:rPr lang="es-ES" b="1" dirty="0"/>
              <a:t>Enunciado:</a:t>
            </a:r>
            <a:br>
              <a:rPr lang="es-ES" dirty="0"/>
            </a:br>
            <a:r>
              <a:rPr lang="es-ES" dirty="0"/>
              <a:t>En una economía se tienen los siguientes datos (en millones de euros):</a:t>
            </a:r>
          </a:p>
          <a:p>
            <a:r>
              <a:rPr lang="es-ES" dirty="0"/>
              <a:t>Efectivo en manos del público: 75,000</a:t>
            </a:r>
          </a:p>
          <a:p>
            <a:r>
              <a:rPr lang="es-ES" dirty="0"/>
              <a:t>Depósitos a la vista: 180,000</a:t>
            </a:r>
          </a:p>
          <a:p>
            <a:r>
              <a:rPr lang="es-ES" dirty="0"/>
              <a:t>Depósitos de ahorro: 120,000</a:t>
            </a:r>
          </a:p>
          <a:p>
            <a:r>
              <a:rPr lang="es-ES" dirty="0"/>
              <a:t>Depósitos a plazo: 90,000</a:t>
            </a:r>
          </a:p>
          <a:p>
            <a:r>
              <a:rPr lang="es-ES" dirty="0"/>
              <a:t>Depósitos en moneda extranjera: 25,000</a:t>
            </a:r>
          </a:p>
          <a:p>
            <a:pPr marL="0" indent="0">
              <a:buNone/>
            </a:pPr>
            <a:r>
              <a:rPr lang="es-ES" dirty="0"/>
              <a:t>Calcula los agregados monetarios M1, M2 y M3 según la definición estándar.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41761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F0A76C-467A-BBFA-05ED-ABA6E4F56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620688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ES" b="1" dirty="0"/>
              <a:t>Ejercicio 8: Variación de la Oferta Monetaria</a:t>
            </a:r>
          </a:p>
          <a:p>
            <a:pPr marL="0" indent="0">
              <a:buNone/>
            </a:pPr>
            <a:r>
              <a:rPr lang="es-ES" dirty="0"/>
              <a:t>Partiendo de los datos del ejercicio anterior, durante el siguiente trimestre ocurren los siguientes cambios:</a:t>
            </a:r>
          </a:p>
          <a:p>
            <a:r>
              <a:rPr lang="es-ES" dirty="0"/>
              <a:t>El Banco Central inyecta 5,000 millones mediante compra de bonos</a:t>
            </a:r>
          </a:p>
          <a:p>
            <a:r>
              <a:rPr lang="es-ES" dirty="0"/>
              <a:t>El público retira 2,000 millones de depósitos a la vista y los mantiene en efectivo</a:t>
            </a:r>
          </a:p>
          <a:p>
            <a:r>
              <a:rPr lang="es-ES" dirty="0"/>
              <a:t>Los depósitos de ahorro aumentan en 8,000 millones</a:t>
            </a:r>
          </a:p>
          <a:p>
            <a:pPr marL="0" indent="0">
              <a:buNone/>
            </a:pPr>
            <a:r>
              <a:rPr lang="es-ES" dirty="0"/>
              <a:t>Calcula los nuevos valores de M1 y M2, asumiendo que el multiplicador monetario es 4 y que toda la inyección del Banco Central se convierte en nuevos depósitos.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40110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15BE6E-A16E-A39A-7305-C2C689985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11256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ES" b="1" dirty="0"/>
              <a:t>Ejercicio 9: Proceso monetario completo I</a:t>
            </a:r>
          </a:p>
          <a:p>
            <a:pPr marL="0" indent="0">
              <a:buNone/>
            </a:pPr>
            <a:r>
              <a:rPr lang="es-ES" dirty="0"/>
              <a:t>En una economía cerrada se conocen los siguientes datos iniciales:</a:t>
            </a:r>
          </a:p>
          <a:p>
            <a:r>
              <a:rPr lang="es-ES" dirty="0"/>
              <a:t>Base Monetaria: 50,000 millones de euros</a:t>
            </a:r>
          </a:p>
          <a:p>
            <a:r>
              <a:rPr lang="es-ES" dirty="0"/>
              <a:t>Coeficiente legal de reservas: 12%</a:t>
            </a:r>
          </a:p>
          <a:p>
            <a:r>
              <a:rPr lang="es-ES" dirty="0"/>
              <a:t>Relación efectivo/depósitos: 15%</a:t>
            </a:r>
          </a:p>
          <a:p>
            <a:r>
              <a:rPr lang="es-ES" dirty="0"/>
              <a:t>Exceso de reservas: 3%</a:t>
            </a:r>
          </a:p>
          <a:p>
            <a:pPr marL="0" indent="0">
              <a:buNone/>
            </a:pPr>
            <a:r>
              <a:rPr lang="es-ES" dirty="0"/>
              <a:t>Calcula:</a:t>
            </a:r>
            <a:br>
              <a:rPr lang="es-ES" dirty="0"/>
            </a:br>
            <a:r>
              <a:rPr lang="es-ES" dirty="0"/>
              <a:t>a) El multiplicador monetario</a:t>
            </a:r>
            <a:br>
              <a:rPr lang="es-ES" dirty="0"/>
            </a:br>
            <a:r>
              <a:rPr lang="es-ES" dirty="0"/>
              <a:t>b) La oferta monetaria inicial</a:t>
            </a:r>
            <a:br>
              <a:rPr lang="es-ES" dirty="0"/>
            </a:br>
            <a:r>
              <a:rPr lang="es-ES" dirty="0"/>
              <a:t>c) Si el Banco Central realiza una operación de mercado abierto comprando bonos por valor de 2,000 millones, ¿cuál será la nueva oferta monetaria?</a:t>
            </a:r>
            <a:br>
              <a:rPr lang="es-ES" dirty="0"/>
            </a:br>
            <a:r>
              <a:rPr lang="es-ES" dirty="0"/>
              <a:t>d) Descompón el aumento de la oferta monetaria en aumento del efectivo y aumento de los depósitos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9554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B55B5C-EA74-A8D2-264C-9CFDB9707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433467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ES" b="1" dirty="0"/>
              <a:t>Ejercicio 10: Proceso monetario completo II</a:t>
            </a:r>
          </a:p>
          <a:p>
            <a:pPr marL="0" indent="0" algn="just">
              <a:buNone/>
            </a:pPr>
            <a:r>
              <a:rPr lang="es-ES" dirty="0"/>
              <a:t>Un país tiene los siguientes datos macroeconómicos:</a:t>
            </a:r>
          </a:p>
          <a:p>
            <a:pPr algn="just"/>
            <a:r>
              <a:rPr lang="es-ES" dirty="0"/>
              <a:t>Efectivo en manos del público: 25,000 millones</a:t>
            </a:r>
          </a:p>
          <a:p>
            <a:pPr algn="just"/>
            <a:r>
              <a:rPr lang="es-ES" dirty="0"/>
              <a:t>Depósitos a la vista: 75,000 millones</a:t>
            </a:r>
          </a:p>
          <a:p>
            <a:pPr algn="just"/>
            <a:r>
              <a:rPr lang="es-ES" dirty="0"/>
              <a:t>Coeficiente de caja legal: 10%</a:t>
            </a:r>
          </a:p>
          <a:p>
            <a:pPr algn="just"/>
            <a:r>
              <a:rPr lang="es-ES" dirty="0"/>
              <a:t>Los bancos mantienen un exceso de reservas del 2% sobre los depósitos</a:t>
            </a:r>
          </a:p>
          <a:p>
            <a:pPr marL="0" indent="0" algn="just">
              <a:buNone/>
            </a:pPr>
            <a:r>
              <a:rPr lang="es-ES" dirty="0"/>
              <a:t>Se pide:</a:t>
            </a:r>
            <a:br>
              <a:rPr lang="es-ES" dirty="0"/>
            </a:br>
            <a:r>
              <a:rPr lang="es-ES" dirty="0"/>
              <a:t>a) Calcular la Base Monetaria actual</a:t>
            </a:r>
            <a:br>
              <a:rPr lang="es-ES" dirty="0"/>
            </a:br>
            <a:r>
              <a:rPr lang="es-ES" dirty="0"/>
              <a:t>b) Calcular el multiplicador monetario real</a:t>
            </a:r>
            <a:br>
              <a:rPr lang="es-ES" dirty="0"/>
            </a:br>
            <a:r>
              <a:rPr lang="es-ES" dirty="0"/>
              <a:t>c) Si el Banco Central desea aumentar la oferta monetaria en 10,000 millones, ¿en cuánto debe modificar la Base Monetaria?</a:t>
            </a:r>
            <a:br>
              <a:rPr lang="es-ES" dirty="0"/>
            </a:br>
            <a:r>
              <a:rPr lang="es-ES" dirty="0"/>
              <a:t>d) Si en lugar de modificar la BM, el Banco Central decide reducir el coeficiente legal de reservas al 8%, ¿cuál sería la nueva oferta monetaria?</a:t>
            </a:r>
            <a:br>
              <a:rPr lang="es-ES" dirty="0"/>
            </a:br>
            <a:r>
              <a:rPr lang="es-ES" dirty="0"/>
              <a:t>e) ¿Qué opción es más efectiva y por qué?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745403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1052</Words>
  <Application>Microsoft Office PowerPoint</Application>
  <PresentationFormat>Presentación en pantalla (4:3)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quote-cjk-patch</vt:lpstr>
      <vt:lpstr>Tema de Office</vt:lpstr>
      <vt:lpstr>Presentación de PowerPoint</vt:lpstr>
      <vt:lpstr>Ventas de Divisas por parte del Banco Central de Reserva</vt:lpstr>
      <vt:lpstr>Presentación de PowerPoint</vt:lpstr>
      <vt:lpstr>Presentación de PowerPoint</vt:lpstr>
      <vt:lpstr>Presentación de PowerPoint</vt:lpstr>
      <vt:lpstr>Presentación de PowerPoint</vt:lpstr>
      <vt:lpstr>Tipos de Ventas de Divisas </vt:lpstr>
      <vt:lpstr>Presentación de PowerPoint</vt:lpstr>
      <vt:lpstr>Riesgos y Limitaciones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Luffi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Luffi</dc:creator>
  <cp:lastModifiedBy>pamela torres toledo</cp:lastModifiedBy>
  <cp:revision>55</cp:revision>
  <dcterms:created xsi:type="dcterms:W3CDTF">2019-10-15T05:04:37Z</dcterms:created>
  <dcterms:modified xsi:type="dcterms:W3CDTF">2026-02-25T22:29:53Z</dcterms:modified>
</cp:coreProperties>
</file>