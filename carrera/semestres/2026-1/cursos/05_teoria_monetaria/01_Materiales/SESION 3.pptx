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2" r:id="rId3"/>
    <p:sldId id="284" r:id="rId4"/>
    <p:sldId id="285" r:id="rId5"/>
    <p:sldId id="288" r:id="rId6"/>
    <p:sldId id="289" r:id="rId7"/>
    <p:sldId id="290" r:id="rId8"/>
    <p:sldId id="286" r:id="rId9"/>
    <p:sldId id="283" r:id="rId10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382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7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99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836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2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31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03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50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813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486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1A3A-EFAD-4DCA-BFCF-B84FCBA4F73B}" type="datetimeFigureOut">
              <a:rPr lang="es-PE" smtClean="0"/>
              <a:t>16/02/2026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98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crp.gob.pe/sobre-el-bcrp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crp.gob.pe/sobre-el-bcrp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crp.gob.pe/sobre-el-bcrp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2" y="159143"/>
            <a:ext cx="8901229" cy="6510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611560" y="3414251"/>
            <a:ext cx="7772400" cy="2751053"/>
          </a:xfrm>
        </p:spPr>
        <p:txBody>
          <a:bodyPr>
            <a:noAutofit/>
          </a:bodyPr>
          <a:lstStyle/>
          <a:p>
            <a:pPr algn="ctr"/>
            <a:r>
              <a:rPr lang="es-PE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ESCUELA PROFESIONAL DE ECONOMIA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CURSO	: TEORIA MONETARIA Y BANCARIA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DOCENTE	: DRA. PAMELA TORRES TOLEDO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SEMESTRE	: 2026-I</a:t>
            </a:r>
          </a:p>
        </p:txBody>
      </p:sp>
      <p:sp>
        <p:nvSpPr>
          <p:cNvPr id="6" name="AutoShape 5" descr="Resultado de imagen para UNSAA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" name="6 Rectángulo"/>
          <p:cNvSpPr/>
          <p:nvPr/>
        </p:nvSpPr>
        <p:spPr>
          <a:xfrm>
            <a:off x="3131840" y="457386"/>
            <a:ext cx="5606396" cy="786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UNIVERSIDAD ANDINA DEL CUSCO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60" y="246497"/>
            <a:ext cx="2757003" cy="99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47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489" y="1196752"/>
            <a:ext cx="8229600" cy="43924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La creación del BCRP no fue un evento único, sino un proceso en dos etapas clave, impulsado por la necesidad de ordenar el sistema monetario y financiero del país</a:t>
            </a:r>
            <a:endParaRPr lang="es-PE" sz="20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s-PE" sz="3200" dirty="0"/>
              <a:t>EL BANCO CENTRAL DE RESERVA DEL PERU</a:t>
            </a:r>
          </a:p>
        </p:txBody>
      </p:sp>
    </p:spTree>
    <p:extLst>
      <p:ext uri="{BB962C8B-B14F-4D97-AF65-F5344CB8AC3E}">
        <p14:creationId xmlns:p14="http://schemas.microsoft.com/office/powerpoint/2010/main" val="161284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ABC21A-B367-74D0-1CD9-D5D8F29F9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620688"/>
            <a:ext cx="8229600" cy="5328592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s-ES" b="1" dirty="0"/>
              <a:t>1. Creación del Banco de Reserva del Perú (1922)</a:t>
            </a:r>
          </a:p>
          <a:p>
            <a:pPr marL="0" indent="0" algn="just">
              <a:buNone/>
            </a:pPr>
            <a:r>
              <a:rPr lang="es-ES" dirty="0"/>
              <a:t>El 9 de marzo de 1922, durante el gobierno de Augusto B. Leguía, se promulgó la Ley </a:t>
            </a:r>
            <a:r>
              <a:rPr lang="es-ES" dirty="0" err="1"/>
              <a:t>N.°</a:t>
            </a:r>
            <a:r>
              <a:rPr lang="es-ES" dirty="0"/>
              <a:t> 4500, que dio origen al </a:t>
            </a:r>
            <a:r>
              <a:rPr lang="es-ES" b="1" dirty="0"/>
              <a:t>Banco de Reserva del Perú (BRP)</a:t>
            </a:r>
            <a:r>
              <a:rPr lang="es-ES" dirty="0"/>
              <a:t> . Su creación respondía a la urgencia de contar con un organismo capaz de centralizar la emisión de billetes y ordenar la política monetaria, que hasta entonces era bastante dispersa y dependiente de los bancos comerciales . </a:t>
            </a:r>
          </a:p>
          <a:p>
            <a:pPr marL="0" indent="0" algn="just">
              <a:buNone/>
            </a:pPr>
            <a:r>
              <a:rPr lang="es-ES" dirty="0"/>
              <a:t>Este nuevo banco, que tomó como modelo a la Reserva Federal de los EE. UU., inició sus labores el 4 de abril de ese mismo año con Eulogio Romero como su primer presidente . </a:t>
            </a:r>
          </a:p>
          <a:p>
            <a:pPr marL="0" indent="0" algn="just">
              <a:buNone/>
            </a:pPr>
            <a:r>
              <a:rPr lang="es-ES" dirty="0"/>
              <a:t>Su objetivo era estabilizar el valor de la moneda, que en esa época era la Libra peruana de oro, y evitar tanto la inflación en años de bonanza como la deflación, problemas típicos del sistema del Patrón Oro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16748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AD7188-176E-BE25-28E5-AD1289835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s-ES" b="1" dirty="0"/>
              <a:t>2. Transformación en Banco Central de Reserva del Perú (1931)</a:t>
            </a:r>
          </a:p>
          <a:p>
            <a:pPr marL="0" indent="0" algn="just">
              <a:buNone/>
            </a:pPr>
            <a:r>
              <a:rPr lang="es-ES" dirty="0"/>
              <a:t>La Gran Depresión de 1929 golpeó duramente la economía peruana, afectando la estabilidad del Banco de Reserva. La caída de los precios internacionales y las restricciones al crédito generaron una fuerte depreciación de la moneda . </a:t>
            </a:r>
          </a:p>
          <a:p>
            <a:pPr marL="0" indent="0" algn="just">
              <a:buNone/>
            </a:pPr>
            <a:r>
              <a:rPr lang="es-ES" dirty="0"/>
              <a:t>Ante esta crisis, el gobierno peruano contrató los servicios del reconocido profesor estadounidense </a:t>
            </a:r>
            <a:r>
              <a:rPr lang="es-ES" b="1" dirty="0"/>
              <a:t>Edwin W. Kemmerer</a:t>
            </a:r>
            <a:r>
              <a:rPr lang="es-ES" dirty="0"/>
              <a:t>, un afamado "doctor en dinero" que asesoraba a varios países en temas de estabilización monetaria . </a:t>
            </a:r>
          </a:p>
          <a:p>
            <a:pPr marL="0" indent="0" algn="just">
              <a:buNone/>
            </a:pPr>
            <a:r>
              <a:rPr lang="es-ES" dirty="0"/>
              <a:t>Siguiendo sus recomendaciones, el 28 de abril de 1931 se transformó el Banco de Reserva en el </a:t>
            </a:r>
            <a:r>
              <a:rPr lang="es-ES" b="1" dirty="0"/>
              <a:t>Banco Central de Reserva del Perú (BCRP)</a:t>
            </a:r>
            <a:r>
              <a:rPr lang="es-ES" dirty="0"/>
              <a:t> mediante el Decreto Ley </a:t>
            </a:r>
            <a:r>
              <a:rPr lang="es-ES" dirty="0" err="1"/>
              <a:t>N.°</a:t>
            </a:r>
            <a:r>
              <a:rPr lang="es-ES" dirty="0"/>
              <a:t> 7137 . </a:t>
            </a:r>
          </a:p>
          <a:p>
            <a:pPr marL="0" indent="0" algn="just">
              <a:buNone/>
            </a:pPr>
            <a:r>
              <a:rPr lang="es-ES" dirty="0"/>
              <a:t>Esta nueva entidad, inaugurada oficialmente el 3 de septiembre de 1931 con Manuel Augusto Olaechea como su primer presidente, tuvo como objetivo principal y claro el </a:t>
            </a:r>
            <a:r>
              <a:rPr lang="es-ES" b="1" dirty="0"/>
              <a:t>mantenimiento del valor de la moneda</a:t>
            </a:r>
            <a:r>
              <a:rPr lang="es-ES" dirty="0"/>
              <a:t> (que pasó a ser el Sol de Oro) y la exclusividad de la emisión de billetes, sentando las bases del banco central moderno 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4577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5478A-98B4-72B9-9A4F-EA70DDE2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dirty="0"/>
              <a:t>Objetivo, finalidad y funciones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15688F-24BC-F117-E6CB-6DBC11470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PE" dirty="0">
                <a:hlinkClick r:id="rId2"/>
              </a:rPr>
              <a:t>https://www.bcrp.gob.pe/sobre-el-bcrp.html</a:t>
            </a: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0" indent="0" algn="just">
              <a:buNone/>
            </a:pPr>
            <a:r>
              <a:rPr lang="es-PE" dirty="0"/>
              <a:t>Finalidad y funciones:</a:t>
            </a:r>
          </a:p>
          <a:p>
            <a:pPr marL="0" indent="0" algn="just">
              <a:buNone/>
            </a:pPr>
            <a:r>
              <a:rPr lang="es-ES" dirty="0"/>
              <a:t>Hay dos aspectos fundamentales que la Constitución Peruana establece con relación al Banco Central: su finalidad de preservar la estabilidad monetaria y su autonomía. De acuerdo a la Constitución, el Banco Central tiene las siguientes funciones:</a:t>
            </a:r>
          </a:p>
          <a:p>
            <a:pPr algn="just"/>
            <a:r>
              <a:rPr lang="es-ES" dirty="0"/>
              <a:t>Regular la moneda y el crédito del sistema financiero.</a:t>
            </a:r>
          </a:p>
          <a:p>
            <a:pPr algn="just"/>
            <a:r>
              <a:rPr lang="es-ES" dirty="0"/>
              <a:t>Administrar las reservas internacionales.</a:t>
            </a:r>
          </a:p>
          <a:p>
            <a:pPr algn="just"/>
            <a:r>
              <a:rPr lang="es-ES" dirty="0"/>
              <a:t>Emitir billetes y monedas.</a:t>
            </a:r>
          </a:p>
          <a:p>
            <a:pPr algn="just"/>
            <a:r>
              <a:rPr lang="es-ES" dirty="0"/>
              <a:t>Informar periódicamente sobre las finanzas nacionales.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2877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687D34-71FA-37C0-54CF-A9CB5A540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Papel del BCRP</a:t>
            </a:r>
          </a:p>
          <a:p>
            <a:pPr marL="0" indent="0" algn="just">
              <a:buNone/>
            </a:pPr>
            <a:r>
              <a:rPr lang="es-ES" u="sng" dirty="0"/>
              <a:t>II. Estabilidad monetaria: Diseño e implementación de la política monetaria</a:t>
            </a:r>
            <a:endParaRPr lang="es-ES" dirty="0"/>
          </a:p>
          <a:p>
            <a:pPr marL="0" indent="0" algn="just">
              <a:buNone/>
            </a:pPr>
            <a:r>
              <a:rPr lang="es-ES" u="sng" dirty="0"/>
              <a:t>III. Sistemas de pagos</a:t>
            </a:r>
            <a:endParaRPr lang="es-ES" dirty="0"/>
          </a:p>
          <a:p>
            <a:pPr marL="0" indent="0" algn="just">
              <a:buNone/>
            </a:pPr>
            <a:r>
              <a:rPr lang="es-ES" u="sng" dirty="0"/>
              <a:t>IV. Administración de las reservas internacionales</a:t>
            </a:r>
            <a:endParaRPr lang="es-ES" dirty="0"/>
          </a:p>
          <a:p>
            <a:pPr marL="0" indent="0" algn="just">
              <a:buNone/>
            </a:pPr>
            <a:r>
              <a:rPr lang="es-ES" u="sng" dirty="0"/>
              <a:t>V. Emisión de billetes y monedas</a:t>
            </a:r>
            <a:endParaRPr lang="es-ES" dirty="0"/>
          </a:p>
          <a:p>
            <a:pPr marL="0" indent="0" algn="just">
              <a:buNone/>
            </a:pPr>
            <a:r>
              <a:rPr lang="es-ES" u="sng" dirty="0"/>
              <a:t>VI. Difusión de información económica</a:t>
            </a:r>
          </a:p>
          <a:p>
            <a:pPr marL="0" indent="0" algn="just">
              <a:buNone/>
            </a:pPr>
            <a:r>
              <a:rPr lang="es-PE" u="sng" dirty="0"/>
              <a:t>VII. Proyección institucional</a:t>
            </a:r>
            <a:endParaRPr lang="es-ES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22033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D63F8-645A-B113-1398-5DD6A38A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s-PE" dirty="0"/>
              <a:t>Planes y políticas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59C2DA-CF4F-B69F-1660-244F2FD49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r>
              <a:rPr lang="es-ES" u="sng" dirty="0"/>
              <a:t>Plan Estratégico del BCRP</a:t>
            </a:r>
            <a:endParaRPr lang="es-ES" dirty="0"/>
          </a:p>
          <a:p>
            <a:r>
              <a:rPr lang="es-ES" u="sng" dirty="0"/>
              <a:t>Plan Operativo Institucional</a:t>
            </a:r>
            <a:endParaRPr lang="es-ES" dirty="0"/>
          </a:p>
          <a:p>
            <a:r>
              <a:rPr lang="es-ES" u="sng" dirty="0"/>
              <a:t>Plan de Gobierno Digital</a:t>
            </a:r>
            <a:endParaRPr lang="es-ES" dirty="0"/>
          </a:p>
          <a:p>
            <a:r>
              <a:rPr lang="es-ES" u="sng" dirty="0"/>
              <a:t>Política de Calidad</a:t>
            </a:r>
            <a:endParaRPr lang="es-ES" dirty="0"/>
          </a:p>
          <a:p>
            <a:pPr marL="0" indent="0">
              <a:buNone/>
            </a:pPr>
            <a:r>
              <a:rPr lang="es-PE" dirty="0">
                <a:hlinkClick r:id="rId2"/>
              </a:rPr>
              <a:t>https://www.bcrp.gob.pe/sobre-el-bcrp.html</a:t>
            </a:r>
            <a:endParaRPr lang="es-PE" dirty="0"/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75928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F313-7364-9E1D-772A-18DE5531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ORGANIZACION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51F9CE-71D7-FA82-9495-65C646237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Directorio</a:t>
            </a:r>
          </a:p>
          <a:p>
            <a:r>
              <a:rPr lang="es-ES" dirty="0"/>
              <a:t>El Banco es gobernado por un Directorio de siete miembros. El Poder Ejecutivo designa a cuatro, entre ellos al Presidente. El Congreso ratifica a éste, y elige a los tres restantes.</a:t>
            </a:r>
          </a:p>
          <a:p>
            <a:pPr marL="0" indent="0">
              <a:buNone/>
            </a:pPr>
            <a:r>
              <a:rPr lang="es-ES" dirty="0">
                <a:hlinkClick r:id="rId2"/>
              </a:rPr>
              <a:t>https://www.bcrp.gob.pe/sobre-el-bcrp.html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1647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EF631C-27D7-DB91-A575-2028244FF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Trabajo grupal:</a:t>
            </a:r>
          </a:p>
          <a:p>
            <a:pPr marL="0" indent="0">
              <a:buNone/>
            </a:pPr>
            <a:r>
              <a:rPr lang="es-PE" dirty="0"/>
              <a:t>Analice, resuma y exponga los casos asignados en clase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97290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639</Words>
  <Application>Microsoft Office PowerPoint</Application>
  <PresentationFormat>Presentación en pantalla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Tema de Office</vt:lpstr>
      <vt:lpstr>Presentación de PowerPoint</vt:lpstr>
      <vt:lpstr>EL BANCO CENTRAL DE RESERVA DEL PERU</vt:lpstr>
      <vt:lpstr>Presentación de PowerPoint</vt:lpstr>
      <vt:lpstr>Presentación de PowerPoint</vt:lpstr>
      <vt:lpstr>Objetivo, finalidad y funciones</vt:lpstr>
      <vt:lpstr>Presentación de PowerPoint</vt:lpstr>
      <vt:lpstr>Planes y políticas</vt:lpstr>
      <vt:lpstr>ORGANIZACION</vt:lpstr>
      <vt:lpstr>Presentación de PowerPoint</vt:lpstr>
    </vt:vector>
  </TitlesOfParts>
  <Company>Luffi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Luffi</dc:creator>
  <cp:lastModifiedBy>pamela torres toledo</cp:lastModifiedBy>
  <cp:revision>53</cp:revision>
  <dcterms:created xsi:type="dcterms:W3CDTF">2019-10-15T05:04:37Z</dcterms:created>
  <dcterms:modified xsi:type="dcterms:W3CDTF">2026-02-16T22:12:37Z</dcterms:modified>
</cp:coreProperties>
</file>