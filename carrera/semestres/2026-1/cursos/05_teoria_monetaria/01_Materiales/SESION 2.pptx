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2" r:id="rId3"/>
    <p:sldId id="273" r:id="rId4"/>
    <p:sldId id="274" r:id="rId5"/>
    <p:sldId id="275" r:id="rId6"/>
    <p:sldId id="276" r:id="rId7"/>
    <p:sldId id="277" r:id="rId8"/>
    <p:sldId id="280" r:id="rId9"/>
    <p:sldId id="278" r:id="rId10"/>
    <p:sldId id="279" r:id="rId11"/>
    <p:sldId id="282" r:id="rId12"/>
    <p:sldId id="281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83" r:id="rId24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382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77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99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836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12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831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03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504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813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7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486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1A3A-EFAD-4DCA-BFCF-B84FCBA4F73B}" type="datetimeFigureOut">
              <a:rPr lang="es-PE" smtClean="0"/>
              <a:t>11/02/2026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983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72" y="159143"/>
            <a:ext cx="8901229" cy="6510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611560" y="3414251"/>
            <a:ext cx="7772400" cy="2751053"/>
          </a:xfrm>
        </p:spPr>
        <p:txBody>
          <a:bodyPr>
            <a:noAutofit/>
          </a:bodyPr>
          <a:lstStyle/>
          <a:p>
            <a:pPr algn="ctr"/>
            <a:r>
              <a:rPr lang="es-PE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ESCUELA PROFESIONAL DE ECONOMIA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CURSO	: TEORIA MONETARIA Y BANCARIA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DOCENTE	: DRA. PAMELA TORRES TOLEDO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SEMESTRE	: 2026-I</a:t>
            </a:r>
          </a:p>
        </p:txBody>
      </p:sp>
      <p:sp>
        <p:nvSpPr>
          <p:cNvPr id="6" name="AutoShape 5" descr="Resultado de imagen para UNSAA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" name="6 Rectángulo"/>
          <p:cNvSpPr/>
          <p:nvPr/>
        </p:nvSpPr>
        <p:spPr>
          <a:xfrm>
            <a:off x="3131840" y="457386"/>
            <a:ext cx="5606396" cy="7869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2800" b="1" dirty="0">
                <a:solidFill>
                  <a:schemeClr val="tx1"/>
                </a:solidFill>
              </a:rPr>
              <a:t>UNIVERSIDAD ANDINA DEL CUSCO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60" y="246497"/>
            <a:ext cx="2757003" cy="99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47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489" y="1196752"/>
            <a:ext cx="8229600" cy="439248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sz="2000" dirty="0"/>
              <a:t>El </a:t>
            </a:r>
            <a:r>
              <a:rPr lang="es-ES" sz="2000" b="1" dirty="0"/>
              <a:t>sistema financiero</a:t>
            </a:r>
            <a:r>
              <a:rPr lang="es-ES" sz="2000" dirty="0"/>
              <a:t> es el conjunto de instituciones, mercados, normas e instrumentos que permiten que el dinero circule dentro de una economía. Su función principal es </a:t>
            </a:r>
            <a:r>
              <a:rPr lang="es-ES" sz="2000" b="1" dirty="0"/>
              <a:t>canalizar el ahorro hacia la inversión.</a:t>
            </a:r>
          </a:p>
          <a:p>
            <a:pPr marL="0" indent="0" algn="just">
              <a:buNone/>
            </a:pPr>
            <a:endParaRPr lang="es-ES" sz="2000" b="1" dirty="0"/>
          </a:p>
          <a:p>
            <a:pPr algn="just"/>
            <a:r>
              <a:rPr lang="es-ES" sz="2000" dirty="0"/>
              <a:t>Permite que:</a:t>
            </a:r>
          </a:p>
          <a:p>
            <a:pPr algn="just"/>
            <a:r>
              <a:rPr lang="es-ES" sz="2000" dirty="0"/>
              <a:t>Las personas ahorren.</a:t>
            </a:r>
          </a:p>
          <a:p>
            <a:pPr algn="just"/>
            <a:r>
              <a:rPr lang="es-ES" sz="2000" dirty="0"/>
              <a:t>Las empresas consigan financiamiento.</a:t>
            </a:r>
          </a:p>
          <a:p>
            <a:pPr algn="just"/>
            <a:r>
              <a:rPr lang="es-ES" sz="2000" dirty="0"/>
              <a:t>El Estado obtenga recursos para obras públicas.</a:t>
            </a:r>
          </a:p>
          <a:p>
            <a:pPr algn="just"/>
            <a:r>
              <a:rPr lang="es-ES" sz="2000" dirty="0"/>
              <a:t>Se realicen pagos y transacciones.</a:t>
            </a:r>
          </a:p>
          <a:p>
            <a:pPr marL="0" indent="0" algn="just">
              <a:buNone/>
            </a:pPr>
            <a:r>
              <a:rPr lang="es-ES" sz="2000" dirty="0"/>
              <a:t>Ejemplo:</a:t>
            </a:r>
            <a:br>
              <a:rPr lang="es-ES" sz="2000" dirty="0"/>
            </a:br>
            <a:r>
              <a:rPr lang="es-ES" sz="2000" dirty="0"/>
              <a:t>Una persona deposita dinero en un banco → el banco presta ese dinero a una empresa → la empresa produce bienes → genera empleo → impulsa la economía.</a:t>
            </a:r>
          </a:p>
          <a:p>
            <a:pPr marL="0" indent="0" algn="just">
              <a:buNone/>
            </a:pPr>
            <a:endParaRPr lang="es-PE" sz="20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es-PE" sz="3200" dirty="0"/>
              <a:t>EL SISTEMA FINANCIERO</a:t>
            </a:r>
          </a:p>
        </p:txBody>
      </p:sp>
    </p:spTree>
    <p:extLst>
      <p:ext uri="{BB962C8B-B14F-4D97-AF65-F5344CB8AC3E}">
        <p14:creationId xmlns:p14="http://schemas.microsoft.com/office/powerpoint/2010/main" val="161284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6652A-4255-4187-72C9-65715C2B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Componentes del sistema financiero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36C60-23B0-198C-2E64-D5A80CFDF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ES" dirty="0"/>
              <a:t>El sistema financiero está compuesto por tres elementos principales:</a:t>
            </a:r>
          </a:p>
          <a:p>
            <a:pPr algn="just"/>
            <a:r>
              <a:rPr lang="es-ES" dirty="0"/>
              <a:t>Mercados financieros</a:t>
            </a:r>
          </a:p>
          <a:p>
            <a:pPr algn="just"/>
            <a:r>
              <a:rPr lang="es-ES" dirty="0"/>
              <a:t>Intermediarios financieros</a:t>
            </a:r>
          </a:p>
          <a:p>
            <a:pPr algn="just"/>
            <a:r>
              <a:rPr lang="es-ES" dirty="0"/>
              <a:t>Instrumentos financieros /Información y regulación</a:t>
            </a:r>
          </a:p>
          <a:p>
            <a:pPr algn="just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6417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6305E-C5AF-1A85-77F1-D28FCBB9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s-PE" sz="3600" dirty="0"/>
              <a:t>1. MERCADOS FINANCIEROS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B4FC46-A739-A0E8-AA72-305DBEE5A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algn="just"/>
            <a:r>
              <a:rPr lang="es-ES" sz="3600" dirty="0"/>
              <a:t>Son los espacios donde se compran y venden activos financieros (dinero, bonos, acciones, etc.).</a:t>
            </a:r>
          </a:p>
          <a:p>
            <a:pPr algn="just"/>
            <a:r>
              <a:rPr lang="es-ES" sz="3600" dirty="0"/>
              <a:t>Permiten que quienes tienen dinero lo presten o inviertan y quienes lo necesitan lo obtengan.</a:t>
            </a:r>
          </a:p>
          <a:p>
            <a:pPr marL="0" indent="0" algn="just">
              <a:buNone/>
            </a:pPr>
            <a:endParaRPr lang="es-PE" sz="3600" dirty="0"/>
          </a:p>
        </p:txBody>
      </p:sp>
    </p:spTree>
    <p:extLst>
      <p:ext uri="{BB962C8B-B14F-4D97-AF65-F5344CB8AC3E}">
        <p14:creationId xmlns:p14="http://schemas.microsoft.com/office/powerpoint/2010/main" val="2103686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BDC07-1334-9C08-220D-FEB17996B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s-PE" dirty="0"/>
              <a:t>Tipos de mercados financieros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C1E9C2-74CF-770C-5D6C-DBFEAEAE4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139" y="1124744"/>
            <a:ext cx="8229600" cy="51125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dirty="0"/>
              <a:t>✅ Según el tiempo del financiamiento</a:t>
            </a:r>
          </a:p>
          <a:p>
            <a:pPr marL="0" indent="0">
              <a:buNone/>
            </a:pPr>
            <a:r>
              <a:rPr lang="es-ES" b="1" dirty="0"/>
              <a:t>A. Mercado de dinero o monetario</a:t>
            </a:r>
          </a:p>
          <a:p>
            <a:pPr marL="0" indent="0">
              <a:buNone/>
            </a:pPr>
            <a:r>
              <a:rPr lang="es-ES" dirty="0"/>
              <a:t>Opera con instrumentos de corto plazo (menos de 1 año).</a:t>
            </a:r>
          </a:p>
          <a:p>
            <a:r>
              <a:rPr lang="es-ES" dirty="0"/>
              <a:t>Alta liquidez.</a:t>
            </a:r>
          </a:p>
          <a:p>
            <a:r>
              <a:rPr lang="es-ES" dirty="0"/>
              <a:t>Bajo riesgo.</a:t>
            </a:r>
          </a:p>
          <a:p>
            <a:pPr marL="0" indent="0">
              <a:buNone/>
            </a:pPr>
            <a:r>
              <a:rPr lang="es-ES" dirty="0"/>
              <a:t>Ejemplos:</a:t>
            </a:r>
          </a:p>
          <a:p>
            <a:r>
              <a:rPr lang="es-ES" dirty="0"/>
              <a:t>Certificados de depósito</a:t>
            </a:r>
          </a:p>
          <a:p>
            <a:r>
              <a:rPr lang="es-ES" dirty="0"/>
              <a:t>Letras del Tesoro</a:t>
            </a:r>
          </a:p>
          <a:p>
            <a:r>
              <a:rPr lang="es-ES" dirty="0"/>
              <a:t>Pagarés</a:t>
            </a:r>
          </a:p>
          <a:p>
            <a:pPr marL="0" indent="0">
              <a:buNone/>
            </a:pPr>
            <a:r>
              <a:rPr lang="es-ES" dirty="0"/>
              <a:t>Uso:</a:t>
            </a:r>
            <a:br>
              <a:rPr lang="es-ES" dirty="0"/>
            </a:br>
            <a:r>
              <a:rPr lang="es-ES" dirty="0"/>
              <a:t>Se usa para financiar necesidades inmediatas; para cubrir necesidades temporales de dinero.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89213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81FA53-9B8D-4574-0981-EA53CE3C0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620688"/>
            <a:ext cx="8229600" cy="525658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ES" b="1" dirty="0"/>
              <a:t>B. Mercado de capitales</a:t>
            </a:r>
          </a:p>
          <a:p>
            <a:pPr algn="just"/>
            <a:r>
              <a:rPr lang="es-ES" dirty="0"/>
              <a:t>Opera con instrumentos de largo plazo.</a:t>
            </a:r>
          </a:p>
          <a:p>
            <a:pPr algn="just"/>
            <a:r>
              <a:rPr lang="es-ES" dirty="0"/>
              <a:t>Financia proyectos grandes y de largo tiempo o inversiones duraderas.</a:t>
            </a:r>
          </a:p>
          <a:p>
            <a:pPr marL="0" indent="0" algn="just">
              <a:buNone/>
            </a:pPr>
            <a:r>
              <a:rPr lang="es-ES" dirty="0"/>
              <a:t>Ejemplos:</a:t>
            </a:r>
          </a:p>
          <a:p>
            <a:pPr algn="just"/>
            <a:r>
              <a:rPr lang="es-ES" dirty="0"/>
              <a:t>Acciones</a:t>
            </a:r>
          </a:p>
          <a:p>
            <a:pPr algn="just"/>
            <a:r>
              <a:rPr lang="es-ES" dirty="0"/>
              <a:t>Bonos corporativos</a:t>
            </a:r>
          </a:p>
          <a:p>
            <a:pPr algn="just"/>
            <a:r>
              <a:rPr lang="es-ES" dirty="0"/>
              <a:t>Bonos del Estado</a:t>
            </a:r>
          </a:p>
          <a:p>
            <a:pPr marL="0" indent="0" algn="just">
              <a:buNone/>
            </a:pPr>
            <a:r>
              <a:rPr lang="es-ES" dirty="0"/>
              <a:t>Ejemplo en Perú:</a:t>
            </a:r>
            <a:br>
              <a:rPr lang="es-ES" dirty="0"/>
            </a:br>
            <a:r>
              <a:rPr lang="es-ES" dirty="0"/>
              <a:t>La Bolsa de Valores de Lima (BVL).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59483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83E734-150A-DF86-88BB-F04211ECF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C. Mercado de divisas</a:t>
            </a:r>
          </a:p>
          <a:p>
            <a:r>
              <a:rPr lang="es-ES" dirty="0"/>
              <a:t>Se intercambian monedas extranjeras.</a:t>
            </a:r>
          </a:p>
          <a:p>
            <a:r>
              <a:rPr lang="es-ES" dirty="0"/>
              <a:t>Determina el tipo de cambio.</a:t>
            </a:r>
          </a:p>
          <a:p>
            <a:pPr marL="0" indent="0">
              <a:buNone/>
            </a:pPr>
            <a:r>
              <a:rPr lang="es-ES" dirty="0"/>
              <a:t>Ejemplo:</a:t>
            </a:r>
            <a:br>
              <a:rPr lang="es-ES" dirty="0"/>
            </a:br>
            <a:r>
              <a:rPr lang="es-ES" dirty="0"/>
              <a:t>Compra y venta de dólares en Perú.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337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D4AEEC-C87E-C9C9-EBD1-81164AB1D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D. Mercado de derivados</a:t>
            </a:r>
          </a:p>
          <a:p>
            <a:r>
              <a:rPr lang="es-ES" dirty="0"/>
              <a:t>Se negocian contratos cuyo valor depende de otro activo.</a:t>
            </a:r>
          </a:p>
          <a:p>
            <a:r>
              <a:rPr lang="es-ES" dirty="0"/>
              <a:t>Se usan para cubrir riesgos.</a:t>
            </a:r>
          </a:p>
          <a:p>
            <a:pPr marL="0" indent="0">
              <a:buNone/>
            </a:pPr>
            <a:r>
              <a:rPr lang="es-ES" dirty="0"/>
              <a:t>Ejemplo:</a:t>
            </a:r>
            <a:br>
              <a:rPr lang="es-ES" dirty="0"/>
            </a:br>
            <a:r>
              <a:rPr lang="es-ES" dirty="0"/>
              <a:t>Futuros, opciones y swaps.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32264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11B3B6-1F4F-8B7C-C3AD-D36415B76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CLASIFICACION POR FASES DE NEGOCIACION</a:t>
            </a:r>
          </a:p>
          <a:p>
            <a:pPr marL="0" indent="0">
              <a:buNone/>
            </a:pPr>
            <a:r>
              <a:rPr lang="es-ES" b="1" dirty="0"/>
              <a:t>A. Mercado primario</a:t>
            </a:r>
          </a:p>
          <a:p>
            <a:r>
              <a:rPr lang="es-ES" dirty="0"/>
              <a:t>Se venden valores por primera vez.</a:t>
            </a:r>
          </a:p>
          <a:p>
            <a:r>
              <a:rPr lang="es-ES" dirty="0"/>
              <a:t>Las empresas o el Estado obtienen directamente el dinero.</a:t>
            </a:r>
          </a:p>
          <a:p>
            <a:pPr marL="0" indent="0">
              <a:buNone/>
            </a:pPr>
            <a:r>
              <a:rPr lang="es-ES" dirty="0"/>
              <a:t>Ejemplo:</a:t>
            </a:r>
          </a:p>
          <a:p>
            <a:r>
              <a:rPr lang="es-ES" dirty="0"/>
              <a:t>Una empresa emite acciones para financiar su crecimiento.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30874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6B779C-8B14-4264-E94C-92481BB3A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692696"/>
            <a:ext cx="8229600" cy="5184576"/>
          </a:xfrm>
        </p:spPr>
        <p:txBody>
          <a:bodyPr/>
          <a:lstStyle/>
          <a:p>
            <a:pPr marL="0" indent="0" algn="just">
              <a:buNone/>
            </a:pPr>
            <a:r>
              <a:rPr lang="es-PE" b="1" dirty="0"/>
              <a:t>B. Mercado secundario</a:t>
            </a:r>
          </a:p>
          <a:p>
            <a:pPr algn="just"/>
            <a:r>
              <a:rPr lang="es-PE" dirty="0"/>
              <a:t>Se compran y venden valores ya emitidos.</a:t>
            </a:r>
          </a:p>
          <a:p>
            <a:pPr algn="just"/>
            <a:r>
              <a:rPr lang="es-PE" dirty="0"/>
              <a:t>No financia directamente a la empresa.</a:t>
            </a:r>
          </a:p>
          <a:p>
            <a:pPr algn="just"/>
            <a:r>
              <a:rPr lang="es-PE" dirty="0"/>
              <a:t>Da liquidez a los inversionistas.</a:t>
            </a:r>
          </a:p>
          <a:p>
            <a:pPr algn="just"/>
            <a:r>
              <a:rPr lang="es-PE" dirty="0"/>
              <a:t>Ejemplo:</a:t>
            </a:r>
          </a:p>
          <a:p>
            <a:pPr algn="just"/>
            <a:r>
              <a:rPr lang="es-PE" dirty="0"/>
              <a:t>Bolsa de Valores de Lima.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48257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0A0583-755C-FED5-5EE3-42296D7E4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s-PE" dirty="0"/>
              <a:t>CLASIFICACION POR ORGANIZACIÓN</a:t>
            </a:r>
          </a:p>
          <a:p>
            <a:pPr algn="just"/>
            <a:r>
              <a:rPr lang="es-ES" b="1" dirty="0"/>
              <a:t>Mercados organizados:</a:t>
            </a:r>
            <a:r>
              <a:rPr lang="es-ES" dirty="0"/>
              <a:t> Regulados, estandarizados, con cámara de compensación. </a:t>
            </a:r>
            <a:r>
              <a:rPr lang="es-ES" dirty="0" err="1"/>
              <a:t>Ej</a:t>
            </a:r>
            <a:r>
              <a:rPr lang="es-ES" dirty="0"/>
              <a:t>: Bolsa de Madrid, NYSE.</a:t>
            </a:r>
          </a:p>
          <a:p>
            <a:pPr algn="just"/>
            <a:r>
              <a:rPr lang="es-ES" b="1" dirty="0"/>
              <a:t>Mercados OTC (</a:t>
            </a:r>
            <a:r>
              <a:rPr lang="es-ES" b="1" dirty="0" err="1"/>
              <a:t>Over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Counter</a:t>
            </a:r>
            <a:r>
              <a:rPr lang="es-ES" b="1" dirty="0"/>
              <a:t>):</a:t>
            </a:r>
            <a:r>
              <a:rPr lang="es-ES" dirty="0"/>
              <a:t> Negociación bilateral no estandarizada. </a:t>
            </a:r>
            <a:r>
              <a:rPr lang="es-ES" dirty="0" err="1"/>
              <a:t>Ej</a:t>
            </a:r>
            <a:r>
              <a:rPr lang="es-ES" dirty="0"/>
              <a:t>: muchos derivados, bonos corporativos.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76678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627DB-3271-8035-D0C6-D83D2586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52" y="388936"/>
            <a:ext cx="8229600" cy="685801"/>
          </a:xfrm>
        </p:spPr>
        <p:txBody>
          <a:bodyPr>
            <a:noAutofit/>
          </a:bodyPr>
          <a:lstStyle/>
          <a:p>
            <a:r>
              <a:rPr lang="es-PE" sz="3600" dirty="0"/>
              <a:t>2. INTERMEDIARIOS FINANCIEROS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352BFE-62D3-B601-E443-B7E559D31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/>
              <a:t>Son instituciones que canalizan el dinero entre ahorradores y prestatarios.</a:t>
            </a:r>
          </a:p>
          <a:p>
            <a:pPr marL="0" indent="0">
              <a:buNone/>
            </a:pPr>
            <a:r>
              <a:rPr lang="es-ES" dirty="0"/>
              <a:t>Su función principal es:</a:t>
            </a:r>
          </a:p>
          <a:p>
            <a:r>
              <a:rPr lang="es-ES" dirty="0"/>
              <a:t>Recibir ahorros.</a:t>
            </a:r>
          </a:p>
          <a:p>
            <a:r>
              <a:rPr lang="es-ES" dirty="0"/>
              <a:t>Evaluar riesgos.</a:t>
            </a:r>
          </a:p>
          <a:p>
            <a:r>
              <a:rPr lang="es-ES" dirty="0"/>
              <a:t>Otorgar préstamos.</a:t>
            </a:r>
          </a:p>
          <a:p>
            <a:pPr marL="0" indent="0">
              <a:buNone/>
            </a:pPr>
            <a:r>
              <a:rPr lang="es-ES" b="1" dirty="0"/>
              <a:t> Tipos principales</a:t>
            </a:r>
          </a:p>
          <a:p>
            <a:pPr marL="0" indent="0">
              <a:buNone/>
            </a:pPr>
            <a:r>
              <a:rPr lang="es-ES" b="1" dirty="0"/>
              <a:t>✔ Bancos</a:t>
            </a:r>
          </a:p>
          <a:p>
            <a:r>
              <a:rPr lang="es-ES" dirty="0"/>
              <a:t>Reciben depósitos.</a:t>
            </a:r>
          </a:p>
          <a:p>
            <a:r>
              <a:rPr lang="es-ES" dirty="0"/>
              <a:t>Otorgan créditos.</a:t>
            </a:r>
          </a:p>
          <a:p>
            <a:r>
              <a:rPr lang="es-ES" dirty="0"/>
              <a:t>Facilitan pagos.</a:t>
            </a:r>
          </a:p>
          <a:p>
            <a:pPr marL="0" indent="0">
              <a:buNone/>
            </a:pPr>
            <a:r>
              <a:rPr lang="es-ES" dirty="0"/>
              <a:t>Ejemplo Perú:</a:t>
            </a:r>
            <a:br>
              <a:rPr lang="es-ES" dirty="0"/>
            </a:br>
            <a:r>
              <a:rPr lang="es-ES" dirty="0"/>
              <a:t>BCP, BBVA, Interbank, Scotiabank.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44401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708AA2-9A83-3A07-0F54-26D4482FA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/>
              <a:t>Función transformadora:</a:t>
            </a:r>
            <a:endParaRPr lang="es-ES" dirty="0"/>
          </a:p>
          <a:p>
            <a:pPr algn="just"/>
            <a:r>
              <a:rPr lang="es-ES" dirty="0"/>
              <a:t>Transforman plazos (captan corto, prestan largo)</a:t>
            </a:r>
          </a:p>
          <a:p>
            <a:pPr algn="just"/>
            <a:r>
              <a:rPr lang="es-ES" dirty="0"/>
              <a:t>Transforman riesgos (diversificación)</a:t>
            </a:r>
          </a:p>
          <a:p>
            <a:pPr algn="just"/>
            <a:r>
              <a:rPr lang="es-ES" dirty="0"/>
              <a:t>Transforman tamaños (captan pequeños, prestan grandes)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56766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EA3CC1-CC75-5564-7AA7-DA58B052F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sz="3900" dirty="0">
                <a:latin typeface="+mj-lt"/>
                <a:ea typeface="+mj-ea"/>
                <a:cs typeface="+mj-cs"/>
              </a:rPr>
              <a:t>3. Intermediarios no bancarios:</a:t>
            </a:r>
          </a:p>
          <a:p>
            <a:pPr marL="0" indent="0" algn="just">
              <a:buNone/>
            </a:pPr>
            <a:r>
              <a:rPr lang="es-ES" b="1" dirty="0"/>
              <a:t>Inversores institucionales:</a:t>
            </a:r>
            <a:endParaRPr lang="es-ES" dirty="0"/>
          </a:p>
          <a:p>
            <a:pPr algn="just"/>
            <a:r>
              <a:rPr lang="es-ES" dirty="0"/>
              <a:t>Fondos de inversión: patrimonios colectivos diversificados</a:t>
            </a:r>
          </a:p>
          <a:p>
            <a:pPr algn="just"/>
            <a:r>
              <a:rPr lang="es-ES" dirty="0"/>
              <a:t>Fondos de pensiones: ahorro para jubilación</a:t>
            </a:r>
          </a:p>
          <a:p>
            <a:pPr algn="just"/>
            <a:r>
              <a:rPr lang="es-ES" dirty="0"/>
              <a:t>Compañías de seguros: cobertura de riesgos</a:t>
            </a:r>
          </a:p>
          <a:p>
            <a:pPr marL="0" indent="0" algn="just">
              <a:buNone/>
            </a:pPr>
            <a:r>
              <a:rPr lang="es-ES" b="1" dirty="0"/>
              <a:t>Otros:</a:t>
            </a:r>
            <a:endParaRPr lang="es-ES" dirty="0"/>
          </a:p>
          <a:p>
            <a:pPr algn="just"/>
            <a:r>
              <a:rPr lang="es-ES" dirty="0"/>
              <a:t>Sociedades de valores: </a:t>
            </a:r>
            <a:r>
              <a:rPr lang="es-ES" dirty="0" err="1"/>
              <a:t>broker</a:t>
            </a:r>
            <a:r>
              <a:rPr lang="es-ES" dirty="0"/>
              <a:t>/dealer</a:t>
            </a:r>
          </a:p>
          <a:p>
            <a:pPr algn="just"/>
            <a:r>
              <a:rPr lang="es-ES" dirty="0"/>
              <a:t>Agencias de valores: solo </a:t>
            </a:r>
            <a:r>
              <a:rPr lang="es-ES" dirty="0" err="1"/>
              <a:t>broker</a:t>
            </a:r>
            <a:endParaRPr lang="es-ES" dirty="0"/>
          </a:p>
          <a:p>
            <a:pPr algn="just"/>
            <a:r>
              <a:rPr lang="es-ES" dirty="0"/>
              <a:t>Sociedades gestoras: administran carteras</a:t>
            </a:r>
          </a:p>
          <a:p>
            <a:pPr algn="just"/>
            <a:r>
              <a:rPr lang="es-ES" dirty="0"/>
              <a:t>Capital riesgo: financian empresas no cotizadas</a:t>
            </a:r>
          </a:p>
          <a:p>
            <a:pPr algn="just"/>
            <a:r>
              <a:rPr lang="es-ES" dirty="0" err="1"/>
              <a:t>Hedge</a:t>
            </a:r>
            <a:r>
              <a:rPr lang="es-ES" dirty="0"/>
              <a:t> </a:t>
            </a:r>
            <a:r>
              <a:rPr lang="es-ES" dirty="0" err="1"/>
              <a:t>funds</a:t>
            </a:r>
            <a:r>
              <a:rPr lang="es-ES" dirty="0"/>
              <a:t>: estrategias alternativas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1941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CE45F-4A95-32FF-03A2-9F4E518D3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Importancia de los intermediarios</a:t>
            </a:r>
          </a:p>
          <a:p>
            <a:pPr marL="0" indent="0">
              <a:buNone/>
            </a:pPr>
            <a:r>
              <a:rPr lang="es-ES" dirty="0"/>
              <a:t>✔ Reducen costos de transacción</a:t>
            </a:r>
            <a:br>
              <a:rPr lang="es-ES" dirty="0"/>
            </a:br>
            <a:r>
              <a:rPr lang="es-ES" dirty="0"/>
              <a:t>✔ Evalúan riesgos</a:t>
            </a:r>
            <a:br>
              <a:rPr lang="es-ES" dirty="0"/>
            </a:br>
            <a:r>
              <a:rPr lang="es-ES" dirty="0"/>
              <a:t>✔ Permiten diversificar inversiones</a:t>
            </a:r>
            <a:br>
              <a:rPr lang="es-ES" dirty="0"/>
            </a:br>
            <a:r>
              <a:rPr lang="es-ES" dirty="0"/>
              <a:t>✔ Facilitan el acceso al crédito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67134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CA58EC-B3DC-AABF-37A6-D71C7FA4D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Importancia del sistema financiero</a:t>
            </a:r>
          </a:p>
          <a:p>
            <a:pPr marL="0" indent="0">
              <a:buNone/>
            </a:pPr>
            <a:r>
              <a:rPr lang="es-ES" dirty="0"/>
              <a:t>El sistema financiero es fundamental porque:</a:t>
            </a:r>
          </a:p>
          <a:p>
            <a:pPr marL="0" indent="0">
              <a:buNone/>
            </a:pPr>
            <a:r>
              <a:rPr lang="es-ES" dirty="0"/>
              <a:t>✔ Permite el crecimiento económico</a:t>
            </a:r>
            <a:br>
              <a:rPr lang="es-ES" dirty="0"/>
            </a:br>
            <a:r>
              <a:rPr lang="es-ES" dirty="0"/>
              <a:t>✔ Facilita la inversión</a:t>
            </a:r>
            <a:br>
              <a:rPr lang="es-ES" dirty="0"/>
            </a:br>
            <a:r>
              <a:rPr lang="es-ES" dirty="0"/>
              <a:t>✔ Reduce costos de transacción</a:t>
            </a:r>
            <a:br>
              <a:rPr lang="es-ES" dirty="0"/>
            </a:br>
            <a:r>
              <a:rPr lang="es-ES" dirty="0"/>
              <a:t>✔ Distribuye el riesgo</a:t>
            </a:r>
            <a:br>
              <a:rPr lang="es-ES" dirty="0"/>
            </a:br>
            <a:r>
              <a:rPr lang="es-ES" dirty="0"/>
              <a:t>✔ Promueve el ahorro</a:t>
            </a:r>
            <a:br>
              <a:rPr lang="es-ES" dirty="0"/>
            </a:br>
            <a:r>
              <a:rPr lang="es-ES" dirty="0"/>
              <a:t>✔ Facilita el comercio</a:t>
            </a:r>
          </a:p>
          <a:p>
            <a:r>
              <a:rPr lang="es-ES" dirty="0"/>
              <a:t>Sin sistema financiero, el dinero no circularía eficientemente.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39868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4872E-0F9E-F1B5-3BE2-48D4FCB8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4. INFORMACIÓN ASIMÉTRICA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554D46-C24D-BEE8-2098-FF570DD37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dirty="0"/>
              <a:t>Es la situación en la que una parte de la transacción tiene más o mejor información que la otra. Es el problema fundamental que justifica la existencia de los intermediarios financieros.</a:t>
            </a:r>
          </a:p>
          <a:p>
            <a:pPr marL="0" indent="0" algn="just">
              <a:buNone/>
            </a:pPr>
            <a:r>
              <a:rPr lang="es-ES" b="1" dirty="0"/>
              <a:t>Teorema fundamental:</a:t>
            </a:r>
            <a:r>
              <a:rPr lang="es-ES" dirty="0"/>
              <a:t> George </a:t>
            </a:r>
            <a:r>
              <a:rPr lang="es-ES" dirty="0" err="1"/>
              <a:t>Akerlof</a:t>
            </a:r>
            <a:r>
              <a:rPr lang="es-ES" dirty="0"/>
              <a:t> (1970) demostró con su "mercado de los limones" que la información asimétrica puede destruir mercados enteros.</a:t>
            </a:r>
          </a:p>
          <a:p>
            <a:pPr marL="0" indent="0">
              <a:buNone/>
            </a:pPr>
            <a:r>
              <a:rPr lang="es-ES" dirty="0"/>
              <a:t>Ejemplo:</a:t>
            </a:r>
            <a:br>
              <a:rPr lang="es-ES" dirty="0"/>
            </a:br>
            <a:r>
              <a:rPr lang="es-ES" dirty="0"/>
              <a:t>Un cliente sabe si podrá pagar un préstamo, pero el banco no lo sabe completamente.</a:t>
            </a:r>
          </a:p>
        </p:txBody>
      </p:sp>
    </p:spTree>
    <p:extLst>
      <p:ext uri="{BB962C8B-B14F-4D97-AF65-F5344CB8AC3E}">
        <p14:creationId xmlns:p14="http://schemas.microsoft.com/office/powerpoint/2010/main" val="3220855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243ADB-CAC8-BDED-16D0-A359FF8BD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54868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b="1" dirty="0"/>
              <a:t>Selección adversa (antes de la transacción)</a:t>
            </a:r>
          </a:p>
          <a:p>
            <a:pPr marL="0" indent="0" algn="just">
              <a:buNone/>
            </a:pPr>
            <a:r>
              <a:rPr lang="es-ES" dirty="0"/>
              <a:t>Ocurre cuando la parte con menos información no puede distinguir la calidad de los activos y termina seleccionando los peores.</a:t>
            </a:r>
          </a:p>
          <a:p>
            <a:pPr marL="0" indent="0" algn="just">
              <a:buNone/>
            </a:pPr>
            <a:r>
              <a:rPr lang="es-ES" b="1" dirty="0"/>
              <a:t>En finanzas:</a:t>
            </a:r>
            <a:endParaRPr lang="es-ES" dirty="0"/>
          </a:p>
          <a:p>
            <a:pPr algn="just"/>
            <a:r>
              <a:rPr lang="es-ES" b="1" dirty="0"/>
              <a:t>Prestamistas:</a:t>
            </a:r>
            <a:r>
              <a:rPr lang="es-ES" dirty="0"/>
              <a:t> No pueden distinguir buenos de malos pagadores → tipo de interés único → atrae solo a los arriesgados → racionamiento del crédito (Stiglitz-Weiss)</a:t>
            </a:r>
          </a:p>
          <a:p>
            <a:pPr algn="just"/>
            <a:r>
              <a:rPr lang="es-ES" b="1" dirty="0"/>
              <a:t>Emisión de acciones:</a:t>
            </a:r>
            <a:r>
              <a:rPr lang="es-ES" dirty="0"/>
              <a:t> Si los gestores saben que están sobrevaloradas, emiten acciones → inversores descuentan esto → solo emiten las empresas sobrevaloradas</a:t>
            </a:r>
          </a:p>
          <a:p>
            <a:pPr marL="0" indent="0" algn="just">
              <a:buNone/>
            </a:pPr>
            <a:r>
              <a:rPr lang="es-ES" b="1" dirty="0"/>
              <a:t>Soluciones:</a:t>
            </a:r>
            <a:endParaRPr lang="es-ES" dirty="0"/>
          </a:p>
          <a:p>
            <a:pPr algn="just"/>
            <a:r>
              <a:rPr lang="es-ES" dirty="0"/>
              <a:t>Señalización (pagar dividendos, auditorías externas)</a:t>
            </a:r>
          </a:p>
          <a:p>
            <a:pPr algn="just"/>
            <a:r>
              <a:rPr lang="es-ES" dirty="0"/>
              <a:t>Screening (análisis crediticio)</a:t>
            </a:r>
          </a:p>
          <a:p>
            <a:pPr algn="just"/>
            <a:r>
              <a:rPr lang="es-ES" dirty="0"/>
              <a:t>Colaterales y garantías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53270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48FF90-FB4A-ACEC-2DD4-020B95EB1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4006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b="1" dirty="0"/>
              <a:t>Riesgo moral (después de la transacción)</a:t>
            </a:r>
          </a:p>
          <a:p>
            <a:pPr marL="0" indent="0" algn="just">
              <a:buNone/>
            </a:pPr>
            <a:r>
              <a:rPr lang="es-ES" b="1" dirty="0"/>
              <a:t>Definición:</a:t>
            </a:r>
            <a:r>
              <a:rPr lang="es-ES" dirty="0"/>
              <a:t> La parte financiada tiene incentivos a comportarse de manera más arriesgada porque no asume todas las consecuencias.</a:t>
            </a:r>
          </a:p>
          <a:p>
            <a:pPr marL="0" indent="0" algn="just">
              <a:buNone/>
            </a:pPr>
            <a:r>
              <a:rPr lang="es-ES" b="1" dirty="0"/>
              <a:t>En finanzas:</a:t>
            </a:r>
            <a:endParaRPr lang="es-ES" dirty="0"/>
          </a:p>
          <a:p>
            <a:pPr algn="just"/>
            <a:r>
              <a:rPr lang="es-ES" b="1" dirty="0"/>
              <a:t>Prestatarios:</a:t>
            </a:r>
            <a:r>
              <a:rPr lang="es-ES" dirty="0"/>
              <a:t> Obtienen crédito y lo destinan a proyectos más arriesgados de lo acordado</a:t>
            </a:r>
          </a:p>
          <a:p>
            <a:pPr algn="just"/>
            <a:r>
              <a:rPr lang="es-ES" b="1" dirty="0"/>
              <a:t>Gestores:</a:t>
            </a:r>
            <a:r>
              <a:rPr lang="es-ES" dirty="0"/>
              <a:t> Buscan proyectos de alto riesgo (si sale bien ganan bonus, si sale mal responde el accionista)</a:t>
            </a:r>
          </a:p>
          <a:p>
            <a:pPr algn="just"/>
            <a:r>
              <a:rPr lang="es-ES" b="1" dirty="0" err="1"/>
              <a:t>Too</a:t>
            </a:r>
            <a:r>
              <a:rPr lang="es-ES" b="1" dirty="0"/>
              <a:t> </a:t>
            </a:r>
            <a:r>
              <a:rPr lang="es-ES" b="1" dirty="0" err="1"/>
              <a:t>big</a:t>
            </a:r>
            <a:r>
              <a:rPr lang="es-ES" b="1" dirty="0"/>
              <a:t> </a:t>
            </a:r>
            <a:r>
              <a:rPr lang="es-ES" b="1" dirty="0" err="1"/>
              <a:t>to</a:t>
            </a:r>
            <a:r>
              <a:rPr lang="es-ES" b="1" dirty="0"/>
              <a:t> </a:t>
            </a:r>
            <a:r>
              <a:rPr lang="es-ES" b="1" dirty="0" err="1"/>
              <a:t>fail</a:t>
            </a:r>
            <a:r>
              <a:rPr lang="es-ES" b="1" dirty="0"/>
              <a:t>:</a:t>
            </a:r>
            <a:r>
              <a:rPr lang="es-ES" dirty="0"/>
              <a:t> Entidades que asumen riesgo excesivo esperando ser rescatadas</a:t>
            </a:r>
          </a:p>
          <a:p>
            <a:pPr marL="0" indent="0" algn="just">
              <a:buNone/>
            </a:pPr>
            <a:r>
              <a:rPr lang="es-ES" b="1" dirty="0"/>
              <a:t>Soluciones:</a:t>
            </a:r>
            <a:endParaRPr lang="es-ES" dirty="0"/>
          </a:p>
          <a:p>
            <a:pPr algn="just"/>
            <a:r>
              <a:rPr lang="es-ES" dirty="0" err="1"/>
              <a:t>Covenants</a:t>
            </a:r>
            <a:r>
              <a:rPr lang="es-ES" dirty="0"/>
              <a:t> (cláusulas restrictivas)</a:t>
            </a:r>
          </a:p>
          <a:p>
            <a:pPr algn="just"/>
            <a:r>
              <a:rPr lang="es-ES" dirty="0"/>
              <a:t>Seguimiento y monitorización</a:t>
            </a:r>
          </a:p>
          <a:p>
            <a:pPr algn="just"/>
            <a:r>
              <a:rPr lang="es-ES" dirty="0"/>
              <a:t>Incentivos alineados (remuneración en acciones)</a:t>
            </a:r>
          </a:p>
          <a:p>
            <a:pPr algn="just"/>
            <a:r>
              <a:rPr lang="es-ES" dirty="0"/>
              <a:t>Regulación prudencial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6351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9C8E49-8FF1-8324-A927-63AD317C0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Riesgo moral</a:t>
            </a:r>
          </a:p>
          <a:p>
            <a:pPr marL="0" indent="0">
              <a:buNone/>
            </a:pPr>
            <a:r>
              <a:rPr lang="es-ES" b="1" dirty="0"/>
              <a:t>Concepto</a:t>
            </a:r>
          </a:p>
          <a:p>
            <a:pPr marL="0" indent="0">
              <a:buNone/>
            </a:pPr>
            <a:r>
              <a:rPr lang="es-ES" dirty="0"/>
              <a:t>Ocurre </a:t>
            </a:r>
            <a:r>
              <a:rPr lang="es-ES" b="1" dirty="0"/>
              <a:t>después de firmar un contrato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dirty="0"/>
              <a:t>Sucede cuando una persona cambia su comportamiento porque otra asume el riesgo.</a:t>
            </a:r>
          </a:p>
          <a:p>
            <a:pPr marL="0" indent="0">
              <a:buNone/>
            </a:pPr>
            <a:r>
              <a:rPr lang="es-ES" dirty="0"/>
              <a:t>Ejemplo:</a:t>
            </a:r>
            <a:br>
              <a:rPr lang="es-ES" dirty="0"/>
            </a:br>
            <a:r>
              <a:rPr lang="es-ES" dirty="0"/>
              <a:t>Una empresa obtiene un préstamo y luego usa el dinero en proyectos muy arriesgados.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99422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7BF77F-0EF5-DF4B-C1D9-177EA4FFD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/>
              <a:t>Ejemplo real</a:t>
            </a:r>
          </a:p>
          <a:p>
            <a:r>
              <a:rPr lang="es-ES" dirty="0"/>
              <a:t>Seguro de salud:</a:t>
            </a:r>
          </a:p>
          <a:p>
            <a:r>
              <a:rPr lang="es-ES" dirty="0"/>
              <a:t>Una persona puede descuidar su salud porque sabe que el seguro cubrirá los gastos.</a:t>
            </a:r>
          </a:p>
          <a:p>
            <a:pPr marL="0" indent="0">
              <a:buNone/>
            </a:pPr>
            <a:r>
              <a:rPr lang="es-ES" b="1" dirty="0"/>
              <a:t>Cómo se reduce el riesgo moral</a:t>
            </a:r>
          </a:p>
          <a:p>
            <a:r>
              <a:rPr lang="es-ES" dirty="0"/>
              <a:t>Supervisión financiera</a:t>
            </a:r>
          </a:p>
          <a:p>
            <a:r>
              <a:rPr lang="es-ES" dirty="0"/>
              <a:t>Cláusulas contractuales</a:t>
            </a:r>
          </a:p>
          <a:p>
            <a:r>
              <a:rPr lang="es-ES" dirty="0"/>
              <a:t>Garantías</a:t>
            </a:r>
          </a:p>
          <a:p>
            <a:r>
              <a:rPr lang="es-ES" dirty="0"/>
              <a:t>Penalidades por incumplimiento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31041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DBB3F3-6E40-7A8A-0763-2BE1291D9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s-ES" b="1" dirty="0"/>
              <a:t>Relación entre información asimétrica y sistema financiero</a:t>
            </a:r>
          </a:p>
          <a:p>
            <a:r>
              <a:rPr lang="es-ES" dirty="0"/>
              <a:t>La información asimétrica puede provocar:</a:t>
            </a:r>
          </a:p>
          <a:p>
            <a:r>
              <a:rPr lang="es-ES" dirty="0"/>
              <a:t>Mayor riesgo en préstamos</a:t>
            </a:r>
          </a:p>
          <a:p>
            <a:r>
              <a:rPr lang="es-ES" dirty="0"/>
              <a:t>Aumento de tasas de interés</a:t>
            </a:r>
          </a:p>
          <a:p>
            <a:r>
              <a:rPr lang="es-ES" dirty="0"/>
              <a:t>Restricción del crédito</a:t>
            </a:r>
          </a:p>
          <a:p>
            <a:r>
              <a:rPr lang="es-ES" dirty="0"/>
              <a:t>Crisis financieras</a:t>
            </a:r>
          </a:p>
          <a:p>
            <a:r>
              <a:rPr lang="es-ES" dirty="0"/>
              <a:t>Por eso existen reguladores financieros.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En Perú:</a:t>
            </a:r>
          </a:p>
          <a:p>
            <a:r>
              <a:rPr lang="es-ES" dirty="0"/>
              <a:t>SBS (Superintendencia de Banca, Seguros y AFP)</a:t>
            </a:r>
          </a:p>
          <a:p>
            <a:r>
              <a:rPr lang="es-ES" dirty="0"/>
              <a:t>Banco Central de Reserva del Perú (BCRP)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42722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EF631C-27D7-DB91-A575-2028244FF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Trabajo grupal:</a:t>
            </a:r>
          </a:p>
          <a:p>
            <a:pPr marL="0" indent="0">
              <a:buNone/>
            </a:pPr>
            <a:r>
              <a:rPr lang="es-ES" dirty="0"/>
              <a:t>¿Qué otros intermediarios financieros existen?, señale sus funciones en el sistema.</a:t>
            </a:r>
          </a:p>
          <a:p>
            <a:pPr marL="0" indent="0">
              <a:buNone/>
            </a:pPr>
            <a:r>
              <a:rPr lang="es-ES" dirty="0"/>
              <a:t>¿Qué otras formas de reducción de selección adversa plantean?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Trabajo individual: Analice las consecuencias del siguiente caso: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P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49FAFD-AE0E-6045-11DC-FBAD82FC3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5301208"/>
            <a:ext cx="67070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Personas depositan dinero en un banco.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banco presta a una empresa.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empresa sabe más sobre su situación financiera que el banco.</a:t>
            </a:r>
          </a:p>
        </p:txBody>
      </p:sp>
    </p:spTree>
    <p:extLst>
      <p:ext uri="{BB962C8B-B14F-4D97-AF65-F5344CB8AC3E}">
        <p14:creationId xmlns:p14="http://schemas.microsoft.com/office/powerpoint/2010/main" val="3497290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1160</Words>
  <Application>Microsoft Office PowerPoint</Application>
  <PresentationFormat>Presentación en pantalla (4:3)</PresentationFormat>
  <Paragraphs>154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Tema de Office</vt:lpstr>
      <vt:lpstr>Presentación de PowerPoint</vt:lpstr>
      <vt:lpstr>EL SISTEMA FINANCIERO</vt:lpstr>
      <vt:lpstr>Componentes del sistema financiero</vt:lpstr>
      <vt:lpstr>1. MERCADOS FINANCIEROS</vt:lpstr>
      <vt:lpstr>Tipos de mercados financieros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2. INTERMEDIARIOS FINANCIEROS</vt:lpstr>
      <vt:lpstr>Presentación de PowerPoint</vt:lpstr>
      <vt:lpstr>Presentación de PowerPoint</vt:lpstr>
      <vt:lpstr>Presentación de PowerPoint</vt:lpstr>
      <vt:lpstr>Presentación de PowerPoint</vt:lpstr>
      <vt:lpstr>4. INFORMACIÓN ASIMÉTRICA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Luffi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Luffi</dc:creator>
  <cp:lastModifiedBy>pamela torres toledo</cp:lastModifiedBy>
  <cp:revision>52</cp:revision>
  <dcterms:created xsi:type="dcterms:W3CDTF">2019-10-15T05:04:37Z</dcterms:created>
  <dcterms:modified xsi:type="dcterms:W3CDTF">2026-02-11T20:43:34Z</dcterms:modified>
</cp:coreProperties>
</file>