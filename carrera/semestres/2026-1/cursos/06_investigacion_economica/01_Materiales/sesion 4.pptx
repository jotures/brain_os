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67" r:id="rId2"/>
    <p:sldId id="293" r:id="rId3"/>
    <p:sldId id="294" r:id="rId4"/>
    <p:sldId id="295" r:id="rId5"/>
  </p:sldIdLst>
  <p:sldSz cx="9144000" cy="6858000" type="screen4x3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7A610F-F7F3-4EC2-8540-E44C63077076}" type="datetimeFigureOut">
              <a:rPr lang="es-PE" smtClean="0"/>
              <a:t>02/03/2026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526299-EB9A-4BE4-824E-093F2B6D2F8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309634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1A3A-EFAD-4DCA-BFCF-B84FCBA4F73B}" type="datetimeFigureOut">
              <a:rPr lang="es-PE" smtClean="0"/>
              <a:t>02/03/2026</a:t>
            </a:fld>
            <a:endParaRPr lang="es-P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5113-3B2C-46E0-94AC-E33D17FBF03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03827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1A3A-EFAD-4DCA-BFCF-B84FCBA4F73B}" type="datetimeFigureOut">
              <a:rPr lang="es-PE" smtClean="0"/>
              <a:t>02/03/2026</a:t>
            </a:fld>
            <a:endParaRPr lang="es-P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5113-3B2C-46E0-94AC-E33D17FBF03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4772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1A3A-EFAD-4DCA-BFCF-B84FCBA4F73B}" type="datetimeFigureOut">
              <a:rPr lang="es-PE" smtClean="0"/>
              <a:t>02/03/2026</a:t>
            </a:fld>
            <a:endParaRPr lang="es-P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5113-3B2C-46E0-94AC-E33D17FBF03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55999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1A3A-EFAD-4DCA-BFCF-B84FCBA4F73B}" type="datetimeFigureOut">
              <a:rPr lang="es-PE" smtClean="0"/>
              <a:t>02/03/2026</a:t>
            </a:fld>
            <a:endParaRPr lang="es-P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5113-3B2C-46E0-94AC-E33D17FBF03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48362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1A3A-EFAD-4DCA-BFCF-B84FCBA4F73B}" type="datetimeFigureOut">
              <a:rPr lang="es-PE" smtClean="0"/>
              <a:t>02/03/2026</a:t>
            </a:fld>
            <a:endParaRPr lang="es-PE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5113-3B2C-46E0-94AC-E33D17FBF03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51122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1A3A-EFAD-4DCA-BFCF-B84FCBA4F73B}" type="datetimeFigureOut">
              <a:rPr lang="es-PE" smtClean="0"/>
              <a:t>02/03/2026</a:t>
            </a:fld>
            <a:endParaRPr lang="es-PE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5113-3B2C-46E0-94AC-E33D17FBF03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28310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1A3A-EFAD-4DCA-BFCF-B84FCBA4F73B}" type="datetimeFigureOut">
              <a:rPr lang="es-PE" smtClean="0"/>
              <a:t>02/03/2026</a:t>
            </a:fld>
            <a:endParaRPr lang="es-PE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5113-3B2C-46E0-94AC-E33D17FBF03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50340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1A3A-EFAD-4DCA-BFCF-B84FCBA4F73B}" type="datetimeFigureOut">
              <a:rPr lang="es-PE" smtClean="0"/>
              <a:t>02/03/2026</a:t>
            </a:fld>
            <a:endParaRPr lang="es-P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5113-3B2C-46E0-94AC-E33D17FBF03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55045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1A3A-EFAD-4DCA-BFCF-B84FCBA4F73B}" type="datetimeFigureOut">
              <a:rPr lang="es-PE" smtClean="0"/>
              <a:t>02/03/2026</a:t>
            </a:fld>
            <a:endParaRPr lang="es-P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5113-3B2C-46E0-94AC-E33D17FBF03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18134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1A3A-EFAD-4DCA-BFCF-B84FCBA4F73B}" type="datetimeFigureOut">
              <a:rPr lang="es-PE" smtClean="0"/>
              <a:t>02/03/2026</a:t>
            </a:fld>
            <a:endParaRPr lang="es-P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5113-3B2C-46E0-94AC-E33D17FBF03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973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1A3A-EFAD-4DCA-BFCF-B84FCBA4F73B}" type="datetimeFigureOut">
              <a:rPr lang="es-PE" smtClean="0"/>
              <a:t>02/03/2026</a:t>
            </a:fld>
            <a:endParaRPr lang="es-P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5113-3B2C-46E0-94AC-E33D17FBF03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44864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001A3A-EFAD-4DCA-BFCF-B84FCBA4F73B}" type="datetimeFigureOut">
              <a:rPr lang="es-PE" smtClean="0"/>
              <a:t>02/03/2026</a:t>
            </a:fld>
            <a:endParaRPr lang="es-P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E5113-3B2C-46E0-94AC-E33D17FBF03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49837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472" y="159143"/>
            <a:ext cx="8901229" cy="651021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Marcador de texto"/>
          <p:cNvSpPr>
            <a:spLocks noGrp="1"/>
          </p:cNvSpPr>
          <p:nvPr>
            <p:ph type="body" idx="1"/>
          </p:nvPr>
        </p:nvSpPr>
        <p:spPr>
          <a:xfrm>
            <a:off x="611560" y="3414251"/>
            <a:ext cx="7772400" cy="2751053"/>
          </a:xfrm>
        </p:spPr>
        <p:txBody>
          <a:bodyPr>
            <a:noAutofit/>
          </a:bodyPr>
          <a:lstStyle/>
          <a:p>
            <a:pPr algn="ctr"/>
            <a:r>
              <a:rPr lang="es-PE" sz="4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ESCUELA PROFESIONAL DE ECONOMIA</a:t>
            </a:r>
          </a:p>
          <a:p>
            <a:pPr algn="just"/>
            <a:r>
              <a:rPr lang="es-PE" sz="3200" b="1" dirty="0">
                <a:solidFill>
                  <a:schemeClr val="tx1"/>
                </a:solidFill>
              </a:rPr>
              <a:t>CURSO	: INVESTIGACION ECONOMICA</a:t>
            </a:r>
          </a:p>
          <a:p>
            <a:pPr algn="just"/>
            <a:r>
              <a:rPr lang="es-PE" sz="3200" b="1" dirty="0">
                <a:solidFill>
                  <a:schemeClr val="tx1"/>
                </a:solidFill>
              </a:rPr>
              <a:t>DOCENTE	: DRA PAMELA TORRES TOLEDO</a:t>
            </a:r>
          </a:p>
          <a:p>
            <a:pPr algn="just"/>
            <a:r>
              <a:rPr lang="es-PE" sz="3200" b="1" dirty="0">
                <a:solidFill>
                  <a:schemeClr val="tx1"/>
                </a:solidFill>
              </a:rPr>
              <a:t>SEMESTRE	: 2026-I</a:t>
            </a:r>
          </a:p>
        </p:txBody>
      </p:sp>
      <p:sp>
        <p:nvSpPr>
          <p:cNvPr id="6" name="AutoShape 5" descr="Resultado de imagen para UNSAA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sp>
        <p:nvSpPr>
          <p:cNvPr id="7" name="6 Rectángulo"/>
          <p:cNvSpPr/>
          <p:nvPr/>
        </p:nvSpPr>
        <p:spPr>
          <a:xfrm>
            <a:off x="3131840" y="457386"/>
            <a:ext cx="5606396" cy="7869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2800" b="1" dirty="0">
                <a:solidFill>
                  <a:schemeClr val="tx1"/>
                </a:solidFill>
              </a:rPr>
              <a:t>UNIVERSIDAD ANDINA DEL CUSCO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460" y="246497"/>
            <a:ext cx="2757003" cy="997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72478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6FE440B9-EE79-FEE3-AAF1-930B13D42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NIVELES DE INVESTIGACION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28ED36D7-AAD0-F1A7-9B8A-61BBE44DC1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dirty="0"/>
              <a:t>Se denominan niveles a los tipos de complejidad de las tesis: se clasifican en:</a:t>
            </a:r>
          </a:p>
          <a:p>
            <a:pPr marL="0" indent="0" algn="just">
              <a:buNone/>
            </a:pPr>
            <a:endParaRPr lang="es-ES" dirty="0"/>
          </a:p>
          <a:p>
            <a:pPr marL="0" indent="0" algn="just">
              <a:buNone/>
            </a:pPr>
            <a:endParaRPr lang="es-PE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964BF5C-483C-A516-4B9A-FFC7DADFBDD7}"/>
              </a:ext>
            </a:extLst>
          </p:cNvPr>
          <p:cNvSpPr/>
          <p:nvPr/>
        </p:nvSpPr>
        <p:spPr>
          <a:xfrm>
            <a:off x="457200" y="4747298"/>
            <a:ext cx="1944216" cy="5040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Observacional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35F86BA-86DD-A539-B18D-5ADBDF498CAF}"/>
              </a:ext>
            </a:extLst>
          </p:cNvPr>
          <p:cNvSpPr/>
          <p:nvPr/>
        </p:nvSpPr>
        <p:spPr>
          <a:xfrm>
            <a:off x="2339752" y="4078011"/>
            <a:ext cx="1944216" cy="5040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Descriptivo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4D87BCC-6C81-2B63-8F90-788399B71FA3}"/>
              </a:ext>
            </a:extLst>
          </p:cNvPr>
          <p:cNvSpPr/>
          <p:nvPr/>
        </p:nvSpPr>
        <p:spPr>
          <a:xfrm>
            <a:off x="4355976" y="3313058"/>
            <a:ext cx="1944216" cy="5040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Correlacional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8F3DCE2-015C-BBD9-6CB3-E51D0229CB6D}"/>
              </a:ext>
            </a:extLst>
          </p:cNvPr>
          <p:cNvSpPr/>
          <p:nvPr/>
        </p:nvSpPr>
        <p:spPr>
          <a:xfrm>
            <a:off x="6300192" y="2626440"/>
            <a:ext cx="1944216" cy="5040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Experimental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244E141-5D37-38F3-2FB2-C88E937AB288}"/>
              </a:ext>
            </a:extLst>
          </p:cNvPr>
          <p:cNvSpPr/>
          <p:nvPr/>
        </p:nvSpPr>
        <p:spPr>
          <a:xfrm>
            <a:off x="468531" y="5622107"/>
            <a:ext cx="1944216" cy="5040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600" dirty="0">
                <a:solidFill>
                  <a:schemeClr val="tx1"/>
                </a:solidFill>
              </a:rPr>
              <a:t>1. Observas un problema (Todo estudio comienza con la observación) 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B6E9669-B77A-1A64-FA9B-C22FB7C1AA28}"/>
              </a:ext>
            </a:extLst>
          </p:cNvPr>
          <p:cNvSpPr/>
          <p:nvPr/>
        </p:nvSpPr>
        <p:spPr>
          <a:xfrm>
            <a:off x="2771800" y="5058073"/>
            <a:ext cx="1944216" cy="5040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>
                <a:solidFill>
                  <a:schemeClr val="tx1"/>
                </a:solidFill>
              </a:rPr>
              <a:t>2. Describes, cuentas, narras, el problema; </a:t>
            </a:r>
            <a:r>
              <a:rPr lang="es-PE" dirty="0" err="1">
                <a:solidFill>
                  <a:schemeClr val="tx1"/>
                </a:solidFill>
              </a:rPr>
              <a:t>Ejm</a:t>
            </a:r>
            <a:r>
              <a:rPr lang="es-PE" dirty="0">
                <a:solidFill>
                  <a:schemeClr val="tx1"/>
                </a:solidFill>
              </a:rPr>
              <a:t>. Describe un objeto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38FAA3D6-20C3-1EE1-6711-F1F0688AFD87}"/>
              </a:ext>
            </a:extLst>
          </p:cNvPr>
          <p:cNvSpPr/>
          <p:nvPr/>
        </p:nvSpPr>
        <p:spPr>
          <a:xfrm>
            <a:off x="4723065" y="4085976"/>
            <a:ext cx="1944216" cy="5040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600" dirty="0">
                <a:solidFill>
                  <a:schemeClr val="tx1"/>
                </a:solidFill>
              </a:rPr>
              <a:t>3. Correlacionar las variables , buscar relación entre las variables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AF25C24-53BE-71C2-9196-2427A5DB28FF}"/>
              </a:ext>
            </a:extLst>
          </p:cNvPr>
          <p:cNvSpPr/>
          <p:nvPr/>
        </p:nvSpPr>
        <p:spPr>
          <a:xfrm>
            <a:off x="6742584" y="3534685"/>
            <a:ext cx="1944216" cy="5040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>
                <a:solidFill>
                  <a:schemeClr val="tx1"/>
                </a:solidFill>
              </a:rPr>
              <a:t>4. Busco solución al problema, experimentando</a:t>
            </a:r>
          </a:p>
        </p:txBody>
      </p:sp>
    </p:spTree>
    <p:extLst>
      <p:ext uri="{BB962C8B-B14F-4D97-AF65-F5344CB8AC3E}">
        <p14:creationId xmlns:p14="http://schemas.microsoft.com/office/powerpoint/2010/main" val="41526455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4289B8-184E-71C9-38C7-43431AEB9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Diseño de investigación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D27FCFA-D22F-C40F-D665-2BD541AC80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PE" dirty="0"/>
              <a:t>Es el camino que eliges para la elaboración de tu tesis: En metodología tenemos 2 caminos</a:t>
            </a:r>
          </a:p>
          <a:p>
            <a:pPr marL="0" indent="0">
              <a:buNone/>
            </a:pPr>
            <a:endParaRPr lang="es-PE" dirty="0"/>
          </a:p>
          <a:p>
            <a:pPr marL="0" indent="0">
              <a:buNone/>
            </a:pPr>
            <a:endParaRPr lang="es-PE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141C3EF-A16C-C85E-370C-600F53CFE47E}"/>
              </a:ext>
            </a:extLst>
          </p:cNvPr>
          <p:cNvSpPr/>
          <p:nvPr/>
        </p:nvSpPr>
        <p:spPr>
          <a:xfrm>
            <a:off x="1187624" y="3212976"/>
            <a:ext cx="2448272" cy="12241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Estudios de Diseños descriptivos o No experimentales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9D165D1-6B4F-5D8A-9272-EFCD7DF3E289}"/>
              </a:ext>
            </a:extLst>
          </p:cNvPr>
          <p:cNvSpPr/>
          <p:nvPr/>
        </p:nvSpPr>
        <p:spPr>
          <a:xfrm>
            <a:off x="5508106" y="3172912"/>
            <a:ext cx="2088232" cy="12241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Estudios Experimentales: si soluciono el problema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271E867-4C0F-5118-D659-5E4675C675C5}"/>
              </a:ext>
            </a:extLst>
          </p:cNvPr>
          <p:cNvSpPr/>
          <p:nvPr/>
        </p:nvSpPr>
        <p:spPr>
          <a:xfrm>
            <a:off x="172402" y="4933264"/>
            <a:ext cx="1296144" cy="11087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>
                <a:solidFill>
                  <a:schemeClr val="tx1"/>
                </a:solidFill>
              </a:rPr>
              <a:t>Simple: Cuando tengo 1 variable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CB64862-046D-4A9E-FAC3-5F46B312DA6B}"/>
              </a:ext>
            </a:extLst>
          </p:cNvPr>
          <p:cNvSpPr/>
          <p:nvPr/>
        </p:nvSpPr>
        <p:spPr>
          <a:xfrm>
            <a:off x="1576558" y="4933264"/>
            <a:ext cx="1296144" cy="11087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100" dirty="0">
                <a:solidFill>
                  <a:schemeClr val="tx1"/>
                </a:solidFill>
              </a:rPr>
              <a:t>Comparativo</a:t>
            </a:r>
            <a:r>
              <a:rPr lang="es-PE" sz="1400" dirty="0">
                <a:solidFill>
                  <a:schemeClr val="tx1"/>
                </a:solidFill>
              </a:rPr>
              <a:t>: 1 sola variable y  2 Muestras (  grupos de estudio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66A5DCA-8B42-2A79-EB26-6A4AA98915FB}"/>
              </a:ext>
            </a:extLst>
          </p:cNvPr>
          <p:cNvSpPr/>
          <p:nvPr/>
        </p:nvSpPr>
        <p:spPr>
          <a:xfrm>
            <a:off x="2972110" y="4941168"/>
            <a:ext cx="1509584" cy="11087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>
                <a:solidFill>
                  <a:schemeClr val="tx1"/>
                </a:solidFill>
              </a:rPr>
              <a:t>Correlacional: relación entre las 2 variables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E00F075-416D-76D7-9C78-6D70AB46F443}"/>
              </a:ext>
            </a:extLst>
          </p:cNvPr>
          <p:cNvSpPr/>
          <p:nvPr/>
        </p:nvSpPr>
        <p:spPr>
          <a:xfrm>
            <a:off x="611560" y="6237312"/>
            <a:ext cx="3816424" cy="39290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>
                <a:solidFill>
                  <a:schemeClr val="tx1"/>
                </a:solidFill>
              </a:rPr>
              <a:t>Elijes solo 1, no mezcles</a:t>
            </a:r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E4E2063C-1E10-5A31-D918-3848840738F9}"/>
              </a:ext>
            </a:extLst>
          </p:cNvPr>
          <p:cNvCxnSpPr>
            <a:cxnSpLocks/>
          </p:cNvCxnSpPr>
          <p:nvPr/>
        </p:nvCxnSpPr>
        <p:spPr>
          <a:xfrm flipH="1">
            <a:off x="868781" y="4419920"/>
            <a:ext cx="1224136" cy="504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6577892A-AE23-C54E-5DC5-9445F261FA15}"/>
              </a:ext>
            </a:extLst>
          </p:cNvPr>
          <p:cNvCxnSpPr>
            <a:cxnSpLocks/>
          </p:cNvCxnSpPr>
          <p:nvPr/>
        </p:nvCxnSpPr>
        <p:spPr>
          <a:xfrm>
            <a:off x="2224630" y="4437112"/>
            <a:ext cx="0" cy="504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A5A2CC1F-F22D-52C7-3CEA-AE8B54627C71}"/>
              </a:ext>
            </a:extLst>
          </p:cNvPr>
          <p:cNvCxnSpPr>
            <a:stCxn id="4" idx="2"/>
          </p:cNvCxnSpPr>
          <p:nvPr/>
        </p:nvCxnSpPr>
        <p:spPr>
          <a:xfrm>
            <a:off x="2411760" y="4437112"/>
            <a:ext cx="1512168" cy="504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ángulo 15">
            <a:extLst>
              <a:ext uri="{FF2B5EF4-FFF2-40B4-BE49-F238E27FC236}">
                <a16:creationId xmlns:a16="http://schemas.microsoft.com/office/drawing/2014/main" id="{DD46B28A-CB61-2EB8-73BD-E43524D34A1E}"/>
              </a:ext>
            </a:extLst>
          </p:cNvPr>
          <p:cNvSpPr/>
          <p:nvPr/>
        </p:nvSpPr>
        <p:spPr>
          <a:xfrm>
            <a:off x="5051313" y="4933264"/>
            <a:ext cx="1226128" cy="11087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>
                <a:solidFill>
                  <a:schemeClr val="tx1"/>
                </a:solidFill>
              </a:rPr>
              <a:t>Experimental Propiamente dicho 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862FD0A3-0FE1-E575-20A7-2C5BE8FE3115}"/>
              </a:ext>
            </a:extLst>
          </p:cNvPr>
          <p:cNvSpPr/>
          <p:nvPr/>
        </p:nvSpPr>
        <p:spPr>
          <a:xfrm>
            <a:off x="6419840" y="4933264"/>
            <a:ext cx="1248504" cy="11087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>
                <a:solidFill>
                  <a:schemeClr val="tx1"/>
                </a:solidFill>
              </a:rPr>
              <a:t>Pre</a:t>
            </a:r>
          </a:p>
          <a:p>
            <a:pPr algn="ctr"/>
            <a:r>
              <a:rPr lang="es-PE" sz="1400" dirty="0">
                <a:solidFill>
                  <a:schemeClr val="tx1"/>
                </a:solidFill>
              </a:rPr>
              <a:t> Experimental 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578A3BEB-B9CB-1D02-D428-0CCD8EBAC1B5}"/>
              </a:ext>
            </a:extLst>
          </p:cNvPr>
          <p:cNvSpPr/>
          <p:nvPr/>
        </p:nvSpPr>
        <p:spPr>
          <a:xfrm>
            <a:off x="7771959" y="4933264"/>
            <a:ext cx="1118066" cy="11087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>
                <a:solidFill>
                  <a:schemeClr val="tx1"/>
                </a:solidFill>
              </a:rPr>
              <a:t>Cuasi experimento</a:t>
            </a:r>
          </a:p>
        </p:txBody>
      </p: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2F3BBBD2-E754-699B-94D4-4964D297F01F}"/>
              </a:ext>
            </a:extLst>
          </p:cNvPr>
          <p:cNvCxnSpPr>
            <a:stCxn id="5" idx="2"/>
          </p:cNvCxnSpPr>
          <p:nvPr/>
        </p:nvCxnSpPr>
        <p:spPr>
          <a:xfrm flipH="1">
            <a:off x="5796136" y="4397048"/>
            <a:ext cx="756086" cy="4721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5EF4D941-28B9-B3F9-C95A-616387CA709C}"/>
              </a:ext>
            </a:extLst>
          </p:cNvPr>
          <p:cNvCxnSpPr>
            <a:stCxn id="5" idx="2"/>
            <a:endCxn id="17" idx="0"/>
          </p:cNvCxnSpPr>
          <p:nvPr/>
        </p:nvCxnSpPr>
        <p:spPr>
          <a:xfrm>
            <a:off x="6552222" y="4397048"/>
            <a:ext cx="491870" cy="5362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45353F02-E978-D0EE-AA39-76D198B8A310}"/>
              </a:ext>
            </a:extLst>
          </p:cNvPr>
          <p:cNvCxnSpPr>
            <a:stCxn id="5" idx="2"/>
            <a:endCxn id="18" idx="0"/>
          </p:cNvCxnSpPr>
          <p:nvPr/>
        </p:nvCxnSpPr>
        <p:spPr>
          <a:xfrm>
            <a:off x="6552222" y="4397048"/>
            <a:ext cx="1778770" cy="4721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9739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8E0E5-0161-CA76-E80E-0B598147A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075240" cy="778098"/>
          </a:xfrm>
        </p:spPr>
        <p:txBody>
          <a:bodyPr/>
          <a:lstStyle/>
          <a:p>
            <a:r>
              <a:rPr lang="es-PE" dirty="0"/>
              <a:t>Enfoque de investigación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2D8C861-598B-E641-A5F7-0CB7A7A11B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1166018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s-PE" dirty="0"/>
              <a:t>Se identifica a través de la medición de las variables que tengas: 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4413474-0792-4097-F480-B90D942D172F}"/>
              </a:ext>
            </a:extLst>
          </p:cNvPr>
          <p:cNvSpPr/>
          <p:nvPr/>
        </p:nvSpPr>
        <p:spPr>
          <a:xfrm>
            <a:off x="1547664" y="2492896"/>
            <a:ext cx="720080" cy="5040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V1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763F23A-09F8-CBFD-2BEE-D0D4E872A16F}"/>
              </a:ext>
            </a:extLst>
          </p:cNvPr>
          <p:cNvSpPr/>
          <p:nvPr/>
        </p:nvSpPr>
        <p:spPr>
          <a:xfrm>
            <a:off x="4134780" y="2470406"/>
            <a:ext cx="720080" cy="5040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V2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3B3779C-4FBA-88D5-2CCD-086A025E988C}"/>
              </a:ext>
            </a:extLst>
          </p:cNvPr>
          <p:cNvSpPr/>
          <p:nvPr/>
        </p:nvSpPr>
        <p:spPr>
          <a:xfrm>
            <a:off x="6487970" y="2492896"/>
            <a:ext cx="720080" cy="5040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V3</a:t>
            </a:r>
          </a:p>
        </p:txBody>
      </p:sp>
      <p:pic>
        <p:nvPicPr>
          <p:cNvPr id="8" name="Gráfico 7" descr="Acceso universal">
            <a:extLst>
              <a:ext uri="{FF2B5EF4-FFF2-40B4-BE49-F238E27FC236}">
                <a16:creationId xmlns:a16="http://schemas.microsoft.com/office/drawing/2014/main" id="{EF5ADCA9-8F93-1C65-47CF-A8604ADA71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84784" y="3476922"/>
            <a:ext cx="914400" cy="914400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EC898530-B553-CA64-3C6D-83BBF16E91C9}"/>
              </a:ext>
            </a:extLst>
          </p:cNvPr>
          <p:cNvSpPr/>
          <p:nvPr/>
        </p:nvSpPr>
        <p:spPr>
          <a:xfrm>
            <a:off x="2339752" y="3682094"/>
            <a:ext cx="720080" cy="5040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>
                <a:solidFill>
                  <a:schemeClr val="tx1"/>
                </a:solidFill>
              </a:rPr>
              <a:t>#, %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D4F928E-34FD-48D6-EA04-FB232FBF0E09}"/>
              </a:ext>
            </a:extLst>
          </p:cNvPr>
          <p:cNvSpPr/>
          <p:nvPr/>
        </p:nvSpPr>
        <p:spPr>
          <a:xfrm>
            <a:off x="827584" y="4337692"/>
            <a:ext cx="2232248" cy="135429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100" dirty="0">
                <a:solidFill>
                  <a:schemeClr val="tx1"/>
                </a:solidFill>
              </a:rPr>
              <a:t>INST. CUESTIONARIO</a:t>
            </a:r>
          </a:p>
          <a:p>
            <a:pPr algn="ctr"/>
            <a:r>
              <a:rPr lang="es-PE" sz="1100" dirty="0">
                <a:solidFill>
                  <a:schemeClr val="tx1"/>
                </a:solidFill>
              </a:rPr>
              <a:t> ENFOQUE CUANTITATIVO </a:t>
            </a:r>
          </a:p>
        </p:txBody>
      </p:sp>
      <p:pic>
        <p:nvPicPr>
          <p:cNvPr id="11" name="Gráfico 10" descr="Acceso universal">
            <a:extLst>
              <a:ext uri="{FF2B5EF4-FFF2-40B4-BE49-F238E27FC236}">
                <a16:creationId xmlns:a16="http://schemas.microsoft.com/office/drawing/2014/main" id="{74280E22-8FD2-7A5F-2459-422D65C183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40460" y="3491200"/>
            <a:ext cx="914400" cy="914400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2A247D6A-F37C-8785-15E7-C2F41DDFE476}"/>
              </a:ext>
            </a:extLst>
          </p:cNvPr>
          <p:cNvSpPr/>
          <p:nvPr/>
        </p:nvSpPr>
        <p:spPr>
          <a:xfrm>
            <a:off x="4874743" y="3682094"/>
            <a:ext cx="720080" cy="5040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>
                <a:solidFill>
                  <a:schemeClr val="tx1"/>
                </a:solidFill>
              </a:rPr>
              <a:t>&lt;10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3663A086-4ADB-6DCB-4439-6FDE38BD977D}"/>
              </a:ext>
            </a:extLst>
          </p:cNvPr>
          <p:cNvSpPr/>
          <p:nvPr/>
        </p:nvSpPr>
        <p:spPr>
          <a:xfrm>
            <a:off x="3610236" y="4424088"/>
            <a:ext cx="2232248" cy="126789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100" dirty="0">
                <a:solidFill>
                  <a:schemeClr val="tx1"/>
                </a:solidFill>
              </a:rPr>
              <a:t>INST. ENTREVISTA CUYA INFORMACION NO LA ENCUENTRAS EN OTRO LUGAR </a:t>
            </a:r>
          </a:p>
          <a:p>
            <a:pPr algn="ctr"/>
            <a:r>
              <a:rPr lang="es-PE" sz="1100" dirty="0">
                <a:solidFill>
                  <a:schemeClr val="tx1"/>
                </a:solidFill>
              </a:rPr>
              <a:t> ENFOQUE CUALITATIVO (TEORIAS)</a:t>
            </a:r>
          </a:p>
        </p:txBody>
      </p:sp>
      <p:pic>
        <p:nvPicPr>
          <p:cNvPr id="16" name="Gráfico 15" descr="Tendencia al alza">
            <a:extLst>
              <a:ext uri="{FF2B5EF4-FFF2-40B4-BE49-F238E27FC236}">
                <a16:creationId xmlns:a16="http://schemas.microsoft.com/office/drawing/2014/main" id="{9EA36C7F-9CCC-0031-8EAA-CA5E93BF40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34642" y="3395028"/>
            <a:ext cx="914400" cy="914400"/>
          </a:xfrm>
          <a:prstGeom prst="rect">
            <a:avLst/>
          </a:prstGeom>
        </p:spPr>
      </p:pic>
      <p:sp>
        <p:nvSpPr>
          <p:cNvPr id="17" name="Rectángulo 16">
            <a:extLst>
              <a:ext uri="{FF2B5EF4-FFF2-40B4-BE49-F238E27FC236}">
                <a16:creationId xmlns:a16="http://schemas.microsoft.com/office/drawing/2014/main" id="{69E2AC95-9FBF-BB5A-AF5F-665D7B49BC58}"/>
              </a:ext>
            </a:extLst>
          </p:cNvPr>
          <p:cNvSpPr/>
          <p:nvPr/>
        </p:nvSpPr>
        <p:spPr>
          <a:xfrm>
            <a:off x="6333201" y="4422710"/>
            <a:ext cx="2232248" cy="12692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050" dirty="0">
                <a:solidFill>
                  <a:schemeClr val="tx1"/>
                </a:solidFill>
              </a:rPr>
              <a:t>RESULTADOS SON NUMEROS: CUANTITATIVO</a:t>
            </a:r>
          </a:p>
          <a:p>
            <a:pPr algn="ctr"/>
            <a:r>
              <a:rPr lang="es-PE" sz="1050" dirty="0">
                <a:solidFill>
                  <a:schemeClr val="tx1"/>
                </a:solidFill>
              </a:rPr>
              <a:t>RESULTADOS SON LETRAS: CUALITATIVO</a:t>
            </a:r>
          </a:p>
          <a:p>
            <a:pPr algn="ctr"/>
            <a:r>
              <a:rPr lang="es-PE" sz="1050" dirty="0">
                <a:solidFill>
                  <a:schemeClr val="tx1"/>
                </a:solidFill>
              </a:rPr>
              <a:t>RESULTADOS SON V1 CUANTITATIVA, V2 CUALITATIVO: MIXTO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7CE3601A-29B2-A34A-4CFB-7363166F0381}"/>
              </a:ext>
            </a:extLst>
          </p:cNvPr>
          <p:cNvSpPr/>
          <p:nvPr/>
        </p:nvSpPr>
        <p:spPr>
          <a:xfrm>
            <a:off x="7499176" y="3524966"/>
            <a:ext cx="720080" cy="5040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C0F82CC1-4758-C317-B2E3-54B5F5EAA755}"/>
              </a:ext>
            </a:extLst>
          </p:cNvPr>
          <p:cNvSpPr/>
          <p:nvPr/>
        </p:nvSpPr>
        <p:spPr>
          <a:xfrm>
            <a:off x="1429816" y="5830494"/>
            <a:ext cx="6789440" cy="7079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200" dirty="0">
                <a:solidFill>
                  <a:schemeClr val="tx1"/>
                </a:solidFill>
              </a:rPr>
              <a:t>LAS VARIABLES SE MIDEN EN EL MISMO GRUPO DE ESTUDIO Y UTILIZAS SOLO UN SOLO INSTRUMENTO PARA UNA VARIABLE</a:t>
            </a:r>
          </a:p>
        </p:txBody>
      </p:sp>
    </p:spTree>
    <p:extLst>
      <p:ext uri="{BB962C8B-B14F-4D97-AF65-F5344CB8AC3E}">
        <p14:creationId xmlns:p14="http://schemas.microsoft.com/office/powerpoint/2010/main" val="410630224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1214</TotalTime>
  <Words>252</Words>
  <Application>Microsoft Office PowerPoint</Application>
  <PresentationFormat>Presentación en pantalla (4:3)</PresentationFormat>
  <Paragraphs>42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7" baseType="lpstr">
      <vt:lpstr>Arial</vt:lpstr>
      <vt:lpstr>Calibri</vt:lpstr>
      <vt:lpstr>Tema de Office</vt:lpstr>
      <vt:lpstr>Presentación de PowerPoint</vt:lpstr>
      <vt:lpstr>NIVELES DE INVESTIGACION</vt:lpstr>
      <vt:lpstr>Diseño de investigación</vt:lpstr>
      <vt:lpstr>Enfoque de investigación</vt:lpstr>
    </vt:vector>
  </TitlesOfParts>
  <Company>Luffi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Luffi</dc:creator>
  <cp:lastModifiedBy>pamela torres toledo</cp:lastModifiedBy>
  <cp:revision>57</cp:revision>
  <dcterms:created xsi:type="dcterms:W3CDTF">2019-10-15T05:04:37Z</dcterms:created>
  <dcterms:modified xsi:type="dcterms:W3CDTF">2026-03-03T04:34:08Z</dcterms:modified>
</cp:coreProperties>
</file>